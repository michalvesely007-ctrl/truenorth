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Navazuje na kapitolu Persony. Playbook doporučuje používat AI jako „strukturovaného ďáblova advokáta“ a k vytěžení poznatků z rozhovorů. Klíčové je chtít po AI citace – persona pak stojí na tom, co dárci opravdu řekli.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Navazuje na kapitolu Archetypy značky. Workshop: každá organizace vyplní hlasovou kartu pro svůj archetyp a nechá AI přepsat jednu svou výzvu.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Navazuje na Strategickou segmentaci dárců. Playbook ukazuje hromadnou analýzu dokumentů a dat v Claude Cowork. RFM = recency, frequency, monetary.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Navazuje na slidy s Asanou, Trellem, Dynamics a Salesforce. Playbook popisuje práci s Claude přes konektory k nástrojům, které tým už používá.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Volné téma: hranice delegování na AI. Odkazuje na úvodní slide „Ale vždy autenticky a pravdivě“. Diskuze: co z levého sloupce už děláte a co byste nikdy nesvěřili?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ní akcent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722376" y="512064"/>
            <a:ext cx="10744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83653"/>
                </a:solidFill>
              </a:rPr>
              <a:t>Persony z dat, ne z dojmu</a:t>
            </a:r>
            <a:endParaRPr lang="en-US" sz="3150" dirty="0"/>
          </a:p>
        </p:txBody>
      </p:sp>
      <p:sp>
        <p:nvSpPr>
          <p:cNvPr id="4" name="Podnadpis"/>
          <p:cNvSpPr txBox="1"/>
          <p:nvPr/>
        </p:nvSpPr>
        <p:spPr>
          <a:xfrm>
            <a:off x="740664" y="12344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53687A"/>
                </a:solidFill>
              </a:rPr>
              <a:t>AI zrychlí tvorbu person. O tom, zda jsou pravdivé, rozhoduje člověk.</a:t>
            </a:r>
            <a:endParaRPr lang="en-US" sz="1725" dirty="0"/>
          </a:p>
        </p:txBody>
      </p:sp>
      <p:sp>
        <p:nvSpPr>
          <p:cNvPr id="5" name="Zdroj"/>
          <p:cNvSpPr txBox="1"/>
          <p:nvPr/>
        </p:nvSpPr>
        <p:spPr>
          <a:xfrm>
            <a:off x="722376" y="640080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7A"/>
                </a:solidFill>
              </a:rPr>
              <a:t>Inspirováno: Anthropic, The Founder’s Playbook: Building an AI-Native Startup (2026)</a:t>
            </a:r>
            <a:endParaRPr lang="en-US" sz="1000" dirty="0"/>
          </a:p>
        </p:txBody>
      </p:sp>
      <p:sp>
        <p:nvSpPr>
          <p:cNvPr id="6" name="Krok 1"/>
          <p:cNvSpPr/>
          <p:nvPr/>
        </p:nvSpPr>
        <p:spPr>
          <a:xfrm>
            <a:off x="722376" y="196596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7" name="Kruh 1"/>
          <p:cNvSpPr/>
          <p:nvPr/>
        </p:nvSpPr>
        <p:spPr>
          <a:xfrm>
            <a:off x="950976" y="2194560"/>
            <a:ext cx="548640" cy="5486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8" name="Číslo 1"/>
          <p:cNvSpPr txBox="1"/>
          <p:nvPr/>
        </p:nvSpPr>
        <p:spPr>
          <a:xfrm>
            <a:off x="95097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Krok nadpis 1"/>
          <p:cNvSpPr txBox="1"/>
          <p:nvPr/>
        </p:nvSpPr>
        <p:spPr>
          <a:xfrm>
            <a:off x="950976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Sesbírejte</a:t>
            </a:r>
            <a:endParaRPr lang="en-US" sz="1800" dirty="0"/>
          </a:p>
        </p:txBody>
      </p:sp>
      <p:sp>
        <p:nvSpPr>
          <p:cNvPr id="10" name="Krok text 1"/>
          <p:cNvSpPr txBox="1"/>
          <p:nvPr/>
        </p:nvSpPr>
        <p:spPr>
          <a:xfrm>
            <a:off x="950976" y="3337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Přepisy rozhovorů s dárci, poznámky z CRM, odpovědi z dotazníků.</a:t>
            </a:r>
            <a:endParaRPr lang="en-US" sz="1400" dirty="0"/>
          </a:p>
        </p:txBody>
      </p:sp>
      <p:sp>
        <p:nvSpPr>
          <p:cNvPr id="11" name="Krok 2"/>
          <p:cNvSpPr/>
          <p:nvPr/>
        </p:nvSpPr>
        <p:spPr>
          <a:xfrm>
            <a:off x="3481121" y="196596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2" name="Kruh 2"/>
          <p:cNvSpPr/>
          <p:nvPr/>
        </p:nvSpPr>
        <p:spPr>
          <a:xfrm>
            <a:off x="3709721" y="2194560"/>
            <a:ext cx="548640" cy="5486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13" name="Číslo 2"/>
          <p:cNvSpPr txBox="1"/>
          <p:nvPr/>
        </p:nvSpPr>
        <p:spPr>
          <a:xfrm>
            <a:off x="3709721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Krok nadpis 2"/>
          <p:cNvSpPr txBox="1"/>
          <p:nvPr/>
        </p:nvSpPr>
        <p:spPr>
          <a:xfrm>
            <a:off x="3709721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Nechte shrnout</a:t>
            </a:r>
            <a:endParaRPr lang="en-US" sz="1800" dirty="0"/>
          </a:p>
        </p:txBody>
      </p:sp>
      <p:sp>
        <p:nvSpPr>
          <p:cNvPr id="15" name="Krok text 2"/>
          <p:cNvSpPr txBox="1"/>
          <p:nvPr/>
        </p:nvSpPr>
        <p:spPr>
          <a:xfrm>
            <a:off x="3709721" y="3337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AI najde opakující se motivace, obavy a citace napříč desítkami rozhovorů.</a:t>
            </a:r>
            <a:endParaRPr lang="en-US" sz="1400" dirty="0"/>
          </a:p>
        </p:txBody>
      </p:sp>
      <p:sp>
        <p:nvSpPr>
          <p:cNvPr id="16" name="Krok 3"/>
          <p:cNvSpPr/>
          <p:nvPr/>
        </p:nvSpPr>
        <p:spPr>
          <a:xfrm>
            <a:off x="6239866" y="196596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7" name="Kruh 3"/>
          <p:cNvSpPr/>
          <p:nvPr/>
        </p:nvSpPr>
        <p:spPr>
          <a:xfrm>
            <a:off x="6468466" y="2194560"/>
            <a:ext cx="548640" cy="5486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18" name="Číslo 3"/>
          <p:cNvSpPr txBox="1"/>
          <p:nvPr/>
        </p:nvSpPr>
        <p:spPr>
          <a:xfrm>
            <a:off x="646846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Krok nadpis 3"/>
          <p:cNvSpPr txBox="1"/>
          <p:nvPr/>
        </p:nvSpPr>
        <p:spPr>
          <a:xfrm>
            <a:off x="6468466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Zpochybněte</a:t>
            </a:r>
            <a:endParaRPr lang="en-US" sz="1800" dirty="0"/>
          </a:p>
        </p:txBody>
      </p:sp>
      <p:sp>
        <p:nvSpPr>
          <p:cNvPr id="20" name="Krok text 3"/>
          <p:cNvSpPr txBox="1"/>
          <p:nvPr/>
        </p:nvSpPr>
        <p:spPr>
          <a:xfrm>
            <a:off x="6468466" y="3337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Požádejte AI o roli ďáblova advokáta: co persona přehlíží, co je jen domněnka?</a:t>
            </a:r>
            <a:endParaRPr lang="en-US" sz="1400" dirty="0"/>
          </a:p>
        </p:txBody>
      </p:sp>
      <p:sp>
        <p:nvSpPr>
          <p:cNvPr id="21" name="Krok 4"/>
          <p:cNvSpPr/>
          <p:nvPr/>
        </p:nvSpPr>
        <p:spPr>
          <a:xfrm>
            <a:off x="8998610" y="196596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22" name="Kruh 4"/>
          <p:cNvSpPr/>
          <p:nvPr/>
        </p:nvSpPr>
        <p:spPr>
          <a:xfrm>
            <a:off x="9227210" y="2194560"/>
            <a:ext cx="548640" cy="5486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23" name="Číslo 4"/>
          <p:cNvSpPr txBox="1"/>
          <p:nvPr/>
        </p:nvSpPr>
        <p:spPr>
          <a:xfrm>
            <a:off x="922721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Krok nadpis 4"/>
          <p:cNvSpPr txBox="1"/>
          <p:nvPr/>
        </p:nvSpPr>
        <p:spPr>
          <a:xfrm>
            <a:off x="922721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Ověřte naživo</a:t>
            </a:r>
            <a:endParaRPr lang="en-US" sz="1800" dirty="0"/>
          </a:p>
        </p:txBody>
      </p:sp>
      <p:sp>
        <p:nvSpPr>
          <p:cNvPr id="25" name="Krok text 4"/>
          <p:cNvSpPr txBox="1"/>
          <p:nvPr/>
        </p:nvSpPr>
        <p:spPr>
          <a:xfrm>
            <a:off x="9227210" y="3337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Ukažte personu dvěma až třem skutečným dárcům. Poznají se v ní?</a:t>
            </a:r>
            <a:endParaRPr lang="en-US" sz="1400" dirty="0"/>
          </a:p>
        </p:txBody>
      </p:sp>
      <p:sp>
        <p:nvSpPr>
          <p:cNvPr id="26" name="Prompt"/>
          <p:cNvSpPr/>
          <p:nvPr/>
        </p:nvSpPr>
        <p:spPr>
          <a:xfrm>
            <a:off x="722376" y="4983480"/>
            <a:ext cx="10744200" cy="1097280"/>
          </a:xfrm>
          <a:prstGeom prst="roundRect">
            <a:avLst>
              <a:gd name="adj" fmla="val 10000"/>
            </a:avLst>
          </a:prstGeom>
          <a:solidFill>
            <a:srgbClr val="183653"/>
          </a:solidFill>
          <a:ln w="12700">
            <a:solidFill>
              <a:srgbClr val="183653"/>
            </a:solidFill>
            <a:prstDash val="solid"/>
          </a:ln>
        </p:spPr>
      </p:sp>
      <p:sp>
        <p:nvSpPr>
          <p:cNvPr id="27" name="Prompt text"/>
          <p:cNvSpPr txBox="1"/>
          <p:nvPr/>
        </p:nvSpPr>
        <p:spPr>
          <a:xfrm>
            <a:off x="996696" y="4983480"/>
            <a:ext cx="10195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FD1"/>
                </a:solidFill>
              </a:rPr>
              <a:t>Zkuste: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„Z těchto 12 rozhovorů vytvoř 3 persony dárců. U každého tvrzení uveď citaci, ze které vychází, a označ, co je jen odhad.“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ní akcent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722376" y="512064"/>
            <a:ext cx="10744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83653"/>
                </a:solidFill>
              </a:rPr>
              <a:t>Archetyp jako trvalé zadání pro AI</a:t>
            </a:r>
            <a:endParaRPr lang="en-US" sz="3150" dirty="0"/>
          </a:p>
        </p:txBody>
      </p:sp>
      <p:sp>
        <p:nvSpPr>
          <p:cNvPr id="4" name="Podnadpis"/>
          <p:cNvSpPr txBox="1"/>
          <p:nvPr/>
        </p:nvSpPr>
        <p:spPr>
          <a:xfrm>
            <a:off x="740664" y="12344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53687A"/>
                </a:solidFill>
              </a:rPr>
              <a:t>Hlas značky popíšete jednou a AI ho drží v každém textu.</a:t>
            </a:r>
            <a:endParaRPr lang="en-US" sz="1725" dirty="0"/>
          </a:p>
        </p:txBody>
      </p:sp>
      <p:sp>
        <p:nvSpPr>
          <p:cNvPr id="5" name="Zdroj"/>
          <p:cNvSpPr txBox="1"/>
          <p:nvPr/>
        </p:nvSpPr>
        <p:spPr>
          <a:xfrm>
            <a:off x="722376" y="640080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7A"/>
                </a:solidFill>
              </a:rPr>
              <a:t>Inspirováno: Anthropic, The Founder’s Playbook: Building an AI-Native Startup (2026)</a:t>
            </a:r>
            <a:endParaRPr lang="en-US" sz="1000" dirty="0"/>
          </a:p>
        </p:txBody>
      </p:sp>
      <p:sp>
        <p:nvSpPr>
          <p:cNvPr id="6" name="Hlasová karta"/>
          <p:cNvSpPr/>
          <p:nvPr/>
        </p:nvSpPr>
        <p:spPr>
          <a:xfrm>
            <a:off x="722376" y="19659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183653"/>
          </a:solidFill>
          <a:ln w="12700">
            <a:solidFill>
              <a:srgbClr val="183653"/>
            </a:solidFill>
            <a:prstDash val="solid"/>
          </a:ln>
        </p:spPr>
      </p:sp>
      <p:sp>
        <p:nvSpPr>
          <p:cNvPr id="7" name="Karta nadpis"/>
          <p:cNvSpPr txBox="1"/>
          <p:nvPr/>
        </p:nvSpPr>
        <p:spPr>
          <a:xfrm>
            <a:off x="1042416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FD1"/>
                </a:solidFill>
              </a:rPr>
              <a:t>Hlasová karta značky</a:t>
            </a:r>
            <a:endParaRPr lang="en-US" sz="2000" dirty="0"/>
          </a:p>
        </p:txBody>
      </p:sp>
      <p:sp>
        <p:nvSpPr>
          <p:cNvPr id="8" name="Karta obsah"/>
          <p:cNvSpPr txBox="1"/>
          <p:nvPr/>
        </p:nvSpPr>
        <p:spPr>
          <a:xfrm>
            <a:off x="1042416" y="2743200"/>
            <a:ext cx="4572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Archetyp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3DEE7"/>
                </a:solidFill>
              </a:rPr>
              <a:t>např. Pečovatel nebo Mudrc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Tón ve třech slovech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3DEE7"/>
                </a:solidFill>
              </a:rPr>
              <a:t>např. vlídně, konkrétně, s nadějí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Říkáme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3DEE7"/>
                </a:solidFill>
              </a:rPr>
              <a:t>slova a obraty, které k nám patří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Neříkáme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3DEE7"/>
                </a:solidFill>
              </a:rPr>
              <a:t>co nám nesedí: lítost, superlativy, žargon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Ukázka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3DEE7"/>
                </a:solidFill>
              </a:rPr>
              <a:t>jeden odstavec, který zní přesně jako my</a:t>
            </a:r>
            <a:endParaRPr lang="en-US" sz="1500" dirty="0"/>
          </a:p>
        </p:txBody>
      </p:sp>
      <p:sp>
        <p:nvSpPr>
          <p:cNvPr id="9" name="Kruh 1"/>
          <p:cNvSpPr/>
          <p:nvPr/>
        </p:nvSpPr>
        <p:spPr>
          <a:xfrm>
            <a:off x="6217920" y="2011680"/>
            <a:ext cx="548640" cy="5486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10" name="Číslo 1"/>
          <p:cNvSpPr txBox="1"/>
          <p:nvPr/>
        </p:nvSpPr>
        <p:spPr>
          <a:xfrm>
            <a:off x="62179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Použití 1"/>
          <p:cNvSpPr txBox="1"/>
          <p:nvPr/>
        </p:nvSpPr>
        <p:spPr>
          <a:xfrm>
            <a:off x="6949440" y="196596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83653"/>
                </a:solidFill>
              </a:rPr>
              <a:t>Vložte kartu do instrukcí projektu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3687A"/>
                </a:solidFill>
              </a:rPr>
              <a:t>AI ji pak má jako trvalý kontext u každého zadání.</a:t>
            </a:r>
            <a:endParaRPr lang="en-US" sz="1700" dirty="0"/>
          </a:p>
        </p:txBody>
      </p:sp>
      <p:sp>
        <p:nvSpPr>
          <p:cNvPr id="12" name="Kruh 2"/>
          <p:cNvSpPr/>
          <p:nvPr/>
        </p:nvSpPr>
        <p:spPr>
          <a:xfrm>
            <a:off x="6217920" y="3108960"/>
            <a:ext cx="548640" cy="5486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13" name="Číslo 2"/>
          <p:cNvSpPr txBox="1"/>
          <p:nvPr/>
        </p:nvSpPr>
        <p:spPr>
          <a:xfrm>
            <a:off x="62179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Použití 2"/>
          <p:cNvSpPr txBox="1"/>
          <p:nvPr/>
        </p:nvSpPr>
        <p:spPr>
          <a:xfrm>
            <a:off x="6949440" y="306324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83653"/>
                </a:solidFill>
              </a:rPr>
              <a:t>Pište pro konkrétní personu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3687A"/>
                </a:solidFill>
              </a:rPr>
              <a:t>Stejná zpráva, jiný úhel pro pravidelného dárce, firmu i dobrovolníka.</a:t>
            </a:r>
            <a:endParaRPr lang="en-US" sz="1700" dirty="0"/>
          </a:p>
        </p:txBody>
      </p:sp>
      <p:sp>
        <p:nvSpPr>
          <p:cNvPr id="15" name="Kruh 3"/>
          <p:cNvSpPr/>
          <p:nvPr/>
        </p:nvSpPr>
        <p:spPr>
          <a:xfrm>
            <a:off x="6217920" y="4206240"/>
            <a:ext cx="548640" cy="5486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16" name="Číslo 3"/>
          <p:cNvSpPr txBox="1"/>
          <p:nvPr/>
        </p:nvSpPr>
        <p:spPr>
          <a:xfrm>
            <a:off x="62179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Použití 3"/>
          <p:cNvSpPr txBox="1"/>
          <p:nvPr/>
        </p:nvSpPr>
        <p:spPr>
          <a:xfrm>
            <a:off x="6949440" y="416052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83653"/>
                </a:solidFill>
              </a:rPr>
              <a:t>Kontrolujte proti kartě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3687A"/>
                </a:solidFill>
              </a:rPr>
              <a:t>Zní to jako my? Pokud ne, upravte kartu, ne jen text.</a:t>
            </a:r>
            <a:endParaRPr lang="en-US" sz="1700" dirty="0"/>
          </a:p>
        </p:txBody>
      </p:sp>
      <p:sp>
        <p:nvSpPr>
          <p:cNvPr id="18" name="Paralela"/>
          <p:cNvSpPr/>
          <p:nvPr/>
        </p:nvSpPr>
        <p:spPr>
          <a:xfrm>
            <a:off x="6217920" y="5257800"/>
            <a:ext cx="5248656" cy="822960"/>
          </a:xfrm>
          <a:prstGeom prst="roundRect">
            <a:avLst>
              <a:gd name="adj" fmla="val 13333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9" name="Paralela text"/>
          <p:cNvSpPr txBox="1"/>
          <p:nvPr/>
        </p:nvSpPr>
        <p:spPr>
          <a:xfrm>
            <a:off x="6400800" y="5257800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3653"/>
                </a:solidFill>
              </a:rPr>
              <a:t>Startupy podle playbooku drží kontext pro AI v jednom souboru (CLAUDE.md). Neziskovka může mít totéž pro svou značku.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ní akcent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722376" y="512064"/>
            <a:ext cx="10744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83653"/>
                </a:solidFill>
              </a:rPr>
              <a:t>Segmentace: od tabulky k rozhodnutí</a:t>
            </a:r>
            <a:endParaRPr lang="en-US" sz="3150" dirty="0"/>
          </a:p>
        </p:txBody>
      </p:sp>
      <p:sp>
        <p:nvSpPr>
          <p:cNvPr id="4" name="Podnadpis"/>
          <p:cNvSpPr txBox="1"/>
          <p:nvPr/>
        </p:nvSpPr>
        <p:spPr>
          <a:xfrm>
            <a:off x="740664" y="12344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53687A"/>
                </a:solidFill>
              </a:rPr>
              <a:t>AI projde export dárců a navrhne skupiny i další krok pro každou z nich.</a:t>
            </a:r>
            <a:endParaRPr lang="en-US" sz="1725" dirty="0"/>
          </a:p>
        </p:txBody>
      </p:sp>
      <p:sp>
        <p:nvSpPr>
          <p:cNvPr id="5" name="Zdroj"/>
          <p:cNvSpPr txBox="1"/>
          <p:nvPr/>
        </p:nvSpPr>
        <p:spPr>
          <a:xfrm>
            <a:off x="722376" y="640080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7A"/>
                </a:solidFill>
              </a:rPr>
              <a:t>Inspirováno: Anthropic, The Founder’s Playbook: Building an AI-Native Startup (2026)</a:t>
            </a:r>
            <a:endParaRPr lang="en-US" sz="1000" dirty="0"/>
          </a:p>
        </p:txBody>
      </p:sp>
      <p:sp>
        <p:nvSpPr>
          <p:cNvPr id="6" name="Segment 1"/>
          <p:cNvSpPr/>
          <p:nvPr/>
        </p:nvSpPr>
        <p:spPr>
          <a:xfrm>
            <a:off x="722376" y="196596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7" name="Segment text 1"/>
          <p:cNvSpPr txBox="1"/>
          <p:nvPr/>
        </p:nvSpPr>
        <p:spPr>
          <a:xfrm>
            <a:off x="950976" y="21488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Věrní pravidelní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3687A"/>
                </a:solidFill>
              </a:rPr>
              <a:t>Dávají často a dlouho.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8F92"/>
                </a:solidFill>
              </a:rPr>
              <a:t>→ Osobní poděkování, hlubší zapojení.</a:t>
            </a:r>
            <a:endParaRPr lang="en-US" sz="1800" dirty="0"/>
          </a:p>
        </p:txBody>
      </p:sp>
      <p:sp>
        <p:nvSpPr>
          <p:cNvPr id="8" name="Segment 2"/>
          <p:cNvSpPr/>
          <p:nvPr/>
        </p:nvSpPr>
        <p:spPr>
          <a:xfrm>
            <a:off x="4288536" y="196596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9" name="Segment text 2"/>
          <p:cNvSpPr txBox="1"/>
          <p:nvPr/>
        </p:nvSpPr>
        <p:spPr>
          <a:xfrm>
            <a:off x="4517136" y="21488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Velcí jednorázoví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3687A"/>
                </a:solidFill>
              </a:rPr>
              <a:t>Vyšší dar, zatím jednou.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8F92"/>
                </a:solidFill>
              </a:rPr>
              <a:t>→ Schůzka a příběh dopadu jejich daru.</a:t>
            </a:r>
            <a:endParaRPr lang="en-US" sz="1800" dirty="0"/>
          </a:p>
        </p:txBody>
      </p:sp>
      <p:sp>
        <p:nvSpPr>
          <p:cNvPr id="10" name="Segment 3"/>
          <p:cNvSpPr/>
          <p:nvPr/>
        </p:nvSpPr>
        <p:spPr>
          <a:xfrm>
            <a:off x="722376" y="416052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1" name="Segment text 3"/>
          <p:cNvSpPr txBox="1"/>
          <p:nvPr/>
        </p:nvSpPr>
        <p:spPr>
          <a:xfrm>
            <a:off x="950976" y="434340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Noví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3687A"/>
                </a:solidFill>
              </a:rPr>
              <a:t>První dar za poslední 3 měsíce.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8F92"/>
                </a:solidFill>
              </a:rPr>
              <a:t>→ Uvítací série do 48 hodin.</a:t>
            </a:r>
            <a:endParaRPr lang="en-US" sz="1800" dirty="0"/>
          </a:p>
        </p:txBody>
      </p:sp>
      <p:sp>
        <p:nvSpPr>
          <p:cNvPr id="12" name="Segment 4"/>
          <p:cNvSpPr/>
          <p:nvPr/>
        </p:nvSpPr>
        <p:spPr>
          <a:xfrm>
            <a:off x="4288536" y="416052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3" name="Segment text 4"/>
          <p:cNvSpPr txBox="1"/>
          <p:nvPr/>
        </p:nvSpPr>
        <p:spPr>
          <a:xfrm>
            <a:off x="4517136" y="434340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3653"/>
                </a:solidFill>
              </a:rPr>
              <a:t>Usínající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3687A"/>
                </a:solidFill>
              </a:rPr>
              <a:t>Dlouho nedarovali.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8F92"/>
                </a:solidFill>
              </a:rPr>
              <a:t>→ Ukažte, co se díky nim změnilo, ne další výzvu.</a:t>
            </a:r>
            <a:endParaRPr lang="en-US" sz="1800" dirty="0"/>
          </a:p>
        </p:txBody>
      </p:sp>
      <p:sp>
        <p:nvSpPr>
          <p:cNvPr id="14" name="Zadání"/>
          <p:cNvSpPr/>
          <p:nvPr/>
        </p:nvSpPr>
        <p:spPr>
          <a:xfrm>
            <a:off x="7863840" y="1965960"/>
            <a:ext cx="3602736" cy="4114800"/>
          </a:xfrm>
          <a:prstGeom prst="roundRect">
            <a:avLst>
              <a:gd name="adj" fmla="val 3046"/>
            </a:avLst>
          </a:prstGeom>
          <a:solidFill>
            <a:srgbClr val="183653"/>
          </a:solidFill>
          <a:ln w="12700">
            <a:solidFill>
              <a:srgbClr val="183653"/>
            </a:solidFill>
            <a:prstDash val="solid"/>
          </a:ln>
        </p:spPr>
      </p:sp>
      <p:sp>
        <p:nvSpPr>
          <p:cNvPr id="15" name="Zadání text"/>
          <p:cNvSpPr txBox="1"/>
          <p:nvPr/>
        </p:nvSpPr>
        <p:spPr>
          <a:xfrm>
            <a:off x="8092440" y="2194560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FCFD1"/>
                </a:solidFill>
              </a:rPr>
              <a:t>Zadání pro AI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„Rozděl dárce podle toho, kdy naposledy darovali, jak často a kolik (RFM). Pro každou skupinu navrhni jeden další krok.“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CFD1"/>
                </a:solidFill>
              </a:rPr>
              <a:t>Před nahráním dat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D3DEE7"/>
                </a:solidFill>
              </a:rPr>
              <a:t>Odstraňte jména a kontakty. Stačí ID dárce, data a výše darů.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ní akcent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722376" y="512064"/>
            <a:ext cx="10744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83653"/>
                </a:solidFill>
              </a:rPr>
              <a:t>CRM, Asana a e-mail propojené s AI</a:t>
            </a:r>
            <a:endParaRPr lang="en-US" sz="3150" dirty="0"/>
          </a:p>
        </p:txBody>
      </p:sp>
      <p:sp>
        <p:nvSpPr>
          <p:cNvPr id="4" name="Podnadpis"/>
          <p:cNvSpPr txBox="1"/>
          <p:nvPr/>
        </p:nvSpPr>
        <p:spPr>
          <a:xfrm>
            <a:off x="740664" y="12344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53687A"/>
                </a:solidFill>
              </a:rPr>
              <a:t>Místo kopírování mezi aplikacemi jedna otázka napříč nimi.</a:t>
            </a:r>
            <a:endParaRPr lang="en-US" sz="1725" dirty="0"/>
          </a:p>
        </p:txBody>
      </p:sp>
      <p:sp>
        <p:nvSpPr>
          <p:cNvPr id="5" name="Zdroj"/>
          <p:cNvSpPr txBox="1"/>
          <p:nvPr/>
        </p:nvSpPr>
        <p:spPr>
          <a:xfrm>
            <a:off x="722376" y="640080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7A"/>
                </a:solidFill>
              </a:rPr>
              <a:t>Inspirováno: Anthropic, The Founder’s Playbook: Building an AI-Native Startup (2026)</a:t>
            </a:r>
            <a:endParaRPr lang="en-US" sz="1000" dirty="0"/>
          </a:p>
        </p:txBody>
      </p:sp>
      <p:sp>
        <p:nvSpPr>
          <p:cNvPr id="6" name="Spojnice CRM"/>
          <p:cNvSpPr/>
          <p:nvPr/>
        </p:nvSpPr>
        <p:spPr>
          <a:xfrm>
            <a:off x="1965960" y="2468880"/>
            <a:ext cx="1325880" cy="1508760"/>
          </a:xfrm>
          <a:prstGeom prst="line">
            <a:avLst/>
          </a:prstGeom>
          <a:noFill/>
          <a:ln w="25400">
            <a:solidFill>
              <a:srgbClr val="D6E0E7"/>
            </a:solidFill>
            <a:prstDash val="solid"/>
          </a:ln>
        </p:spPr>
      </p:sp>
      <p:sp>
        <p:nvSpPr>
          <p:cNvPr id="7" name="Spojnice Asana"/>
          <p:cNvSpPr/>
          <p:nvPr/>
        </p:nvSpPr>
        <p:spPr>
          <a:xfrm flipV="1">
            <a:off x="3291840" y="2468880"/>
            <a:ext cx="1783080" cy="1508760"/>
          </a:xfrm>
          <a:prstGeom prst="line">
            <a:avLst/>
          </a:prstGeom>
          <a:noFill/>
          <a:ln w="25400">
            <a:solidFill>
              <a:srgbClr val="D6E0E7"/>
            </a:solidFill>
            <a:prstDash val="solid"/>
          </a:ln>
        </p:spPr>
      </p:sp>
      <p:sp>
        <p:nvSpPr>
          <p:cNvPr id="8" name="Spojnice E-mail a kalendář"/>
          <p:cNvSpPr/>
          <p:nvPr/>
        </p:nvSpPr>
        <p:spPr>
          <a:xfrm flipV="1">
            <a:off x="1965960" y="3977640"/>
            <a:ext cx="1325880" cy="1417320"/>
          </a:xfrm>
          <a:prstGeom prst="line">
            <a:avLst/>
          </a:prstGeom>
          <a:noFill/>
          <a:ln w="25400">
            <a:solidFill>
              <a:srgbClr val="D6E0E7"/>
            </a:solidFill>
            <a:prstDash val="solid"/>
          </a:ln>
        </p:spPr>
      </p:sp>
      <p:sp>
        <p:nvSpPr>
          <p:cNvPr id="9" name="Spojnice Dokumenty"/>
          <p:cNvSpPr/>
          <p:nvPr/>
        </p:nvSpPr>
        <p:spPr>
          <a:xfrm>
            <a:off x="3291840" y="3977640"/>
            <a:ext cx="1783080" cy="1417320"/>
          </a:xfrm>
          <a:prstGeom prst="line">
            <a:avLst/>
          </a:prstGeom>
          <a:noFill/>
          <a:ln w="25400">
            <a:solidFill>
              <a:srgbClr val="D6E0E7"/>
            </a:solidFill>
            <a:prstDash val="solid"/>
          </a:ln>
        </p:spPr>
      </p:sp>
      <p:sp>
        <p:nvSpPr>
          <p:cNvPr id="10" name="Uzel CRM"/>
          <p:cNvSpPr/>
          <p:nvPr/>
        </p:nvSpPr>
        <p:spPr>
          <a:xfrm>
            <a:off x="1097280" y="205740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1" name="Uzel text CRM"/>
          <p:cNvSpPr txBox="1"/>
          <p:nvPr/>
        </p:nvSpPr>
        <p:spPr>
          <a:xfrm>
            <a:off x="118872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653"/>
                </a:solidFill>
              </a:rPr>
              <a:t>CRM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3687A"/>
                </a:solidFill>
              </a:rPr>
              <a:t>dárci a historie darů</a:t>
            </a:r>
            <a:endParaRPr lang="en-US" sz="1400" dirty="0"/>
          </a:p>
        </p:txBody>
      </p:sp>
      <p:sp>
        <p:nvSpPr>
          <p:cNvPr id="12" name="Uzel Asana"/>
          <p:cNvSpPr/>
          <p:nvPr/>
        </p:nvSpPr>
        <p:spPr>
          <a:xfrm>
            <a:off x="4206240" y="205740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3" name="Uzel text Asana"/>
          <p:cNvSpPr txBox="1"/>
          <p:nvPr/>
        </p:nvSpPr>
        <p:spPr>
          <a:xfrm>
            <a:off x="429768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653"/>
                </a:solidFill>
              </a:rPr>
              <a:t>Asana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3687A"/>
                </a:solidFill>
              </a:rPr>
              <a:t>úkoly a kampaně</a:t>
            </a:r>
            <a:endParaRPr lang="en-US" sz="1400" dirty="0"/>
          </a:p>
        </p:txBody>
      </p:sp>
      <p:sp>
        <p:nvSpPr>
          <p:cNvPr id="14" name="Uzel E-mail a kalendář"/>
          <p:cNvSpPr/>
          <p:nvPr/>
        </p:nvSpPr>
        <p:spPr>
          <a:xfrm>
            <a:off x="1097280" y="49834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5" name="Uzel text E-mail a kalendář"/>
          <p:cNvSpPr txBox="1"/>
          <p:nvPr/>
        </p:nvSpPr>
        <p:spPr>
          <a:xfrm>
            <a:off x="1188720" y="4983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653"/>
                </a:solidFill>
              </a:rPr>
              <a:t>E-mail a kalendář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3687A"/>
                </a:solidFill>
              </a:rPr>
              <a:t>komunikace a schůzky</a:t>
            </a:r>
            <a:endParaRPr lang="en-US" sz="1400" dirty="0"/>
          </a:p>
        </p:txBody>
      </p:sp>
      <p:sp>
        <p:nvSpPr>
          <p:cNvPr id="16" name="Uzel Dokumenty"/>
          <p:cNvSpPr/>
          <p:nvPr/>
        </p:nvSpPr>
        <p:spPr>
          <a:xfrm>
            <a:off x="4206240" y="49834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7" name="Uzel text Dokumenty"/>
          <p:cNvSpPr txBox="1"/>
          <p:nvPr/>
        </p:nvSpPr>
        <p:spPr>
          <a:xfrm>
            <a:off x="4297680" y="4983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653"/>
                </a:solidFill>
              </a:rPr>
              <a:t>Dokumenty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3687A"/>
                </a:solidFill>
              </a:rPr>
              <a:t>žádosti a reporty</a:t>
            </a:r>
            <a:endParaRPr lang="en-US" sz="1400" dirty="0"/>
          </a:p>
        </p:txBody>
      </p:sp>
      <p:sp>
        <p:nvSpPr>
          <p:cNvPr id="18" name="Střed"/>
          <p:cNvSpPr/>
          <p:nvPr/>
        </p:nvSpPr>
        <p:spPr>
          <a:xfrm>
            <a:off x="2514600" y="3200400"/>
            <a:ext cx="1554480" cy="1554480"/>
          </a:xfrm>
          <a:prstGeom prst="ellipse">
            <a:avLst/>
          </a:prstGeom>
          <a:solidFill>
            <a:srgbClr val="183653"/>
          </a:solidFill>
          <a:ln w="12700">
            <a:solidFill>
              <a:srgbClr val="183653"/>
            </a:solidFill>
            <a:prstDash val="solid"/>
          </a:ln>
        </p:spPr>
      </p:sp>
      <p:sp>
        <p:nvSpPr>
          <p:cNvPr id="19" name="Střed text"/>
          <p:cNvSpPr txBox="1"/>
          <p:nvPr/>
        </p:nvSpPr>
        <p:spPr>
          <a:xfrm>
            <a:off x="2514600" y="32004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asistent</a:t>
            </a:r>
            <a:endParaRPr lang="en-US" sz="1600" dirty="0"/>
          </a:p>
        </p:txBody>
      </p:sp>
      <p:sp>
        <p:nvSpPr>
          <p:cNvPr id="20" name="Použití 1"/>
          <p:cNvSpPr/>
          <p:nvPr/>
        </p:nvSpPr>
        <p:spPr>
          <a:xfrm>
            <a:off x="6675120" y="1965960"/>
            <a:ext cx="4791456" cy="1051560"/>
          </a:xfrm>
          <a:prstGeom prst="roundRect">
            <a:avLst>
              <a:gd name="adj" fmla="val 10435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21" name="Použití text 1"/>
          <p:cNvSpPr txBox="1"/>
          <p:nvPr/>
        </p:nvSpPr>
        <p:spPr>
          <a:xfrm>
            <a:off x="6903720" y="19659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8F92"/>
                </a:solidFill>
              </a:rPr>
              <a:t>Před schůzkou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Shrň historii dárce z CRM a naši poslední korespondenci.</a:t>
            </a:r>
            <a:endParaRPr lang="en-US" sz="1600" dirty="0"/>
          </a:p>
        </p:txBody>
      </p:sp>
      <p:sp>
        <p:nvSpPr>
          <p:cNvPr id="22" name="Použití 2"/>
          <p:cNvSpPr/>
          <p:nvPr/>
        </p:nvSpPr>
        <p:spPr>
          <a:xfrm>
            <a:off x="6675120" y="3200400"/>
            <a:ext cx="4791456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oužití text 2"/>
          <p:cNvSpPr txBox="1"/>
          <p:nvPr/>
        </p:nvSpPr>
        <p:spPr>
          <a:xfrm>
            <a:off x="6903720" y="32004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8F92"/>
                </a:solidFill>
              </a:rPr>
              <a:t>Po schůzce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Zapiš poznámky do CRM a vytvoř úkoly v Asaně s termíny.</a:t>
            </a:r>
            <a:endParaRPr lang="en-US" sz="1600" dirty="0"/>
          </a:p>
        </p:txBody>
      </p:sp>
      <p:sp>
        <p:nvSpPr>
          <p:cNvPr id="24" name="Použití 3"/>
          <p:cNvSpPr/>
          <p:nvPr/>
        </p:nvSpPr>
        <p:spPr>
          <a:xfrm>
            <a:off x="6675120" y="4434840"/>
            <a:ext cx="4791456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oužití text 3"/>
          <p:cNvSpPr txBox="1"/>
          <p:nvPr/>
        </p:nvSpPr>
        <p:spPr>
          <a:xfrm>
            <a:off x="6903720" y="44348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8F92"/>
                </a:solidFill>
              </a:rPr>
              <a:t>Každé pondělí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Kdo z dárců čeká na naši odpověď déle než 14 dní?</a:t>
            </a:r>
            <a:endParaRPr lang="en-US" sz="1600" dirty="0"/>
          </a:p>
        </p:txBody>
      </p:sp>
      <p:sp>
        <p:nvSpPr>
          <p:cNvPr id="26" name="Poznámka"/>
          <p:cNvSpPr txBox="1"/>
          <p:nvPr/>
        </p:nvSpPr>
        <p:spPr>
          <a:xfrm>
            <a:off x="6675120" y="5669280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87A"/>
                </a:solidFill>
              </a:rPr>
              <a:t>Napojení přes konektory, např. Microsoft 365, Asana, HubSpot nebo Salesforce. Ověřte, co dovoluje vaše licence a pravidla ochrany dat.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ní akcent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722376" y="512064"/>
            <a:ext cx="10744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83653"/>
                </a:solidFill>
              </a:rPr>
              <a:t>Dirigent, ne autopilot</a:t>
            </a:r>
            <a:endParaRPr lang="en-US" sz="3150" dirty="0"/>
          </a:p>
        </p:txBody>
      </p:sp>
      <p:sp>
        <p:nvSpPr>
          <p:cNvPr id="4" name="Podnadpis"/>
          <p:cNvSpPr txBox="1"/>
          <p:nvPr/>
        </p:nvSpPr>
        <p:spPr>
          <a:xfrm>
            <a:off x="740664" y="12344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53687A"/>
                </a:solidFill>
              </a:rPr>
              <a:t>Playbook popisuje zakladatele jako dirigenta AI agentů. Pro fundraisera platí totéž, s jasnou hranicí.</a:t>
            </a:r>
            <a:endParaRPr lang="en-US" sz="1725" dirty="0"/>
          </a:p>
        </p:txBody>
      </p:sp>
      <p:sp>
        <p:nvSpPr>
          <p:cNvPr id="5" name="Zdroj"/>
          <p:cNvSpPr txBox="1"/>
          <p:nvPr/>
        </p:nvSpPr>
        <p:spPr>
          <a:xfrm>
            <a:off x="722376" y="640080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7A"/>
                </a:solidFill>
              </a:rPr>
              <a:t>Inspirováno: Anthropic, The Founder’s Playbook: Building an AI-Native Startup (2026)</a:t>
            </a:r>
            <a:endParaRPr lang="en-US" sz="1000" dirty="0"/>
          </a:p>
        </p:txBody>
      </p:sp>
      <p:sp>
        <p:nvSpPr>
          <p:cNvPr id="6" name="Svěřte AI"/>
          <p:cNvSpPr/>
          <p:nvPr/>
        </p:nvSpPr>
        <p:spPr>
          <a:xfrm>
            <a:off x="722376" y="1965960"/>
            <a:ext cx="5230368" cy="2743200"/>
          </a:xfrm>
          <a:prstGeom prst="roundRect">
            <a:avLst>
              <a:gd name="adj" fmla="val 4000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7" name="Svěřte AI nadpis"/>
          <p:cNvSpPr txBox="1"/>
          <p:nvPr/>
        </p:nvSpPr>
        <p:spPr>
          <a:xfrm>
            <a:off x="996696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F92"/>
                </a:solidFill>
              </a:rPr>
              <a:t>Svěřte AI</a:t>
            </a:r>
            <a:endParaRPr lang="en-US" sz="2000" dirty="0"/>
          </a:p>
        </p:txBody>
      </p:sp>
      <p:sp>
        <p:nvSpPr>
          <p:cNvPr id="8" name="Svěřte AI body"/>
          <p:cNvSpPr txBox="1"/>
          <p:nvPr/>
        </p:nvSpPr>
        <p:spPr>
          <a:xfrm>
            <a:off x="996696" y="26974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83653"/>
                </a:solidFill>
              </a:rPr>
              <a:t>Rešerši firem, nadací a grantových výzev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83653"/>
                </a:solidFill>
              </a:rPr>
              <a:t>První návrhy textů, žádostí a poděkování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83653"/>
                </a:solidFill>
              </a:rPr>
              <a:t>Souhrny rozhovorů, dat a výročních zpráv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83653"/>
                </a:solidFill>
              </a:rPr>
              <a:t>Přehledy pipeline a pravidelné reporty</a:t>
            </a:r>
            <a:endParaRPr lang="en-US" sz="1600" dirty="0"/>
          </a:p>
        </p:txBody>
      </p:sp>
      <p:sp>
        <p:nvSpPr>
          <p:cNvPr id="9" name="Nechte si"/>
          <p:cNvSpPr/>
          <p:nvPr/>
        </p:nvSpPr>
        <p:spPr>
          <a:xfrm>
            <a:off x="6236208" y="1965960"/>
            <a:ext cx="5230368" cy="2743200"/>
          </a:xfrm>
          <a:prstGeom prst="roundRect">
            <a:avLst>
              <a:gd name="adj" fmla="val 4000"/>
            </a:avLst>
          </a:prstGeom>
          <a:solidFill>
            <a:srgbClr val="183653"/>
          </a:solidFill>
          <a:ln w="12700">
            <a:solidFill>
              <a:srgbClr val="183653"/>
            </a:solidFill>
            <a:prstDash val="solid"/>
          </a:ln>
        </p:spPr>
      </p:sp>
      <p:sp>
        <p:nvSpPr>
          <p:cNvPr id="10" name="Nechte si nadpis"/>
          <p:cNvSpPr txBox="1"/>
          <p:nvPr/>
        </p:nvSpPr>
        <p:spPr>
          <a:xfrm>
            <a:off x="6510528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FD1"/>
                </a:solidFill>
              </a:rPr>
              <a:t>Nechte si</a:t>
            </a:r>
            <a:endParaRPr lang="en-US" sz="2000" dirty="0"/>
          </a:p>
        </p:txBody>
      </p:sp>
      <p:sp>
        <p:nvSpPr>
          <p:cNvPr id="11" name="Nechte si body"/>
          <p:cNvSpPr txBox="1"/>
          <p:nvPr/>
        </p:nvSpPr>
        <p:spPr>
          <a:xfrm>
            <a:off x="6510528" y="26974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Vztah s dárcem a osobní poděkování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Rozhodnutí, koho, kdy a o co požádat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Konečnou podobu každého slova, které odejde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Ochranu osobních údajů dárců</a:t>
            </a:r>
            <a:endParaRPr lang="en-US" sz="1600" dirty="0"/>
          </a:p>
        </p:txBody>
      </p:sp>
      <p:sp>
        <p:nvSpPr>
          <p:cNvPr id="12" name="Pointa"/>
          <p:cNvSpPr txBox="1"/>
          <p:nvPr/>
        </p:nvSpPr>
        <p:spPr>
          <a:xfrm>
            <a:off x="722376" y="50749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F92"/>
                </a:solidFill>
              </a:rPr>
              <a:t>Autenticky a pravdivě </a:t>
            </a:r>
            <a:pPr indent="0" marL="0">
              <a:buNone/>
            </a:pPr>
            <a:r>
              <a:rPr lang="en-US" sz="2200" dirty="0">
                <a:solidFill>
                  <a:srgbClr val="183653"/>
                </a:solidFill>
              </a:rPr>
              <a:t>platí i pro texty, které vznikly s pomocí AI.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2026-10-23T05:27:37Z</dcterms:created>
  <dcterms:modified xsi:type="dcterms:W3CDTF">2026-10-23T05:27:37Z</dcterms:modified>
</cp:coreProperties>
</file>