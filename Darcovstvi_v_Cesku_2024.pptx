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rní akcent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68F92"/>
          </a:solidFill>
          <a:ln w="12700">
            <a:solidFill>
              <a:srgbClr val="168F92"/>
            </a:solidFill>
            <a:prstDash val="solid"/>
          </a:ln>
        </p:spPr>
      </p:sp>
      <p:sp>
        <p:nvSpPr>
          <p:cNvPr id="3" name="Nadpis"/>
          <p:cNvSpPr txBox="1"/>
          <p:nvPr/>
        </p:nvSpPr>
        <p:spPr>
          <a:xfrm>
            <a:off x="722376" y="512064"/>
            <a:ext cx="10744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183653"/>
                </a:solidFill>
              </a:rPr>
              <a:t>Dárcovství v Česku v roce 2024</a:t>
            </a:r>
            <a:endParaRPr lang="en-US" sz="3150" dirty="0"/>
          </a:p>
        </p:txBody>
      </p:sp>
      <p:sp>
        <p:nvSpPr>
          <p:cNvPr id="4" name="Podnadpis"/>
          <p:cNvSpPr txBox="1"/>
          <p:nvPr/>
        </p:nvSpPr>
        <p:spPr>
          <a:xfrm>
            <a:off x="740664" y="123444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5" dirty="0">
                <a:solidFill>
                  <a:srgbClr val="53687A"/>
                </a:solidFill>
              </a:rPr>
              <a:t>Kolik darovali firmy, jednotlivci a nadace na veřejně prospěšné účely</a:t>
            </a:r>
            <a:endParaRPr lang="en-US" sz="1725" dirty="0"/>
          </a:p>
        </p:txBody>
      </p:sp>
      <p:sp>
        <p:nvSpPr>
          <p:cNvPr id="5" name="Kruh Firmy"/>
          <p:cNvSpPr/>
          <p:nvPr/>
        </p:nvSpPr>
        <p:spPr>
          <a:xfrm>
            <a:off x="977647" y="2650057"/>
            <a:ext cx="2106527" cy="2106527"/>
          </a:xfrm>
          <a:prstGeom prst="ellipse">
            <a:avLst/>
          </a:prstGeom>
          <a:solidFill>
            <a:srgbClr val="168F92"/>
          </a:solidFill>
          <a:ln w="12700">
            <a:solidFill>
              <a:srgbClr val="168F92"/>
            </a:solidFill>
            <a:prstDash val="solid"/>
          </a:ln>
        </p:spPr>
      </p:sp>
      <p:sp>
        <p:nvSpPr>
          <p:cNvPr id="6" name="Hodnota Firmy"/>
          <p:cNvSpPr txBox="1"/>
          <p:nvPr/>
        </p:nvSpPr>
        <p:spPr>
          <a:xfrm>
            <a:off x="977647" y="2650057"/>
            <a:ext cx="2106527" cy="210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7,7</a:t>
            </a:r>
            <a:endParaRPr lang="en-US" sz="3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mld. Kč</a:t>
            </a:r>
            <a:endParaRPr lang="en-US" sz="3000" dirty="0"/>
          </a:p>
        </p:txBody>
      </p:sp>
      <p:sp>
        <p:nvSpPr>
          <p:cNvPr id="7" name="Popisek Firmy"/>
          <p:cNvSpPr txBox="1"/>
          <p:nvPr/>
        </p:nvSpPr>
        <p:spPr>
          <a:xfrm>
            <a:off x="611887" y="5394960"/>
            <a:ext cx="28380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3687A"/>
                </a:solidFill>
              </a:rPr>
              <a:t>Firmy</a:t>
            </a:r>
            <a:endParaRPr lang="en-US" sz="1500" dirty="0"/>
          </a:p>
        </p:txBody>
      </p:sp>
      <p:sp>
        <p:nvSpPr>
          <p:cNvPr id="8" name="Znaménko"/>
          <p:cNvSpPr txBox="1"/>
          <p:nvPr/>
        </p:nvSpPr>
        <p:spPr>
          <a:xfrm>
            <a:off x="3084174" y="338328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3687A"/>
                </a:solidFill>
              </a:rPr>
              <a:t>+</a:t>
            </a:r>
            <a:endParaRPr lang="en-US" sz="3200" dirty="0"/>
          </a:p>
        </p:txBody>
      </p:sp>
      <p:sp>
        <p:nvSpPr>
          <p:cNvPr id="9" name="Kruh Individuální dárci"/>
          <p:cNvSpPr/>
          <p:nvPr/>
        </p:nvSpPr>
        <p:spPr>
          <a:xfrm>
            <a:off x="3769974" y="2953730"/>
            <a:ext cx="1499180" cy="1499180"/>
          </a:xfrm>
          <a:prstGeom prst="ellipse">
            <a:avLst/>
          </a:prstGeom>
          <a:solidFill>
            <a:srgbClr val="BFE5E5"/>
          </a:solidFill>
          <a:ln w="12700">
            <a:solidFill>
              <a:srgbClr val="BFE5E5"/>
            </a:solidFill>
            <a:prstDash val="solid"/>
          </a:ln>
        </p:spPr>
      </p:sp>
      <p:sp>
        <p:nvSpPr>
          <p:cNvPr id="10" name="Hodnota Individuální dárci"/>
          <p:cNvSpPr txBox="1"/>
          <p:nvPr/>
        </p:nvSpPr>
        <p:spPr>
          <a:xfrm>
            <a:off x="3769974" y="2953730"/>
            <a:ext cx="1499180" cy="1499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83653"/>
                </a:solidFill>
              </a:rPr>
              <a:t>3,9</a:t>
            </a:r>
            <a:endParaRPr lang="en-US" sz="3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83653"/>
                </a:solidFill>
              </a:rPr>
              <a:t>mld. Kč</a:t>
            </a:r>
            <a:endParaRPr lang="en-US" sz="3000" dirty="0"/>
          </a:p>
        </p:txBody>
      </p:sp>
      <p:sp>
        <p:nvSpPr>
          <p:cNvPr id="11" name="Popisek Individuální dárci"/>
          <p:cNvSpPr txBox="1"/>
          <p:nvPr/>
        </p:nvSpPr>
        <p:spPr>
          <a:xfrm>
            <a:off x="3404214" y="5394960"/>
            <a:ext cx="2230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3687A"/>
                </a:solidFill>
              </a:rPr>
              <a:t>Individuální dárci</a:t>
            </a:r>
            <a:endParaRPr lang="en-US" sz="1500" dirty="0"/>
          </a:p>
        </p:txBody>
      </p:sp>
      <p:sp>
        <p:nvSpPr>
          <p:cNvPr id="12" name="Znaménko"/>
          <p:cNvSpPr txBox="1"/>
          <p:nvPr/>
        </p:nvSpPr>
        <p:spPr>
          <a:xfrm>
            <a:off x="5269155" y="338328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3687A"/>
                </a:solidFill>
              </a:rPr>
              <a:t>+</a:t>
            </a:r>
            <a:endParaRPr lang="en-US" sz="3200" dirty="0"/>
          </a:p>
        </p:txBody>
      </p:sp>
      <p:sp>
        <p:nvSpPr>
          <p:cNvPr id="13" name="Kruh Nadace a nadační fondy"/>
          <p:cNvSpPr/>
          <p:nvPr/>
        </p:nvSpPr>
        <p:spPr>
          <a:xfrm>
            <a:off x="5954955" y="2925433"/>
            <a:ext cx="1555773" cy="1555773"/>
          </a:xfrm>
          <a:prstGeom prst="ellipse">
            <a:avLst/>
          </a:prstGeom>
          <a:solidFill>
            <a:srgbClr val="7FCFD1"/>
          </a:solidFill>
          <a:ln w="12700">
            <a:solidFill>
              <a:srgbClr val="7FCFD1"/>
            </a:solidFill>
            <a:prstDash val="solid"/>
          </a:ln>
        </p:spPr>
      </p:sp>
      <p:sp>
        <p:nvSpPr>
          <p:cNvPr id="14" name="Hodnota Nadace a nadační fondy"/>
          <p:cNvSpPr txBox="1"/>
          <p:nvPr/>
        </p:nvSpPr>
        <p:spPr>
          <a:xfrm>
            <a:off x="5954955" y="2925433"/>
            <a:ext cx="1555773" cy="155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83653"/>
                </a:solidFill>
              </a:rPr>
              <a:t>4,2</a:t>
            </a:r>
            <a:endParaRPr lang="en-US" sz="3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83653"/>
                </a:solidFill>
              </a:rPr>
              <a:t>mld. Kč</a:t>
            </a:r>
            <a:endParaRPr lang="en-US" sz="3000" dirty="0"/>
          </a:p>
        </p:txBody>
      </p:sp>
      <p:sp>
        <p:nvSpPr>
          <p:cNvPr id="15" name="Popisek Nadace a nadační fondy"/>
          <p:cNvSpPr txBox="1"/>
          <p:nvPr/>
        </p:nvSpPr>
        <p:spPr>
          <a:xfrm>
            <a:off x="5589195" y="5394960"/>
            <a:ext cx="22872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3687A"/>
                </a:solidFill>
              </a:rPr>
              <a:t>Nadace a nadační fondy</a:t>
            </a:r>
            <a:endParaRPr lang="en-US" sz="1500" dirty="0"/>
          </a:p>
        </p:txBody>
      </p:sp>
      <p:sp>
        <p:nvSpPr>
          <p:cNvPr id="16" name="Znaménko"/>
          <p:cNvSpPr txBox="1"/>
          <p:nvPr/>
        </p:nvSpPr>
        <p:spPr>
          <a:xfrm>
            <a:off x="7510728" y="338328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3687A"/>
                </a:solidFill>
              </a:rPr>
              <a:t>=</a:t>
            </a:r>
            <a:endParaRPr lang="en-US" sz="3200" dirty="0"/>
          </a:p>
        </p:txBody>
      </p:sp>
      <p:sp>
        <p:nvSpPr>
          <p:cNvPr id="17" name="Kruh Celkem"/>
          <p:cNvSpPr/>
          <p:nvPr/>
        </p:nvSpPr>
        <p:spPr>
          <a:xfrm>
            <a:off x="8196528" y="2194560"/>
            <a:ext cx="3017520" cy="3017520"/>
          </a:xfrm>
          <a:prstGeom prst="ellipse">
            <a:avLst/>
          </a:prstGeom>
          <a:solidFill>
            <a:srgbClr val="183653"/>
          </a:solidFill>
          <a:ln w="12700">
            <a:solidFill>
              <a:srgbClr val="183653"/>
            </a:solidFill>
            <a:prstDash val="solid"/>
          </a:ln>
        </p:spPr>
      </p:sp>
      <p:sp>
        <p:nvSpPr>
          <p:cNvPr id="18" name="Hodnota Celkem"/>
          <p:cNvSpPr txBox="1"/>
          <p:nvPr/>
        </p:nvSpPr>
        <p:spPr>
          <a:xfrm>
            <a:off x="8196528" y="219456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15,8</a:t>
            </a:r>
            <a:endParaRPr lang="en-US" sz="4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mld. Kč</a:t>
            </a:r>
            <a:endParaRPr lang="en-US" sz="4000" dirty="0"/>
          </a:p>
        </p:txBody>
      </p:sp>
      <p:sp>
        <p:nvSpPr>
          <p:cNvPr id="19" name="Popisek Celkem"/>
          <p:cNvSpPr txBox="1"/>
          <p:nvPr/>
        </p:nvSpPr>
        <p:spPr>
          <a:xfrm>
            <a:off x="7830768" y="5394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653"/>
                </a:solidFill>
              </a:rPr>
              <a:t>Celkem</a:t>
            </a:r>
            <a:endParaRPr lang="en-US" sz="1500" dirty="0"/>
          </a:p>
        </p:txBody>
      </p:sp>
      <p:sp>
        <p:nvSpPr>
          <p:cNvPr id="20" name="Zdroj"/>
          <p:cNvSpPr txBox="1"/>
          <p:nvPr/>
        </p:nvSpPr>
        <p:spPr>
          <a:xfrm>
            <a:off x="722376" y="6263640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87A"/>
                </a:solidFill>
              </a:rPr>
              <a:t>Zdroj: Fórum dárců, Mapa dárcovství 2025 (daňová přiznání, výroční zprávy nadací)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2026-10-23T05:07:46Z</dcterms:created>
  <dcterms:modified xsi:type="dcterms:W3CDTF">2026-10-23T05:07:46Z</dcterms:modified>
</cp:coreProperties>
</file>