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3.svg" ContentType="image/svg+xml"/>
  <Override PartName="/ppt/media/image14.svg" ContentType="image/svg+xml"/>
  <Override PartName="/ppt/media/image16.svg" ContentType="image/svg+xml"/>
  <Override PartName="/ppt/media/image20.svg" ContentType="image/svg+xml"/>
  <Override PartName="/ppt/media/image24.svg" ContentType="image/svg+xml"/>
  <Override PartName="/ppt/media/image25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4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60.svg" ContentType="image/svg+xml"/>
  <Override PartName="/ppt/media/image66.svg" ContentType="image/svg+xml"/>
  <Override PartName="/ppt/media/image7.svg" ContentType="image/svg+xml"/>
  <Override PartName="/ppt/media/image70.svg" ContentType="image/svg+xml"/>
  <Override PartName="/ppt/media/image72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9"/>
  </p:normalViewPr>
  <p:slideViewPr>
    <p:cSldViewPr snapToGrid="0">
      <p:cViewPr varScale="1">
        <p:scale>
          <a:sx n="115" d="100"/>
          <a:sy n="115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2E6235-9D02-426C-81BE-E8E08660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5F1D37B-C7D1-44E2-9CAD-B558A08EB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D956C50-5E12-4219-85EF-C4E47CF6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67BE126-FE9B-4C6D-B977-43524BDA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DB9F863-0FFB-4AB5-8722-D43F77274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6EFB018-36FF-41DD-8019-CCCD27927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56AD7B9-73DB-43DC-B0E8-450B560BD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53427AE-4B56-415F-B96B-EBE2C0F31E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78C591C-2808-4769-978B-D17D4BA3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7B6EA2E-A4AF-46D2-8942-A93612361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3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Relationship Id="rId4" Type="http://schemas.openxmlformats.org/officeDocument/2006/relationships/image" Target="../media/image30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Relationship Id="rId4" Type="http://schemas.openxmlformats.org/officeDocument/2006/relationships/image" Target="../media/image30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Relationship Id="rId4" Type="http://schemas.openxmlformats.org/officeDocument/2006/relationships/image" Target="../media/image32.sv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7.png"/><Relationship Id="rId4" Type="http://schemas.openxmlformats.org/officeDocument/2006/relationships/image" Target="../media/image5.sv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8.sv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9.sv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0.sv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1.png"/><Relationship Id="rId4" Type="http://schemas.openxmlformats.org/officeDocument/2006/relationships/image" Target="../media/image5.sv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2.png"/><Relationship Id="rId4" Type="http://schemas.openxmlformats.org/officeDocument/2006/relationships/image" Target="../media/image32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3.png"/><Relationship Id="rId4" Type="http://schemas.openxmlformats.org/officeDocument/2006/relationships/image" Target="../media/image44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7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8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0.sv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3.sv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4.sv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5.sv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6.sv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7.sv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8.sv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9.png"/><Relationship Id="rId4" Type="http://schemas.openxmlformats.org/officeDocument/2006/relationships/image" Target="../media/image60.sv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sv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32.sv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0.sv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1.png"/><Relationship Id="rId4" Type="http://schemas.openxmlformats.org/officeDocument/2006/relationships/image" Target="../media/image7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nký horní akcent">
            <a:extLst>
              <a:ext uri="{FF2B5EF4-FFF2-40B4-BE49-F238E27FC236}">
                <a16:creationId xmlns:a16="http://schemas.microsoft.com/office/drawing/2014/main" id="{8B6920D7-48D0-4F9C-A9A9-F235A39C9F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" name="Nadpis">
            <a:extLst>
              <a:ext uri="{FF2B5EF4-FFF2-40B4-BE49-F238E27FC236}">
                <a16:creationId xmlns:a16="http://schemas.microsoft.com/office/drawing/2014/main" id="{29179971-F01C-4E25-A6F0-8927EC33D80C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Značka pomáhá, aby bylo dobro vidět</a:t>
            </a:r>
          </a:p>
        </p:txBody>
      </p:sp>
      <p:sp>
        <p:nvSpPr>
          <p:cNvPr id="3" name="Podnadpis">
            <a:extLst>
              <a:ext uri="{FF2B5EF4-FFF2-40B4-BE49-F238E27FC236}">
                <a16:creationId xmlns:a16="http://schemas.microsoft.com/office/drawing/2014/main" id="{A3FD0F6E-9115-4F15-8EDC-9CB2AFD5D9BD}"/>
              </a:ext>
            </a:extLst>
          </p:cNvPr>
          <p:cNvSpPr>
            <a:spLocks noGrp="1"/>
          </p:cNvSpPr>
          <p:nvPr/>
        </p:nvSpPr>
        <p:spPr>
          <a:xfrm>
            <a:off x="742950" y="123825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87A"/>
                </a:solidFill>
                <a:latin typeface="Arial"/>
                <a:ea typeface="Arial"/>
                <a:cs typeface="Arial"/>
              </a:rPr>
              <a:t>Proč o ní mluvit v neziskovém sektoru?</a:t>
            </a:r>
          </a:p>
        </p:txBody>
      </p:sp>
      <p:sp>
        <p:nvSpPr>
          <p:cNvPr id="4" name="Hlavní sdělení">
            <a:extLst>
              <a:ext uri="{FF2B5EF4-FFF2-40B4-BE49-F238E27FC236}">
                <a16:creationId xmlns:a16="http://schemas.microsoft.com/office/drawing/2014/main" id="{3F26083A-EE2E-483B-9871-B85E94C585A1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7239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2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Značka dává lidem srozumitelný obraz o tom, kdo za vaší prací stojí a proč je důležitá.</a:t>
            </a:r>
          </a:p>
        </p:txBody>
      </p:sp>
      <p:sp>
        <p:nvSpPr>
          <p:cNvPr id="5" name="Svislý akcent">
            <a:extLst>
              <a:ext uri="{FF2B5EF4-FFF2-40B4-BE49-F238E27FC236}">
                <a16:creationId xmlns:a16="http://schemas.microsoft.com/office/drawing/2014/main" id="{B2E99232-1D27-4EC5-ADC4-C412D50CBE48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66675" cy="16764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Doplňující sdělení">
            <a:extLst>
              <a:ext uri="{FF2B5EF4-FFF2-40B4-BE49-F238E27FC236}">
                <a16:creationId xmlns:a16="http://schemas.microsoft.com/office/drawing/2014/main" id="{65D7F2FD-85B9-46E1-B493-28DEF74ADFC4}"/>
              </a:ext>
            </a:extLst>
          </p:cNvPr>
          <p:cNvSpPr>
            <a:spLocks noGrp="1"/>
          </p:cNvSpPr>
          <p:nvPr/>
        </p:nvSpPr>
        <p:spPr>
          <a:xfrm>
            <a:off x="1028700" y="3543300"/>
            <a:ext cx="66675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0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Když organizace o své práci mluví potichu, její přínos může zůstávat pro širší okolí méně viditelný.</a:t>
            </a:r>
          </a:p>
        </p:txBody>
      </p:sp>
      <p:sp>
        <p:nvSpPr>
          <p:cNvPr id="7" name="Poznámka k tématu">
            <a:extLst>
              <a:ext uri="{FF2B5EF4-FFF2-40B4-BE49-F238E27FC236}">
                <a16:creationId xmlns:a16="http://schemas.microsoft.com/office/drawing/2014/main" id="{80D3A725-DB69-498C-8055-B92D1565299C}"/>
              </a:ext>
            </a:extLst>
          </p:cNvPr>
          <p:cNvSpPr>
            <a:spLocks noGrp="1"/>
          </p:cNvSpPr>
          <p:nvPr/>
        </p:nvSpPr>
        <p:spPr>
          <a:xfrm>
            <a:off x="8286750" y="2247900"/>
            <a:ext cx="3000375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00" b="0" i="1">
                <a:solidFill>
                  <a:srgbClr val="53687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1">
                <a:solidFill>
                  <a:srgbClr val="53687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1">
                <a:solidFill>
                  <a:srgbClr val="53687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1">
                <a:solidFill>
                  <a:srgbClr val="53687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1">
                <a:solidFill>
                  <a:srgbClr val="53687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1">
                <a:solidFill>
                  <a:srgbClr val="53687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1">
                <a:solidFill>
                  <a:srgbClr val="53687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1">
                <a:solidFill>
                  <a:srgbClr val="53687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1">
                <a:solidFill>
                  <a:srgbClr val="53687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1">
                <a:solidFill>
                  <a:srgbClr val="5368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 i="1">
                <a:solidFill>
                  <a:srgbClr val="53687A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53687A"/>
                </a:solidFill>
                <a:latin typeface="Arial"/>
                <a:ea typeface="Arial"/>
                <a:cs typeface="Arial"/>
              </a:rPr>
              <a:t>O budování značky se v neziskovém prostředí často mluví méně než o fundraisingu.</a:t>
            </a:r>
          </a:p>
        </p:txBody>
      </p:sp>
      <p:sp>
        <p:nvSpPr>
          <p:cNvPr id="8" name="Spodní linka">
            <a:extLst>
              <a:ext uri="{FF2B5EF4-FFF2-40B4-BE49-F238E27FC236}">
                <a16:creationId xmlns:a16="http://schemas.microsoft.com/office/drawing/2014/main" id="{940AA7A8-B5E8-4995-AF63-6BA3B46E7392}"/>
              </a:ext>
            </a:extLst>
          </p:cNvPr>
          <p:cNvSpPr>
            <a:spLocks noGrp="1"/>
          </p:cNvSpPr>
          <p:nvPr/>
        </p:nvSpPr>
        <p:spPr>
          <a:xfrm>
            <a:off x="8286750" y="4143375"/>
            <a:ext cx="876300" cy="47625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5779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nký horní akcent">
            <a:extLst>
              <a:ext uri="{FF2B5EF4-FFF2-40B4-BE49-F238E27FC236}">
                <a16:creationId xmlns:a16="http://schemas.microsoft.com/office/drawing/2014/main" id="{31DDCD9E-B2B1-4BE4-840B-75EFF1B4F1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" name="Nadpis">
            <a:extLst>
              <a:ext uri="{FF2B5EF4-FFF2-40B4-BE49-F238E27FC236}">
                <a16:creationId xmlns:a16="http://schemas.microsoft.com/office/drawing/2014/main" id="{543930C7-24C7-478B-B6E7-7361559B873C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Značka je důležitá pro firmy i neziskovky</a:t>
            </a:r>
          </a:p>
        </p:txBody>
      </p:sp>
      <p:sp>
        <p:nvSpPr>
          <p:cNvPr id="3" name="Podnadpis">
            <a:extLst>
              <a:ext uri="{FF2B5EF4-FFF2-40B4-BE49-F238E27FC236}">
                <a16:creationId xmlns:a16="http://schemas.microsoft.com/office/drawing/2014/main" id="{670BEC5C-4CE7-4CD4-B9CD-B72188682994}"/>
              </a:ext>
            </a:extLst>
          </p:cNvPr>
          <p:cNvSpPr>
            <a:spLocks noGrp="1"/>
          </p:cNvSpPr>
          <p:nvPr/>
        </p:nvSpPr>
        <p:spPr>
          <a:xfrm>
            <a:off x="742950" y="123825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87A"/>
                </a:solidFill>
                <a:latin typeface="Arial"/>
                <a:ea typeface="Arial"/>
                <a:cs typeface="Arial"/>
              </a:rPr>
              <a:t>Stejný princip, jiné vztahy a výsledky.</a:t>
            </a:r>
          </a:p>
        </p:txBody>
      </p:sp>
      <p:sp>
        <p:nvSpPr>
          <p:cNvPr id="4" name="Firma – nadpis">
            <a:extLst>
              <a:ext uri="{FF2B5EF4-FFF2-40B4-BE49-F238E27FC236}">
                <a16:creationId xmlns:a16="http://schemas.microsoft.com/office/drawing/2014/main" id="{E3114D19-B9F5-483B-B763-F7A44371F0DB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Firma</a:t>
            </a:r>
          </a:p>
        </p:txBody>
      </p:sp>
      <p:sp>
        <p:nvSpPr>
          <p:cNvPr id="5" name="Firma – popis">
            <a:extLst>
              <a:ext uri="{FF2B5EF4-FFF2-40B4-BE49-F238E27FC236}">
                <a16:creationId xmlns:a16="http://schemas.microsoft.com/office/drawing/2014/main" id="{687B95F3-9C6A-4876-9399-1EEA72BEB70D}"/>
              </a:ext>
            </a:extLst>
          </p:cNvPr>
          <p:cNvSpPr>
            <a:spLocks noGrp="1"/>
          </p:cNvSpPr>
          <p:nvPr/>
        </p:nvSpPr>
        <p:spPr>
          <a:xfrm>
            <a:off x="781050" y="2733675"/>
            <a:ext cx="4476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Pomáhá zákazníkům rozpoznat nabídku, odlišit ji a rozhodnout se.</a:t>
            </a:r>
          </a:p>
        </p:txBody>
      </p:sp>
      <p:sp>
        <p:nvSpPr>
          <p:cNvPr id="6" name="Firma – výsledek">
            <a:extLst>
              <a:ext uri="{FF2B5EF4-FFF2-40B4-BE49-F238E27FC236}">
                <a16:creationId xmlns:a16="http://schemas.microsoft.com/office/drawing/2014/main" id="{E84FB8E3-EEB6-4719-B8CC-3DCE83733000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3687A"/>
                </a:solidFill>
                <a:latin typeface="Arial"/>
                <a:ea typeface="Arial"/>
                <a:cs typeface="Arial"/>
              </a:rPr>
              <a:t>Důvěra, preference a obchodní vztah.</a:t>
            </a:r>
          </a:p>
        </p:txBody>
      </p:sp>
      <p:sp>
        <p:nvSpPr>
          <p:cNvPr id="7" name="Oddělovací linka">
            <a:extLst>
              <a:ext uri="{FF2B5EF4-FFF2-40B4-BE49-F238E27FC236}">
                <a16:creationId xmlns:a16="http://schemas.microsoft.com/office/drawing/2014/main" id="{C702DF76-D927-4267-BFDD-275CAE85F4AC}"/>
              </a:ext>
            </a:extLst>
          </p:cNvPr>
          <p:cNvSpPr>
            <a:spLocks noGrp="1"/>
          </p:cNvSpPr>
          <p:nvPr/>
        </p:nvSpPr>
        <p:spPr>
          <a:xfrm>
            <a:off x="5943600" y="2095500"/>
            <a:ext cx="19050" cy="3067050"/>
          </a:xfrm>
          <a:prstGeom prst="rect">
            <a:avLst/>
          </a:prstGeom>
          <a:solidFill>
            <a:srgbClr val="D6E0E7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Neziskovka – nadpis">
            <a:extLst>
              <a:ext uri="{FF2B5EF4-FFF2-40B4-BE49-F238E27FC236}">
                <a16:creationId xmlns:a16="http://schemas.microsoft.com/office/drawing/2014/main" id="{690375D3-FF04-483B-8A19-1DD1CCA3985D}"/>
              </a:ext>
            </a:extLst>
          </p:cNvPr>
          <p:cNvSpPr>
            <a:spLocks noGrp="1"/>
          </p:cNvSpPr>
          <p:nvPr/>
        </p:nvSpPr>
        <p:spPr>
          <a:xfrm>
            <a:off x="6477000" y="2114550"/>
            <a:ext cx="493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 i="0">
                <a:solidFill>
                  <a:srgbClr val="168F92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Nezisková organizace</a:t>
            </a:r>
          </a:p>
        </p:txBody>
      </p:sp>
      <p:sp>
        <p:nvSpPr>
          <p:cNvPr id="9" name="Neziskovka – popis">
            <a:extLst>
              <a:ext uri="{FF2B5EF4-FFF2-40B4-BE49-F238E27FC236}">
                <a16:creationId xmlns:a16="http://schemas.microsoft.com/office/drawing/2014/main" id="{61E671AB-66A9-43C3-BE7A-C6148B98C39D}"/>
              </a:ext>
            </a:extLst>
          </p:cNvPr>
          <p:cNvSpPr>
            <a:spLocks noGrp="1"/>
          </p:cNvSpPr>
          <p:nvPr/>
        </p:nvSpPr>
        <p:spPr>
          <a:xfrm>
            <a:off x="6477000" y="2733675"/>
            <a:ext cx="49339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Pomáhá porozumět poslání, dopadu a způsobu, jak se lidé mohou zapojit.</a:t>
            </a:r>
          </a:p>
        </p:txBody>
      </p:sp>
      <p:sp>
        <p:nvSpPr>
          <p:cNvPr id="10" name="Neziskovka – výsledek">
            <a:extLst>
              <a:ext uri="{FF2B5EF4-FFF2-40B4-BE49-F238E27FC236}">
                <a16:creationId xmlns:a16="http://schemas.microsoft.com/office/drawing/2014/main" id="{DFA21241-F15D-4113-B28B-62BBB1043EAB}"/>
              </a:ext>
            </a:extLst>
          </p:cNvPr>
          <p:cNvSpPr>
            <a:spLocks noGrp="1"/>
          </p:cNvSpPr>
          <p:nvPr/>
        </p:nvSpPr>
        <p:spPr>
          <a:xfrm>
            <a:off x="6477000" y="4191000"/>
            <a:ext cx="49339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3687A"/>
                </a:solidFill>
                <a:latin typeface="Arial"/>
                <a:ea typeface="Arial"/>
                <a:cs typeface="Arial"/>
              </a:rPr>
              <a:t>Důvěra dárců, partnerů, dobrovolníků i lidí, kterým organizace pomáhá.</a:t>
            </a:r>
          </a:p>
        </p:txBody>
      </p:sp>
      <p:sp>
        <p:nvSpPr>
          <p:cNvPr id="11" name="Společný princip">
            <a:extLst>
              <a:ext uri="{FF2B5EF4-FFF2-40B4-BE49-F238E27FC236}">
                <a16:creationId xmlns:a16="http://schemas.microsoft.com/office/drawing/2014/main" id="{E2C11CC8-F0C7-4D9C-A013-7CD8CF652104}"/>
              </a:ext>
            </a:extLst>
          </p:cNvPr>
          <p:cNvSpPr>
            <a:spLocks noGrp="1"/>
          </p:cNvSpPr>
          <p:nvPr/>
        </p:nvSpPr>
        <p:spPr>
          <a:xfrm>
            <a:off x="781050" y="56769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0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 obou prostředích značka pomáhá odpovědět na otázku: Proč vám mám věřit?</a:t>
            </a:r>
          </a:p>
        </p:txBody>
      </p:sp>
    </p:spTree>
    <p:extLst>
      <p:ext uri="{BB962C8B-B14F-4D97-AF65-F5344CB8AC3E}">
        <p14:creationId xmlns:p14="http://schemas.microsoft.com/office/powerpoint/2010/main" val="528316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nký horní akcent">
            <a:extLst>
              <a:ext uri="{FF2B5EF4-FFF2-40B4-BE49-F238E27FC236}">
                <a16:creationId xmlns:a16="http://schemas.microsoft.com/office/drawing/2014/main" id="{3A9EC85F-4B66-4B5D-9729-0BEEBB573B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" name="Nadpis">
            <a:extLst>
              <a:ext uri="{FF2B5EF4-FFF2-40B4-BE49-F238E27FC236}">
                <a16:creationId xmlns:a16="http://schemas.microsoft.com/office/drawing/2014/main" id="{E469EFC2-494B-4013-8F6A-E34616F353AB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Pracovní hypotéza pro dnešní setkání</a:t>
            </a:r>
          </a:p>
        </p:txBody>
      </p:sp>
      <p:sp>
        <p:nvSpPr>
          <p:cNvPr id="3" name="Podnadpis">
            <a:extLst>
              <a:ext uri="{FF2B5EF4-FFF2-40B4-BE49-F238E27FC236}">
                <a16:creationId xmlns:a16="http://schemas.microsoft.com/office/drawing/2014/main" id="{0571F7E4-9773-4585-8510-AF12ED72BE44}"/>
              </a:ext>
            </a:extLst>
          </p:cNvPr>
          <p:cNvSpPr>
            <a:spLocks noGrp="1"/>
          </p:cNvSpPr>
          <p:nvPr/>
        </p:nvSpPr>
        <p:spPr>
          <a:xfrm>
            <a:off x="742950" y="123825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 i="0">
                <a:solidFill>
                  <a:srgbClr val="53687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87A"/>
                </a:solidFill>
                <a:latin typeface="Arial"/>
                <a:ea typeface="Arial"/>
                <a:cs typeface="Arial"/>
              </a:rPr>
              <a:t>Nejde o výsledek průzkumu. Vycházíme z reflexe a zkušenosti z diskuze.</a:t>
            </a:r>
          </a:p>
        </p:txBody>
      </p:sp>
      <p:sp>
        <p:nvSpPr>
          <p:cNvPr id="4" name="Bod 1">
            <a:extLst>
              <a:ext uri="{FF2B5EF4-FFF2-40B4-BE49-F238E27FC236}">
                <a16:creationId xmlns:a16="http://schemas.microsoft.com/office/drawing/2014/main" id="{3280B0A2-E449-41C3-909A-10E6036768C8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Hypotéza 1">
            <a:extLst>
              <a:ext uri="{FF2B5EF4-FFF2-40B4-BE49-F238E27FC236}">
                <a16:creationId xmlns:a16="http://schemas.microsoft.com/office/drawing/2014/main" id="{91447599-2D42-4FDF-9877-C6D92BE68E8A}"/>
              </a:ext>
            </a:extLst>
          </p:cNvPr>
          <p:cNvSpPr>
            <a:spLocks noGrp="1"/>
          </p:cNvSpPr>
          <p:nvPr/>
        </p:nvSpPr>
        <p:spPr>
          <a:xfrm>
            <a:off x="1104900" y="2171700"/>
            <a:ext cx="1009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Systematicky značku buduje jen část neziskových organizací, často podle dostupných kapacit.</a:t>
            </a:r>
          </a:p>
        </p:txBody>
      </p:sp>
      <p:sp>
        <p:nvSpPr>
          <p:cNvPr id="6" name="Bod 2">
            <a:extLst>
              <a:ext uri="{FF2B5EF4-FFF2-40B4-BE49-F238E27FC236}">
                <a16:creationId xmlns:a16="http://schemas.microsoft.com/office/drawing/2014/main" id="{0EB4CAFA-D4F4-4A3E-84ED-314BB192D48F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Hypotéza 2">
            <a:extLst>
              <a:ext uri="{FF2B5EF4-FFF2-40B4-BE49-F238E27FC236}">
                <a16:creationId xmlns:a16="http://schemas.microsoft.com/office/drawing/2014/main" id="{AE482795-1E57-4335-AF07-2401BCB0B796}"/>
              </a:ext>
            </a:extLst>
          </p:cNvPr>
          <p:cNvSpPr>
            <a:spLocks noGrp="1"/>
          </p:cNvSpPr>
          <p:nvPr/>
        </p:nvSpPr>
        <p:spPr>
          <a:xfrm>
            <a:off x="1104900" y="3067050"/>
            <a:ext cx="1009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 velké organizace někdy hledají, jak značku jasně vymezit a propojit s konkrétními programy.</a:t>
            </a:r>
          </a:p>
        </p:txBody>
      </p:sp>
      <p:sp>
        <p:nvSpPr>
          <p:cNvPr id="8" name="Bod 3">
            <a:extLst>
              <a:ext uri="{FF2B5EF4-FFF2-40B4-BE49-F238E27FC236}">
                <a16:creationId xmlns:a16="http://schemas.microsoft.com/office/drawing/2014/main" id="{FF82038A-AC4D-47E9-AF96-5AF8B2FFAFA0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Hypotéza 3">
            <a:extLst>
              <a:ext uri="{FF2B5EF4-FFF2-40B4-BE49-F238E27FC236}">
                <a16:creationId xmlns:a16="http://schemas.microsoft.com/office/drawing/2014/main" id="{2540AE96-5669-4A28-A720-F352EFB24CB5}"/>
              </a:ext>
            </a:extLst>
          </p:cNvPr>
          <p:cNvSpPr>
            <a:spLocks noGrp="1"/>
          </p:cNvSpPr>
          <p:nvPr/>
        </p:nvSpPr>
        <p:spPr>
          <a:xfrm>
            <a:off x="1104900" y="3962400"/>
            <a:ext cx="1009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Obavy z toho, jak je neziskový sektor vnímaný, mohou vést k tomu, že organizace o své práci mluví potichu.</a:t>
            </a:r>
          </a:p>
        </p:txBody>
      </p:sp>
      <p:sp>
        <p:nvSpPr>
          <p:cNvPr id="10" name="Bod 4">
            <a:extLst>
              <a:ext uri="{FF2B5EF4-FFF2-40B4-BE49-F238E27FC236}">
                <a16:creationId xmlns:a16="http://schemas.microsoft.com/office/drawing/2014/main" id="{0A331504-957E-4AAA-8662-3F0BC919E41F}"/>
              </a:ext>
            </a:extLst>
          </p:cNvPr>
          <p:cNvSpPr>
            <a:spLocks noGrp="1"/>
          </p:cNvSpPr>
          <p:nvPr/>
        </p:nvSpPr>
        <p:spPr>
          <a:xfrm>
            <a:off x="781050" y="4933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Hypotéza 4">
            <a:extLst>
              <a:ext uri="{FF2B5EF4-FFF2-40B4-BE49-F238E27FC236}">
                <a16:creationId xmlns:a16="http://schemas.microsoft.com/office/drawing/2014/main" id="{76D11044-0B17-4B42-BEFF-37078BA04725}"/>
              </a:ext>
            </a:extLst>
          </p:cNvPr>
          <p:cNvSpPr>
            <a:spLocks noGrp="1"/>
          </p:cNvSpPr>
          <p:nvPr/>
        </p:nvSpPr>
        <p:spPr>
          <a:xfrm>
            <a:off x="1104900" y="4857750"/>
            <a:ext cx="1009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Důsledkem může být, že veřejnost méně rozumí dobrému, které organizace dělají.</a:t>
            </a:r>
          </a:p>
        </p:txBody>
      </p:sp>
      <p:sp>
        <p:nvSpPr>
          <p:cNvPr id="12" name="Zvýrazněná patička">
            <a:extLst>
              <a:ext uri="{FF2B5EF4-FFF2-40B4-BE49-F238E27FC236}">
                <a16:creationId xmlns:a16="http://schemas.microsoft.com/office/drawing/2014/main" id="{D27E866E-ABDA-4C30-9AD8-71138D182E2E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10668000" cy="19050"/>
          </a:xfrm>
          <a:prstGeom prst="rect">
            <a:avLst/>
          </a:prstGeom>
          <a:solidFill>
            <a:srgbClr val="D6E0E7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Otázka do diskuze">
            <a:extLst>
              <a:ext uri="{FF2B5EF4-FFF2-40B4-BE49-F238E27FC236}">
                <a16:creationId xmlns:a16="http://schemas.microsoft.com/office/drawing/2014/main" id="{D9C0B448-A8A3-473C-97DD-C5B92E0002D7}"/>
              </a:ext>
            </a:extLst>
          </p:cNvPr>
          <p:cNvSpPr>
            <a:spLocks noGrp="1"/>
          </p:cNvSpPr>
          <p:nvPr/>
        </p:nvSpPr>
        <p:spPr>
          <a:xfrm>
            <a:off x="781050" y="59817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 i="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Co by se změnilo, kdybychom svou značku dokázali pojmenovat a postavit se za ni?</a:t>
            </a:r>
          </a:p>
        </p:txBody>
      </p:sp>
    </p:spTree>
    <p:extLst>
      <p:ext uri="{BB962C8B-B14F-4D97-AF65-F5344CB8AC3E}">
        <p14:creationId xmlns:p14="http://schemas.microsoft.com/office/powerpoint/2010/main" val="480889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rkysová horní linka">
            <a:extLst>
              <a:ext uri="{FF2B5EF4-FFF2-40B4-BE49-F238E27FC236}">
                <a16:creationId xmlns:a16="http://schemas.microsoft.com/office/drawing/2014/main" id="{7C1C17D1-DA88-4D82-9472-2F3AABFA3A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8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9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0" name="Hlavní sdělení"/>
          <p:cNvSpPr txBox="1"/>
          <p:nvPr/>
        </p:nvSpPr>
        <p:spPr>
          <a:xfrm>
            <a:off x="722376" y="1783080"/>
            <a:ext cx="722376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44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Není dárce jako dárce</a:t>
            </a:r>
            <a:endParaRPr lang="cs-CZ" sz="4400"/>
          </a:p>
        </p:txBody>
      </p:sp>
      <p:sp>
        <p:nvSpPr>
          <p:cNvPr id="11" name="Doplňující sdělení"/>
          <p:cNvSpPr txBox="1"/>
          <p:nvPr/>
        </p:nvSpPr>
        <p:spPr>
          <a:xfrm>
            <a:off x="722376" y="2773680"/>
            <a:ext cx="7223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400" b="0" i="1" dirty="0">
                <a:solidFill>
                  <a:srgbClr val="D3DEE7"/>
                </a:solidFill>
                <a:latin typeface="Arial"/>
                <a:ea typeface="Arial"/>
                <a:cs typeface="Arial"/>
              </a:rPr>
              <a:t>Zacilte lépe svou komunikaci a vytvořte silné vazby s dárci.</a:t>
            </a:r>
            <a:endParaRPr lang="cs-CZ" sz="2400"/>
          </a:p>
        </p:txBody>
      </p:sp>
      <p:sp>
        <p:nvSpPr>
          <p:cNvPr id="12" name="Autor"/>
          <p:cNvSpPr txBox="1"/>
          <p:nvPr/>
        </p:nvSpPr>
        <p:spPr>
          <a:xfrm>
            <a:off x="722376" y="5806440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6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Michal Veselý</a:t>
            </a:r>
            <a:endParaRPr lang="cs-CZ" sz="1600"/>
          </a:p>
        </p:txBody>
      </p:sp>
    </p:spTree>
    <p:extLst>
      <p:ext uri="{BB962C8B-B14F-4D97-AF65-F5344CB8AC3E}">
        <p14:creationId xmlns:p14="http://schemas.microsoft.com/office/powerpoint/2010/main" val="113239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rkysová horní linka">
            <a:extLst>
              <a:ext uri="{FF2B5EF4-FFF2-40B4-BE49-F238E27FC236}">
                <a16:creationId xmlns:a16="http://schemas.microsoft.com/office/drawing/2014/main" id="{D2A63D36-781D-427C-92A0-76DBCC2C4B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0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1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2" name="Hlavní sdělení"/>
          <p:cNvSpPr txBox="1"/>
          <p:nvPr/>
        </p:nvSpPr>
        <p:spPr>
          <a:xfrm>
            <a:off x="722376" y="1783080"/>
            <a:ext cx="7223760" cy="300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Naši </a:t>
            </a:r>
            <a:r>
              <a:rPr lang="cs-CZ" sz="28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dárci nejsou jednolitou skupinou</a:t>
            </a:r>
            <a:r>
              <a:rPr lang="cs-CZ" sz="2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 Dárci jsou </a:t>
            </a:r>
            <a:r>
              <a:rPr lang="cs-CZ" sz="28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různí</a:t>
            </a:r>
            <a:r>
              <a:rPr lang="cs-CZ" sz="2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 mají </a:t>
            </a:r>
            <a:r>
              <a:rPr lang="cs-CZ" sz="28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různé motivy </a:t>
            </a:r>
            <a:r>
              <a:rPr lang="cs-CZ" sz="2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 naši podporu.</a:t>
            </a:r>
            <a:endParaRPr lang="cs-CZ" sz="2800"/>
          </a:p>
          <a:p>
            <a:pPr algn="l"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cs-CZ" sz="2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 s dárci potřebujeme </a:t>
            </a:r>
            <a:r>
              <a:rPr lang="cs-CZ" sz="28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komunikovat různými způsoby</a:t>
            </a:r>
            <a:r>
              <a:rPr lang="cs-CZ" sz="2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  <a:endParaRPr lang="cs-CZ" sz="2800"/>
          </a:p>
          <a:p>
            <a:pPr algn="l"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cs-CZ" sz="2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Ale vždy </a:t>
            </a:r>
            <a:r>
              <a:rPr lang="cs-CZ" sz="28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autenticky a pravdivě</a:t>
            </a:r>
            <a:r>
              <a:rPr lang="cs-CZ" sz="2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  <a:endParaRPr lang="cs-CZ" sz="2800"/>
          </a:p>
        </p:txBody>
      </p:sp>
    </p:spTree>
    <p:extLst>
      <p:ext uri="{BB962C8B-B14F-4D97-AF65-F5344CB8AC3E}">
        <p14:creationId xmlns:p14="http://schemas.microsoft.com/office/powerpoint/2010/main" val="949387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3D0D03E7-3A22-4881-A7DB-F7D173B3A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15425" y="1114425"/>
            <a:ext cx="2114550" cy="1895475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02FE9E4F-32A1-4598-9F52-F33FE3358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7825" y="3009900"/>
            <a:ext cx="2105025" cy="1924050"/>
          </a:xfrm>
          <a:prstGeom prst="rect">
            <a:avLst/>
          </a:prstGeom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FD46E324-D4AC-4898-B41F-7BA57264C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287237" y="4895848"/>
            <a:ext cx="1999526" cy="1962152"/>
          </a:xfrm>
          <a:prstGeom prst="rect">
            <a:avLst/>
          </a:prstGeom>
        </p:spPr>
      </p:pic>
      <p:sp>
        <p:nvSpPr>
          <p:cNvPr id="4" name="Tyrkysová horní linka">
            <a:extLst>
              <a:ext uri="{FF2B5EF4-FFF2-40B4-BE49-F238E27FC236}">
                <a16:creationId xmlns:a16="http://schemas.microsoft.com/office/drawing/2014/main" id="{759EADF1-0802-44BC-BBD6-B63BD1962C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strana 3, řádek 12">
            <a:extLst>
              <a:ext uri="{FF2B5EF4-FFF2-40B4-BE49-F238E27FC236}">
                <a16:creationId xmlns:a16="http://schemas.microsoft.com/office/drawing/2014/main" id="{E7F56DBB-5256-4E94-B715-81544D4274A4}"/>
              </a:ext>
            </a:extLst>
          </p:cNvPr>
          <p:cNvSpPr>
            <a:spLocks noGrp="1"/>
          </p:cNvSpPr>
          <p:nvPr/>
        </p:nvSpPr>
        <p:spPr>
          <a:xfrm>
            <a:off x="7553325" y="1797022"/>
            <a:ext cx="1683680" cy="2406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Individuální </a:t>
            </a:r>
          </a:p>
        </p:txBody>
      </p:sp>
      <p:sp>
        <p:nvSpPr>
          <p:cNvPr id="18" name="Text strana 3, řádek 13">
            <a:extLst>
              <a:ext uri="{FF2B5EF4-FFF2-40B4-BE49-F238E27FC236}">
                <a16:creationId xmlns:a16="http://schemas.microsoft.com/office/drawing/2014/main" id="{5BFD02AC-6D0B-4114-94EE-0766365E12C2}"/>
              </a:ext>
            </a:extLst>
          </p:cNvPr>
          <p:cNvSpPr>
            <a:spLocks noGrp="1"/>
          </p:cNvSpPr>
          <p:nvPr/>
        </p:nvSpPr>
        <p:spPr>
          <a:xfrm>
            <a:off x="7553325" y="2054578"/>
            <a:ext cx="1430155" cy="2406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dárcovství</a:t>
            </a:r>
          </a:p>
        </p:txBody>
      </p:sp>
      <p:sp>
        <p:nvSpPr>
          <p:cNvPr id="19" name="Text strana 3, řádek 14">
            <a:extLst>
              <a:ext uri="{FF2B5EF4-FFF2-40B4-BE49-F238E27FC236}">
                <a16:creationId xmlns:a16="http://schemas.microsoft.com/office/drawing/2014/main" id="{63A63786-D9CC-45AF-A74B-A9A6CD6D29F9}"/>
              </a:ext>
            </a:extLst>
          </p:cNvPr>
          <p:cNvSpPr>
            <a:spLocks noGrp="1"/>
          </p:cNvSpPr>
          <p:nvPr/>
        </p:nvSpPr>
        <p:spPr>
          <a:xfrm>
            <a:off x="7690231" y="3670907"/>
            <a:ext cx="1203193" cy="2406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Firemní </a:t>
            </a:r>
          </a:p>
        </p:txBody>
      </p:sp>
      <p:sp>
        <p:nvSpPr>
          <p:cNvPr id="20" name="Text strana 3, řádek 15">
            <a:extLst>
              <a:ext uri="{FF2B5EF4-FFF2-40B4-BE49-F238E27FC236}">
                <a16:creationId xmlns:a16="http://schemas.microsoft.com/office/drawing/2014/main" id="{A8F1D66D-03F3-4D5A-95CC-543B2E1CC753}"/>
              </a:ext>
            </a:extLst>
          </p:cNvPr>
          <p:cNvSpPr>
            <a:spLocks noGrp="1"/>
          </p:cNvSpPr>
          <p:nvPr/>
        </p:nvSpPr>
        <p:spPr>
          <a:xfrm>
            <a:off x="7690231" y="3928463"/>
            <a:ext cx="1429664" cy="2406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dárcovství</a:t>
            </a:r>
          </a:p>
        </p:txBody>
      </p:sp>
      <p:sp>
        <p:nvSpPr>
          <p:cNvPr id="21" name="Text strana 3, řádek 16">
            <a:extLst>
              <a:ext uri="{FF2B5EF4-FFF2-40B4-BE49-F238E27FC236}">
                <a16:creationId xmlns:a16="http://schemas.microsoft.com/office/drawing/2014/main" id="{C286A823-1E57-4872-951E-D09C8F9A9034}"/>
              </a:ext>
            </a:extLst>
          </p:cNvPr>
          <p:cNvSpPr>
            <a:spLocks noGrp="1"/>
          </p:cNvSpPr>
          <p:nvPr/>
        </p:nvSpPr>
        <p:spPr>
          <a:xfrm>
            <a:off x="7690231" y="5544538"/>
            <a:ext cx="1162812" cy="2406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Celkem</a:t>
            </a:r>
          </a:p>
        </p:txBody>
      </p:sp>
      <p:sp>
        <p:nvSpPr>
          <p:cNvPr id="23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Dárcovství v Česku v roce 2022</a:t>
            </a:r>
            <a:endParaRPr lang="cs-CZ" sz="3150"/>
          </a:p>
        </p:txBody>
      </p:sp>
      <p:sp>
        <p:nvSpPr>
          <p:cNvPr id="24" name="Text"/>
          <p:cNvSpPr txBox="1"/>
          <p:nvPr/>
        </p:nvSpPr>
        <p:spPr>
          <a:xfrm>
            <a:off x="722376" y="1600200"/>
            <a:ext cx="6492240" cy="4937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Proč lidé darují: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Morální povinnost 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- darování je správná věc.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Ego 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- cítím se dobře, jsem uznávaný.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Sociální dynamika 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- daruji, protože to dělají moji známí. Chci patřit do stejného klubu.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FOMO 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- strach, že o něco přijdeme.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Vlastní zkušenost 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 tématem.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Důvěra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v organizaci a její konání.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Dopad 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- dárce jasně vidí, jak jeho peníze pomohou.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Nastavení cílů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- dárce cítí, že cílů kampaně může být dosaženo právě kvůli jeho pomoci.</a:t>
            </a:r>
            <a:endParaRPr lang="cs-CZ" sz="1800"/>
          </a:p>
        </p:txBody>
      </p:sp>
    </p:spTree>
    <p:extLst>
      <p:ext uri="{BB962C8B-B14F-4D97-AF65-F5344CB8AC3E}">
        <p14:creationId xmlns:p14="http://schemas.microsoft.com/office/powerpoint/2010/main" val="167788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rkysová horní linka">
            <a:extLst>
              <a:ext uri="{FF2B5EF4-FFF2-40B4-BE49-F238E27FC236}">
                <a16:creationId xmlns:a16="http://schemas.microsoft.com/office/drawing/2014/main" id="{400F7E0E-D0B7-4018-9086-BE952F0ACF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6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7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8" name="Hlavní sdělení"/>
          <p:cNvSpPr txBox="1"/>
          <p:nvPr/>
        </p:nvSpPr>
        <p:spPr>
          <a:xfrm>
            <a:off x="722376" y="1783080"/>
            <a:ext cx="7223760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4000" b="1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Jak komunikovat autenticky, srozumitelně a přesvědčivě</a:t>
            </a:r>
            <a:endParaRPr lang="cs-CZ" sz="4000"/>
          </a:p>
        </p:txBody>
      </p:sp>
    </p:spTree>
    <p:extLst>
      <p:ext uri="{BB962C8B-B14F-4D97-AF65-F5344CB8AC3E}">
        <p14:creationId xmlns:p14="http://schemas.microsoft.com/office/powerpoint/2010/main" val="632941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73B8B321-1D5A-44C6-A613-1D157323C0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0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1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2" name="Hlavní sdělení"/>
          <p:cNvSpPr txBox="1"/>
          <p:nvPr/>
        </p:nvSpPr>
        <p:spPr>
          <a:xfrm>
            <a:off x="722376" y="1783080"/>
            <a:ext cx="7223760" cy="2682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4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Značka, archetypy značky, tonalita, persony a personalizovaný obsah pro komunikaci s dárci správnými komunikačními kanály v pravý čas.</a:t>
            </a:r>
            <a:endParaRPr lang="cs-CZ" sz="3400"/>
          </a:p>
        </p:txBody>
      </p:sp>
    </p:spTree>
    <p:extLst>
      <p:ext uri="{BB962C8B-B14F-4D97-AF65-F5344CB8AC3E}">
        <p14:creationId xmlns:p14="http://schemas.microsoft.com/office/powerpoint/2010/main" val="1207770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077B3853-FA0F-43C5-8892-F096F4E07E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Nadpis"/>
          <p:cNvSpPr txBox="1"/>
          <p:nvPr/>
        </p:nvSpPr>
        <p:spPr>
          <a:xfrm>
            <a:off x="723900" y="514350"/>
            <a:ext cx="329184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Program</a:t>
            </a:r>
            <a:endParaRPr lang="cs-CZ" sz="3150"/>
          </a:p>
        </p:txBody>
      </p:sp>
      <p:sp>
        <p:nvSpPr>
          <p:cNvPr id="26" name="Text"/>
          <p:cNvSpPr txBox="1"/>
          <p:nvPr/>
        </p:nvSpPr>
        <p:spPr>
          <a:xfrm>
            <a:off x="4343400" y="566928"/>
            <a:ext cx="7315200" cy="5989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9:30 – 9:45 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Uvítání, představení, očekávání</a:t>
            </a:r>
            <a:endParaRPr lang="cs-CZ" sz="1400"/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cs-CZ" sz="14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9:45 – 10:15</a:t>
            </a:r>
            <a:endParaRPr lang="cs-CZ" sz="1400"/>
          </a:p>
          <a:p>
            <a:pPr algn="l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 souvisí marketingové / fundraisingová strategie a strategie organizace Proč je </a:t>
            </a: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strategie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důležitá pro </a:t>
            </a: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komunikaci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s dárci? Zkušenosti s fundraisingovou strategií – co to je, jak u nás vypadá? Zkušenosti s marketingovou strategií - co to je, jak u nás vypadá?</a:t>
            </a:r>
            <a:endParaRPr lang="cs-CZ" sz="1400"/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cs-CZ" sz="14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10:15-12:00</a:t>
            </a:r>
            <a:endParaRPr lang="cs-CZ" sz="1400"/>
          </a:p>
          <a:p>
            <a:pPr algn="l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Ke komu mluvíme? </a:t>
            </a: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Personalizovaný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obsah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. Kde se to hodí? K čemu je to dobré? Tvorba person ve skupinách.</a:t>
            </a:r>
            <a:endParaRPr lang="cs-CZ" sz="1400"/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cs-CZ" sz="14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13:00 – 14:30</a:t>
            </a:r>
            <a:endParaRPr lang="cs-CZ" sz="1400"/>
          </a:p>
          <a:p>
            <a:pPr algn="l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 jaké pozice mluvíme? </a:t>
            </a: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Značka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organizace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. Co je to značka? Archetyp značky? Jaký je duch vaší značky? Jaká je podstata značky? Jak nám výběr archetypu pomůže v komunikaci s dárci? Jaký archetyp reprezentuje moji značku?</a:t>
            </a:r>
            <a:endParaRPr lang="cs-CZ" sz="1400"/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cs-CZ" sz="14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14:30 -15:15</a:t>
            </a:r>
            <a:endParaRPr lang="cs-CZ" sz="1400"/>
          </a:p>
          <a:p>
            <a:pPr algn="l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Value proposition. </a:t>
            </a: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Strategická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segmentace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dárců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. Segment – definice – akviziční cíl / strategie, zahřívací cíl / strategie – tranzitní cíl / strategie – value proposition. &amp; lean canavas &amp; dárcovské kontinuum &amp; marketingov model see-think-do-care &amp; marketing a obchod, KPIs, odpovědnosti</a:t>
            </a:r>
            <a:endParaRPr lang="cs-CZ" sz="1400"/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cs-CZ" sz="14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15:15 - 15:45</a:t>
            </a:r>
            <a:endParaRPr lang="cs-CZ" sz="1400"/>
          </a:p>
          <a:p>
            <a:pPr algn="l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Komunikační kanály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MKT Strategy Canvas Sociální sítě Offline Média</a:t>
            </a:r>
            <a:endParaRPr lang="cs-CZ" sz="1400"/>
          </a:p>
        </p:txBody>
      </p:sp>
    </p:spTree>
    <p:extLst>
      <p:ext uri="{BB962C8B-B14F-4D97-AF65-F5344CB8AC3E}">
        <p14:creationId xmlns:p14="http://schemas.microsoft.com/office/powerpoint/2010/main" val="1339089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F546E104-9F60-428E-9C11-C9C5A5F791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Pravidla a co budeme potřebovat</a:t>
            </a:r>
            <a:endParaRPr lang="cs-CZ" sz="3150"/>
          </a:p>
        </p:txBody>
      </p:sp>
      <p:sp>
        <p:nvSpPr>
          <p:cNvPr id="22" name="Text"/>
          <p:cNvSpPr txBox="1"/>
          <p:nvPr/>
        </p:nvSpPr>
        <p:spPr>
          <a:xfrm>
            <a:off x="722376" y="1737360"/>
            <a:ext cx="5120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0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Spolupráce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cs-CZ" sz="20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Participace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cs-CZ" sz="20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Sdílení zkušeností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Respekt k času ostatních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Nic není špatně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Tiády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Facilitace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Koučování</a:t>
            </a:r>
            <a:endParaRPr lang="cs-CZ" sz="2000"/>
          </a:p>
        </p:txBody>
      </p:sp>
      <p:sp>
        <p:nvSpPr>
          <p:cNvPr id="23" name="Text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Jazyk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cs-CZ" sz="20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Zdroje informací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4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Flipchart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4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Prezentace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4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Notebook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4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GPT chat, Claude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4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Ideomat.cz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1682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rkysová horní linka">
            <a:extLst>
              <a:ext uri="{FF2B5EF4-FFF2-40B4-BE49-F238E27FC236}">
                <a16:creationId xmlns:a16="http://schemas.microsoft.com/office/drawing/2014/main" id="{94A0A772-D0A4-4874-94D3-A07CB205BD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Strategie</a:t>
            </a:r>
            <a:endParaRPr lang="cs-CZ" sz="3150"/>
          </a:p>
        </p:txBody>
      </p:sp>
      <p:sp>
        <p:nvSpPr>
          <p:cNvPr id="9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 souvisí marketingové / fundraisingová strategie a strategie organizace. </a:t>
            </a: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Proč je strategie důležitá pro </a:t>
            </a: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komunikaci</a:t>
            </a: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s dárci?</a:t>
            </a:r>
            <a:endParaRPr lang="cs-CZ" sz="2200"/>
          </a:p>
          <a:p>
            <a:pPr algn="l" marL="0" indent="0">
              <a:lnSpc>
                <a:spcPct val="100000"/>
              </a:lnSpc>
              <a:spcBef>
                <a:spcPts val="1989"/>
              </a:spcBef>
              <a:buNone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Zkušenosti s fundraisingovou strategií – co to je, jak u nás vypadá? Zkušenosti s marketingovou strategií - co to je, jak u nás vypadá?</a:t>
            </a:r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639577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AD8E35FB-0B67-4EB4-93BE-3031A98AC0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5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6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7" name="Hlavní sdělení"/>
          <p:cNvSpPr txBox="1"/>
          <p:nvPr/>
        </p:nvSpPr>
        <p:spPr>
          <a:xfrm>
            <a:off x="722376" y="1783080"/>
            <a:ext cx="7223760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40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Skvělá služba </a:t>
            </a:r>
            <a:r>
              <a:rPr lang="cs-CZ" sz="4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je fajn, ale </a:t>
            </a:r>
            <a:r>
              <a:rPr lang="cs-CZ" sz="40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dary to nezaručí</a:t>
            </a:r>
            <a:r>
              <a:rPr lang="cs-CZ" sz="4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  <a:endParaRPr lang="cs-CZ" sz="4000"/>
          </a:p>
        </p:txBody>
      </p:sp>
    </p:spTree>
    <p:extLst>
      <p:ext uri="{BB962C8B-B14F-4D97-AF65-F5344CB8AC3E}">
        <p14:creationId xmlns:p14="http://schemas.microsoft.com/office/powerpoint/2010/main" val="2131808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yrkysová horní linka">
            <a:extLst>
              <a:ext uri="{FF2B5EF4-FFF2-40B4-BE49-F238E27FC236}">
                <a16:creationId xmlns:a16="http://schemas.microsoft.com/office/drawing/2014/main" id="{FAC61BFE-A4C9-4A3A-8420-4FCCC6D01D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Proč potřebujeme fundraisingovou strategii?</a:t>
            </a:r>
            <a:endParaRPr lang="cs-CZ" sz="3150"/>
          </a:p>
        </p:txBody>
      </p:sp>
      <p:sp>
        <p:nvSpPr>
          <p:cNvPr id="12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Fundraisingová strategie poskytuje </a:t>
            </a:r>
            <a:r>
              <a:rPr lang="cs-CZ" sz="2200" b="1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jasný směr a plán </a:t>
            </a:r>
            <a:r>
              <a:rPr lang="cs-CZ" sz="2200" b="0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– sladění v rámci firmy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Identifikaci </a:t>
            </a:r>
            <a:r>
              <a:rPr lang="cs-CZ" sz="2200" b="1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klíčových segmentů trhu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Způsob, jakým se produkt/služba dostává k zákazníkům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Nastavení „</a:t>
            </a:r>
            <a:r>
              <a:rPr lang="cs-CZ" sz="2200" b="1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cenové</a:t>
            </a:r>
            <a:r>
              <a:rPr lang="cs-CZ" sz="2200" b="0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“ politiky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Nastavení fundraisingových </a:t>
            </a:r>
            <a:r>
              <a:rPr lang="cs-CZ" sz="2200" b="1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procesů a nástrojů</a:t>
            </a:r>
            <a:endParaRPr lang="cs-CZ" sz="2200"/>
          </a:p>
          <a:p>
            <a:pPr algn="l" marL="0" indent="0">
              <a:lnSpc>
                <a:spcPct val="100000"/>
              </a:lnSpc>
              <a:spcBef>
                <a:spcPts val="1989"/>
              </a:spcBef>
              <a:buNone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Bez jasné strategie riskujeme plýtvání omezenými zdroji (peníze, čas, lidi).</a:t>
            </a:r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1776588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>
            <a:extLst>
              <a:ext uri="{FF2B5EF4-FFF2-40B4-BE49-F238E27FC236}">
                <a16:creationId xmlns:a16="http://schemas.microsoft.com/office/drawing/2014/main" id="{A6934FD7-92ED-4C0C-BCC0-A152A1AB7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1125029"/>
            <a:ext cx="10096500" cy="5674741"/>
          </a:xfrm>
          <a:prstGeom prst="rect">
            <a:avLst/>
          </a:prstGeom>
        </p:spPr>
      </p:pic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D4509538-9C58-4323-8A82-0B82E6AEF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BC181B1B-628B-4A8A-A28A-53F0259C5B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strana 11, řádek 1">
            <a:extLst>
              <a:ext uri="{FF2B5EF4-FFF2-40B4-BE49-F238E27FC236}">
                <a16:creationId xmlns:a16="http://schemas.microsoft.com/office/drawing/2014/main" id="{1FB0E504-9C23-48E1-8757-B77E7346DED6}"/>
              </a:ext>
            </a:extLst>
          </p:cNvPr>
          <p:cNvSpPr>
            <a:spLocks noGrp="1"/>
          </p:cNvSpPr>
          <p:nvPr/>
        </p:nvSpPr>
        <p:spPr>
          <a:xfrm>
            <a:off x="8904351" y="6075997"/>
            <a:ext cx="794352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Fundraising</a:t>
            </a:r>
          </a:p>
        </p:txBody>
      </p:sp>
      <p:sp>
        <p:nvSpPr>
          <p:cNvPr id="6" name="Text strana 11, řádek 2">
            <a:extLst>
              <a:ext uri="{FF2B5EF4-FFF2-40B4-BE49-F238E27FC236}">
                <a16:creationId xmlns:a16="http://schemas.microsoft.com/office/drawing/2014/main" id="{659B3540-CF27-4B9B-8A24-2280787B95FE}"/>
              </a:ext>
            </a:extLst>
          </p:cNvPr>
          <p:cNvSpPr>
            <a:spLocks noGrp="1"/>
          </p:cNvSpPr>
          <p:nvPr/>
        </p:nvSpPr>
        <p:spPr>
          <a:xfrm>
            <a:off x="9773539" y="6075997"/>
            <a:ext cx="730343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7" name="Text strana 11, řádek 3">
            <a:extLst>
              <a:ext uri="{FF2B5EF4-FFF2-40B4-BE49-F238E27FC236}">
                <a16:creationId xmlns:a16="http://schemas.microsoft.com/office/drawing/2014/main" id="{2F962D40-EE65-42ED-AB88-0C4F07C78D5C}"/>
              </a:ext>
            </a:extLst>
          </p:cNvPr>
          <p:cNvSpPr>
            <a:spLocks noGrp="1"/>
          </p:cNvSpPr>
          <p:nvPr/>
        </p:nvSpPr>
        <p:spPr>
          <a:xfrm>
            <a:off x="10568559" y="6075997"/>
            <a:ext cx="829811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Komunikace</a:t>
            </a:r>
          </a:p>
        </p:txBody>
      </p:sp>
      <p:sp>
        <p:nvSpPr>
          <p:cNvPr id="8" name="Text strana 11, řádek 4">
            <a:extLst>
              <a:ext uri="{FF2B5EF4-FFF2-40B4-BE49-F238E27FC236}">
                <a16:creationId xmlns:a16="http://schemas.microsoft.com/office/drawing/2014/main" id="{913A2D5F-76B2-4275-A838-6EB66303FF9C}"/>
              </a:ext>
            </a:extLst>
          </p:cNvPr>
          <p:cNvSpPr>
            <a:spLocks noGrp="1"/>
          </p:cNvSpPr>
          <p:nvPr/>
        </p:nvSpPr>
        <p:spPr>
          <a:xfrm>
            <a:off x="11510645" y="6075997"/>
            <a:ext cx="600534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Obchod</a:t>
            </a:r>
          </a:p>
        </p:txBody>
      </p:sp>
      <p:sp>
        <p:nvSpPr>
          <p:cNvPr id="10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Organizace</a:t>
            </a:r>
            <a:endParaRPr lang="cs-CZ" sz="3150"/>
          </a:p>
        </p:txBody>
      </p:sp>
    </p:spTree>
    <p:extLst>
      <p:ext uri="{BB962C8B-B14F-4D97-AF65-F5344CB8AC3E}">
        <p14:creationId xmlns:p14="http://schemas.microsoft.com/office/powerpoint/2010/main" val="1036715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BED41A22-14A3-4A99-9F2F-6E10DF87A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4173"/>
            <a:ext cx="12192000" cy="5372330"/>
          </a:xfrm>
          <a:prstGeom prst="rect">
            <a:avLst/>
          </a:prstGeom>
        </p:spPr>
      </p:pic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36A96BDE-2A2C-4DC3-BC10-F7DB19DE15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445BA95F-02D1-4699-A504-59A91D53D4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4331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yrkysová horní linka">
            <a:extLst>
              <a:ext uri="{FF2B5EF4-FFF2-40B4-BE49-F238E27FC236}">
                <a16:creationId xmlns:a16="http://schemas.microsoft.com/office/drawing/2014/main" id="{AE4465F0-C279-4CFB-85D8-D394CACC12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Kdo fundraisingovou strategii vytváří?</a:t>
            </a:r>
            <a:endParaRPr lang="cs-CZ" sz="3150"/>
          </a:p>
        </p:txBody>
      </p:sp>
      <p:sp>
        <p:nvSpPr>
          <p:cNvPr id="12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Zakladatel - CEO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Obchodní ředitel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Externí konzultant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1989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Při její tvorbě často spolupracují i další klíčoví lidé, jako</a:t>
            </a:r>
            <a:endParaRPr lang="cs-CZ" sz="2200"/>
          </a:p>
          <a:p>
            <a:pPr algn="l" marL="6286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Produktový manažer</a:t>
            </a:r>
            <a:endParaRPr lang="cs-CZ" sz="2000"/>
          </a:p>
          <a:p>
            <a:pPr algn="l" marL="6286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Marketingový specialista</a:t>
            </a:r>
            <a:endParaRPr lang="cs-CZ" sz="2000"/>
          </a:p>
          <a:p>
            <a:pPr algn="l" marL="6286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Klíčoví kolegové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924169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yrkysová horní linka">
            <a:extLst>
              <a:ext uri="{FF2B5EF4-FFF2-40B4-BE49-F238E27FC236}">
                <a16:creationId xmlns:a16="http://schemas.microsoft.com/office/drawing/2014/main" id="{F24A7C24-EDCF-430E-ACF8-7EDDB45553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Co si připravit dopředu?</a:t>
            </a:r>
            <a:endParaRPr lang="cs-CZ" sz="3150"/>
          </a:p>
        </p:txBody>
      </p:sp>
      <p:sp>
        <p:nvSpPr>
          <p:cNvPr id="13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Vizi a strategii 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organizace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Jasná </a:t>
            </a: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definice produktu / služby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Základní </a:t>
            </a: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informace o trhu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, konkurenci, potřebách zákazníků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Kdo je </a:t>
            </a: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ideální cílová skupina 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(ICP - ideal customer profile)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Jaká je </a:t>
            </a: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přidaná hodnota pro zákazníka 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(Value Proposition)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Čím se lišíme od konkurence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?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Kolik lidí bude dělat fundraising? Jaké máme </a:t>
            </a: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zdroje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? (lidé, finance, čas,..)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 budeme měřit úspěch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? (tržby, počet zákazníků, MRR,…)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848042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55AF7EFA-7384-468D-B512-D83DE328F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" y="2552700"/>
            <a:ext cx="7162800" cy="4305300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D301EDC7-8E8D-4AD4-81FD-1B53D3D1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810625" y="3086100"/>
            <a:ext cx="2200275" cy="495300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B3B95B0B-5572-4D51-B410-771FADAFB9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strana 15, řádek 2">
            <a:extLst>
              <a:ext uri="{FF2B5EF4-FFF2-40B4-BE49-F238E27FC236}">
                <a16:creationId xmlns:a16="http://schemas.microsoft.com/office/drawing/2014/main" id="{AA20AB64-F57C-4FDA-8D5B-5ABA793C730C}"/>
              </a:ext>
            </a:extLst>
          </p:cNvPr>
          <p:cNvSpPr>
            <a:spLocks noGrp="1"/>
          </p:cNvSpPr>
          <p:nvPr/>
        </p:nvSpPr>
        <p:spPr>
          <a:xfrm>
            <a:off x="8758809" y="4194318"/>
            <a:ext cx="1551299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1. Zaměření</a:t>
            </a:r>
          </a:p>
        </p:txBody>
      </p:sp>
      <p:sp>
        <p:nvSpPr>
          <p:cNvPr id="6" name="Text strana 15, řádek 3">
            <a:extLst>
              <a:ext uri="{FF2B5EF4-FFF2-40B4-BE49-F238E27FC236}">
                <a16:creationId xmlns:a16="http://schemas.microsoft.com/office/drawing/2014/main" id="{2963702A-E1C5-41A2-B14C-6342532EBBDC}"/>
              </a:ext>
            </a:extLst>
          </p:cNvPr>
          <p:cNvSpPr>
            <a:spLocks noGrp="1"/>
          </p:cNvSpPr>
          <p:nvPr/>
        </p:nvSpPr>
        <p:spPr>
          <a:xfrm>
            <a:off x="8758809" y="4470797"/>
            <a:ext cx="1298757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2. Hrozby</a:t>
            </a:r>
          </a:p>
        </p:txBody>
      </p:sp>
      <p:sp>
        <p:nvSpPr>
          <p:cNvPr id="7" name="Text strana 15, řádek 4">
            <a:extLst>
              <a:ext uri="{FF2B5EF4-FFF2-40B4-BE49-F238E27FC236}">
                <a16:creationId xmlns:a16="http://schemas.microsoft.com/office/drawing/2014/main" id="{A6C45FDD-D51A-4ABE-88B6-A66BF43831F5}"/>
              </a:ext>
            </a:extLst>
          </p:cNvPr>
          <p:cNvSpPr>
            <a:spLocks noGrp="1"/>
          </p:cNvSpPr>
          <p:nvPr/>
        </p:nvSpPr>
        <p:spPr>
          <a:xfrm>
            <a:off x="8758809" y="4747276"/>
            <a:ext cx="2162782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3. Unikátní pozice</a:t>
            </a:r>
          </a:p>
        </p:txBody>
      </p:sp>
      <p:sp>
        <p:nvSpPr>
          <p:cNvPr id="9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Status quo a cíle</a:t>
            </a:r>
            <a:endParaRPr lang="cs-CZ" sz="3150"/>
          </a:p>
        </p:txBody>
      </p:sp>
    </p:spTree>
    <p:extLst>
      <p:ext uri="{BB962C8B-B14F-4D97-AF65-F5344CB8AC3E}">
        <p14:creationId xmlns:p14="http://schemas.microsoft.com/office/powerpoint/2010/main" val="712524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rkysová horní linka">
            <a:extLst>
              <a:ext uri="{FF2B5EF4-FFF2-40B4-BE49-F238E27FC236}">
                <a16:creationId xmlns:a16="http://schemas.microsoft.com/office/drawing/2014/main" id="{0E2747D4-865F-45BF-9C2E-B7F9708851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Strategie fundraisingu dle dárců</a:t>
            </a:r>
            <a:endParaRPr lang="cs-CZ" sz="3150"/>
          </a:p>
        </p:txBody>
      </p:sp>
      <p:sp>
        <p:nvSpPr>
          <p:cNvPr id="9" name="Karta 1"/>
          <p:cNvSpPr txBox="1"/>
          <p:nvPr/>
        </p:nvSpPr>
        <p:spPr>
          <a:xfrm>
            <a:off x="722376" y="1920240"/>
            <a:ext cx="5234940" cy="1828800"/>
          </a:xfrm>
          <a:prstGeom prst="roundRect">
            <a:avLst>
              <a:gd name="adj" fmla="val 8000"/>
            </a:avLst>
          </a:prstGeom>
          <a:solidFill>
            <a:srgbClr val="E3F1F1"/>
          </a:solidFill>
          <a:ln>
            <a:noFill/>
          </a:ln>
        </p:spPr>
        <p:txBody>
          <a:bodyPr wrap="square" lIns="228600" tIns="137160" rIns="228600" bIns="13716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1. Velcí dárci</a:t>
            </a:r>
            <a:endParaRPr lang="cs-CZ" sz="2400"/>
          </a:p>
        </p:txBody>
      </p:sp>
      <p:sp>
        <p:nvSpPr>
          <p:cNvPr id="10" name="Karta 2"/>
          <p:cNvSpPr txBox="1"/>
          <p:nvPr/>
        </p:nvSpPr>
        <p:spPr>
          <a:xfrm>
            <a:off x="6231636" y="1920240"/>
            <a:ext cx="5234940" cy="1828800"/>
          </a:xfrm>
          <a:prstGeom prst="roundRect">
            <a:avLst>
              <a:gd name="adj" fmla="val 8000"/>
            </a:avLst>
          </a:prstGeom>
          <a:solidFill>
            <a:srgbClr val="E3F1F1"/>
          </a:solidFill>
          <a:ln>
            <a:noFill/>
          </a:ln>
        </p:spPr>
        <p:txBody>
          <a:bodyPr wrap="square" lIns="228600" tIns="137160" rIns="228600" bIns="13716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2.</a:t>
            </a: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Firemní dárci</a:t>
            </a:r>
            <a:endParaRPr lang="cs-CZ" sz="2400"/>
          </a:p>
        </p:txBody>
      </p:sp>
      <p:sp>
        <p:nvSpPr>
          <p:cNvPr id="11" name="Karta 3"/>
          <p:cNvSpPr txBox="1"/>
          <p:nvPr/>
        </p:nvSpPr>
        <p:spPr>
          <a:xfrm>
            <a:off x="722376" y="4023360"/>
            <a:ext cx="5234940" cy="1828800"/>
          </a:xfrm>
          <a:prstGeom prst="roundRect">
            <a:avLst>
              <a:gd name="adj" fmla="val 8000"/>
            </a:avLst>
          </a:prstGeom>
          <a:solidFill>
            <a:srgbClr val="E3F1F1"/>
          </a:solidFill>
          <a:ln>
            <a:noFill/>
          </a:ln>
        </p:spPr>
        <p:txBody>
          <a:bodyPr wrap="square" lIns="228600" tIns="137160" rIns="228600" bIns="13716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3. Drobní dárci</a:t>
            </a:r>
            <a:endParaRPr lang="cs-CZ" sz="2400"/>
          </a:p>
        </p:txBody>
      </p:sp>
      <p:sp>
        <p:nvSpPr>
          <p:cNvPr id="12" name="Karta 4"/>
          <p:cNvSpPr txBox="1"/>
          <p:nvPr/>
        </p:nvSpPr>
        <p:spPr>
          <a:xfrm>
            <a:off x="6231636" y="4023360"/>
            <a:ext cx="5234940" cy="1828800"/>
          </a:xfrm>
          <a:prstGeom prst="roundRect">
            <a:avLst>
              <a:gd name="adj" fmla="val 8000"/>
            </a:avLst>
          </a:prstGeom>
          <a:solidFill>
            <a:srgbClr val="E3F1F1"/>
          </a:solidFill>
          <a:ln>
            <a:noFill/>
          </a:ln>
        </p:spPr>
        <p:txBody>
          <a:bodyPr wrap="square" lIns="228600" tIns="137160" rIns="228600" bIns="13716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4. Mezinárodní nadace a granty</a:t>
            </a:r>
            <a:endParaRPr lang="cs-CZ" sz="2400"/>
          </a:p>
        </p:txBody>
      </p:sp>
    </p:spTree>
    <p:extLst>
      <p:ext uri="{BB962C8B-B14F-4D97-AF65-F5344CB8AC3E}">
        <p14:creationId xmlns:p14="http://schemas.microsoft.com/office/powerpoint/2010/main" val="2020480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Obrázek 24">
            <a:extLst>
              <a:ext uri="{FF2B5EF4-FFF2-40B4-BE49-F238E27FC236}">
                <a16:creationId xmlns:a16="http://schemas.microsoft.com/office/drawing/2014/main" id="{9A45719C-2AA7-4A5E-8F6B-D613F9B9D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49077" y="4648198"/>
            <a:ext cx="2218895" cy="2209802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D0361968-E1E2-48E7-93AB-BAD19345A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401175" y="390525"/>
            <a:ext cx="2200275" cy="495300"/>
          </a:xfrm>
          <a:prstGeom prst="rect">
            <a:avLst/>
          </a:prstGeom>
        </p:spPr>
      </p:pic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821BC949-C696-4FE6-BA41-958410202C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yrkysová horní linka">
            <a:extLst>
              <a:ext uri="{FF2B5EF4-FFF2-40B4-BE49-F238E27FC236}">
                <a16:creationId xmlns:a16="http://schemas.microsoft.com/office/drawing/2014/main" id="{DAE1A4DB-7720-40EC-862F-0C544178C9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strana 17, řádek 1">
            <a:extLst>
              <a:ext uri="{FF2B5EF4-FFF2-40B4-BE49-F238E27FC236}">
                <a16:creationId xmlns:a16="http://schemas.microsoft.com/office/drawing/2014/main" id="{E4051388-6073-4EF8-ACDE-D6BFA7594DF0}"/>
              </a:ext>
            </a:extLst>
          </p:cNvPr>
          <p:cNvSpPr>
            <a:spLocks noGrp="1"/>
          </p:cNvSpPr>
          <p:nvPr/>
        </p:nvSpPr>
        <p:spPr>
          <a:xfrm>
            <a:off x="11715750" y="6389088"/>
            <a:ext cx="433449" cy="240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Text strana 17, řádek 4">
            <a:extLst>
              <a:ext uri="{FF2B5EF4-FFF2-40B4-BE49-F238E27FC236}">
                <a16:creationId xmlns:a16="http://schemas.microsoft.com/office/drawing/2014/main" id="{53D84810-AB60-4426-9E16-3A8F9B3308CD}"/>
              </a:ext>
            </a:extLst>
          </p:cNvPr>
          <p:cNvSpPr>
            <a:spLocks noGrp="1"/>
          </p:cNvSpPr>
          <p:nvPr/>
        </p:nvSpPr>
        <p:spPr>
          <a:xfrm>
            <a:off x="1209675" y="2657394"/>
            <a:ext cx="2759586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pPr>
            <a:r>
              <a:rPr sz="1420" b="1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200+</a:t>
            </a:r>
            <a:r>
              <a:rPr sz="1420" b="0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 VELKÝCH DÁRCŮ </a:t>
            </a:r>
          </a:p>
        </p:txBody>
      </p:sp>
      <p:sp>
        <p:nvSpPr>
          <p:cNvPr id="9" name="Text strana 17, řádek 5">
            <a:extLst>
              <a:ext uri="{FF2B5EF4-FFF2-40B4-BE49-F238E27FC236}">
                <a16:creationId xmlns:a16="http://schemas.microsoft.com/office/drawing/2014/main" id="{05F13AF2-502B-4CE8-989F-DDCEDD1EBDFD}"/>
              </a:ext>
            </a:extLst>
          </p:cNvPr>
          <p:cNvSpPr>
            <a:spLocks noGrp="1"/>
          </p:cNvSpPr>
          <p:nvPr/>
        </p:nvSpPr>
        <p:spPr>
          <a:xfrm>
            <a:off x="1413129" y="2943525"/>
            <a:ext cx="1841415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NAD 50 TIS.KČ </a:t>
            </a:r>
          </a:p>
        </p:txBody>
      </p:sp>
      <p:sp>
        <p:nvSpPr>
          <p:cNvPr id="10" name="Text strana 17, řádek 6">
            <a:extLst>
              <a:ext uri="{FF2B5EF4-FFF2-40B4-BE49-F238E27FC236}">
                <a16:creationId xmlns:a16="http://schemas.microsoft.com/office/drawing/2014/main" id="{7B3322AD-3522-4234-B0EE-B8993D99F03E}"/>
              </a:ext>
            </a:extLst>
          </p:cNvPr>
          <p:cNvSpPr>
            <a:spLocks noGrp="1"/>
          </p:cNvSpPr>
          <p:nvPr/>
        </p:nvSpPr>
        <p:spPr>
          <a:xfrm>
            <a:off x="1870710" y="3220131"/>
            <a:ext cx="252879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1" name="Text strana 17, řádek 7">
            <a:extLst>
              <a:ext uri="{FF2B5EF4-FFF2-40B4-BE49-F238E27FC236}">
                <a16:creationId xmlns:a16="http://schemas.microsoft.com/office/drawing/2014/main" id="{49848071-557A-4DB5-AF68-17F683DFC088}"/>
              </a:ext>
            </a:extLst>
          </p:cNvPr>
          <p:cNvSpPr>
            <a:spLocks noGrp="1"/>
          </p:cNvSpPr>
          <p:nvPr/>
        </p:nvSpPr>
        <p:spPr>
          <a:xfrm>
            <a:off x="4249420" y="2657394"/>
            <a:ext cx="3250493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pPr>
            <a:r>
              <a:rPr sz="1420" b="1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20+ </a:t>
            </a:r>
            <a:r>
              <a:rPr sz="1420" b="0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FIREMNÍCH PARTNERŮ </a:t>
            </a:r>
          </a:p>
        </p:txBody>
      </p:sp>
      <p:sp>
        <p:nvSpPr>
          <p:cNvPr id="12" name="Text strana 17, řádek 8">
            <a:extLst>
              <a:ext uri="{FF2B5EF4-FFF2-40B4-BE49-F238E27FC236}">
                <a16:creationId xmlns:a16="http://schemas.microsoft.com/office/drawing/2014/main" id="{C1FE6B0B-0756-418C-B7FB-66577DF92FC0}"/>
              </a:ext>
            </a:extLst>
          </p:cNvPr>
          <p:cNvSpPr>
            <a:spLocks noGrp="1"/>
          </p:cNvSpPr>
          <p:nvPr/>
        </p:nvSpPr>
        <p:spPr>
          <a:xfrm>
            <a:off x="4217670" y="2943525"/>
            <a:ext cx="2031589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NAD 500 TIS. KČ </a:t>
            </a:r>
          </a:p>
        </p:txBody>
      </p:sp>
      <p:sp>
        <p:nvSpPr>
          <p:cNvPr id="13" name="Text strana 17, řádek 9">
            <a:extLst>
              <a:ext uri="{FF2B5EF4-FFF2-40B4-BE49-F238E27FC236}">
                <a16:creationId xmlns:a16="http://schemas.microsoft.com/office/drawing/2014/main" id="{C3535A19-2E23-4CFB-92A9-98082CD27ABA}"/>
              </a:ext>
            </a:extLst>
          </p:cNvPr>
          <p:cNvSpPr>
            <a:spLocks noGrp="1"/>
          </p:cNvSpPr>
          <p:nvPr/>
        </p:nvSpPr>
        <p:spPr>
          <a:xfrm>
            <a:off x="6047740" y="2943525"/>
            <a:ext cx="252878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4" name="Text strana 17, řádek 10">
            <a:extLst>
              <a:ext uri="{FF2B5EF4-FFF2-40B4-BE49-F238E27FC236}">
                <a16:creationId xmlns:a16="http://schemas.microsoft.com/office/drawing/2014/main" id="{74357B8A-800C-476B-8412-60E5B6215B26}"/>
              </a:ext>
            </a:extLst>
          </p:cNvPr>
          <p:cNvSpPr>
            <a:spLocks noGrp="1"/>
          </p:cNvSpPr>
          <p:nvPr/>
        </p:nvSpPr>
        <p:spPr>
          <a:xfrm>
            <a:off x="1234123" y="4456095"/>
            <a:ext cx="2707603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pPr>
            <a:r>
              <a:rPr sz="1420" b="1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1000+</a:t>
            </a:r>
            <a:r>
              <a:rPr sz="1420" b="0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 PRAVIDELNÝCH </a:t>
            </a:r>
          </a:p>
        </p:txBody>
      </p:sp>
      <p:sp>
        <p:nvSpPr>
          <p:cNvPr id="15" name="Text strana 17, řádek 11">
            <a:extLst>
              <a:ext uri="{FF2B5EF4-FFF2-40B4-BE49-F238E27FC236}">
                <a16:creationId xmlns:a16="http://schemas.microsoft.com/office/drawing/2014/main" id="{AB1CA87A-2400-4047-AAF9-C98C63522AB0}"/>
              </a:ext>
            </a:extLst>
          </p:cNvPr>
          <p:cNvSpPr>
            <a:spLocks noGrp="1"/>
          </p:cNvSpPr>
          <p:nvPr/>
        </p:nvSpPr>
        <p:spPr>
          <a:xfrm>
            <a:off x="1359916" y="4742226"/>
            <a:ext cx="2361187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DROBNÝCH DÁRCŮ</a:t>
            </a:r>
          </a:p>
        </p:txBody>
      </p:sp>
      <p:sp>
        <p:nvSpPr>
          <p:cNvPr id="16" name="Text strana 17, řádek 12">
            <a:extLst>
              <a:ext uri="{FF2B5EF4-FFF2-40B4-BE49-F238E27FC236}">
                <a16:creationId xmlns:a16="http://schemas.microsoft.com/office/drawing/2014/main" id="{7D8222B9-4F87-4B33-90FE-29DFF6615EE9}"/>
              </a:ext>
            </a:extLst>
          </p:cNvPr>
          <p:cNvSpPr>
            <a:spLocks noGrp="1"/>
          </p:cNvSpPr>
          <p:nvPr/>
        </p:nvSpPr>
        <p:spPr>
          <a:xfrm>
            <a:off x="4156329" y="4406565"/>
            <a:ext cx="3466496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EFEKTIVNÍ, PROFESIONÁLNÍ, </a:t>
            </a:r>
          </a:p>
        </p:txBody>
      </p:sp>
      <p:sp>
        <p:nvSpPr>
          <p:cNvPr id="17" name="Text strana 17, řádek 13">
            <a:extLst>
              <a:ext uri="{FF2B5EF4-FFF2-40B4-BE49-F238E27FC236}">
                <a16:creationId xmlns:a16="http://schemas.microsoft.com/office/drawing/2014/main" id="{89906CE1-4C3E-49FE-9469-5000024AB4C0}"/>
              </a:ext>
            </a:extLst>
          </p:cNvPr>
          <p:cNvSpPr>
            <a:spLocks noGrp="1"/>
          </p:cNvSpPr>
          <p:nvPr/>
        </p:nvSpPr>
        <p:spPr>
          <a:xfrm>
            <a:off x="4486910" y="4692569"/>
            <a:ext cx="2724910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68F92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MOTIVOVANÝ, FR TÝM </a:t>
            </a:r>
          </a:p>
        </p:txBody>
      </p:sp>
      <p:sp>
        <p:nvSpPr>
          <p:cNvPr id="18" name="Text strana 17, řádek 14">
            <a:extLst>
              <a:ext uri="{FF2B5EF4-FFF2-40B4-BE49-F238E27FC236}">
                <a16:creationId xmlns:a16="http://schemas.microsoft.com/office/drawing/2014/main" id="{04674F26-3D44-4231-9D9A-F655B3826533}"/>
              </a:ext>
            </a:extLst>
          </p:cNvPr>
          <p:cNvSpPr>
            <a:spLocks noGrp="1"/>
          </p:cNvSpPr>
          <p:nvPr/>
        </p:nvSpPr>
        <p:spPr>
          <a:xfrm>
            <a:off x="4675251" y="4969175"/>
            <a:ext cx="252878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9" name="Text strana 17, řádek 15">
            <a:extLst>
              <a:ext uri="{FF2B5EF4-FFF2-40B4-BE49-F238E27FC236}">
                <a16:creationId xmlns:a16="http://schemas.microsoft.com/office/drawing/2014/main" id="{422696A5-B5FC-4F09-BFD6-B4DAFE93EC2A}"/>
              </a:ext>
            </a:extLst>
          </p:cNvPr>
          <p:cNvSpPr>
            <a:spLocks noGrp="1"/>
          </p:cNvSpPr>
          <p:nvPr/>
        </p:nvSpPr>
        <p:spPr>
          <a:xfrm>
            <a:off x="5590159" y="4969175"/>
            <a:ext cx="252878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20" name="Text strana 17, řádek 16">
            <a:extLst>
              <a:ext uri="{FF2B5EF4-FFF2-40B4-BE49-F238E27FC236}">
                <a16:creationId xmlns:a16="http://schemas.microsoft.com/office/drawing/2014/main" id="{6C759741-540E-4A2A-A615-02DAFB179767}"/>
              </a:ext>
            </a:extLst>
          </p:cNvPr>
          <p:cNvSpPr>
            <a:spLocks noGrp="1"/>
          </p:cNvSpPr>
          <p:nvPr/>
        </p:nvSpPr>
        <p:spPr>
          <a:xfrm>
            <a:off x="1782826" y="3594834"/>
            <a:ext cx="1254220" cy="2406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(nyní 60)</a:t>
            </a:r>
          </a:p>
        </p:txBody>
      </p:sp>
      <p:sp>
        <p:nvSpPr>
          <p:cNvPr id="21" name="Text strana 17, řádek 17">
            <a:extLst>
              <a:ext uri="{FF2B5EF4-FFF2-40B4-BE49-F238E27FC236}">
                <a16:creationId xmlns:a16="http://schemas.microsoft.com/office/drawing/2014/main" id="{37A11B33-DEB2-4F2A-840A-E07FEAA522BE}"/>
              </a:ext>
            </a:extLst>
          </p:cNvPr>
          <p:cNvSpPr>
            <a:spLocks noGrp="1"/>
          </p:cNvSpPr>
          <p:nvPr/>
        </p:nvSpPr>
        <p:spPr>
          <a:xfrm>
            <a:off x="4022725" y="3517898"/>
            <a:ext cx="3917738" cy="2197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(nyní 8: Strabag, Iveco, Škoda, KB, </a:t>
            </a:r>
          </a:p>
        </p:txBody>
      </p:sp>
      <p:sp>
        <p:nvSpPr>
          <p:cNvPr id="22" name="Text strana 17, řádek 18">
            <a:extLst>
              <a:ext uri="{FF2B5EF4-FFF2-40B4-BE49-F238E27FC236}">
                <a16:creationId xmlns:a16="http://schemas.microsoft.com/office/drawing/2014/main" id="{A9402AB1-AB3A-4A1D-8340-4C4F60E8EAE1}"/>
              </a:ext>
            </a:extLst>
          </p:cNvPr>
          <p:cNvSpPr>
            <a:spLocks noGrp="1"/>
          </p:cNvSpPr>
          <p:nvPr/>
        </p:nvSpPr>
        <p:spPr>
          <a:xfrm>
            <a:off x="4022725" y="3794758"/>
            <a:ext cx="3858050" cy="2197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Nestle, Amrest, Kofola, Curaprox )</a:t>
            </a:r>
          </a:p>
        </p:txBody>
      </p:sp>
      <p:sp>
        <p:nvSpPr>
          <p:cNvPr id="23" name="Text strana 17, řádek 19">
            <a:extLst>
              <a:ext uri="{FF2B5EF4-FFF2-40B4-BE49-F238E27FC236}">
                <a16:creationId xmlns:a16="http://schemas.microsoft.com/office/drawing/2014/main" id="{330FD033-7283-45A9-9379-9191AF4D1BF1}"/>
              </a:ext>
            </a:extLst>
          </p:cNvPr>
          <p:cNvSpPr>
            <a:spLocks noGrp="1"/>
          </p:cNvSpPr>
          <p:nvPr/>
        </p:nvSpPr>
        <p:spPr>
          <a:xfrm>
            <a:off x="4413250" y="5367119"/>
            <a:ext cx="2428761" cy="2406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(2 noví fundraiseři)</a:t>
            </a:r>
          </a:p>
        </p:txBody>
      </p:sp>
      <p:sp>
        <p:nvSpPr>
          <p:cNvPr id="24" name="Text strana 17, řádek 20">
            <a:extLst>
              <a:ext uri="{FF2B5EF4-FFF2-40B4-BE49-F238E27FC236}">
                <a16:creationId xmlns:a16="http://schemas.microsoft.com/office/drawing/2014/main" id="{692C50E6-37A2-4FC7-976A-CE9289054B60}"/>
              </a:ext>
            </a:extLst>
          </p:cNvPr>
          <p:cNvSpPr>
            <a:spLocks noGrp="1"/>
          </p:cNvSpPr>
          <p:nvPr/>
        </p:nvSpPr>
        <p:spPr>
          <a:xfrm>
            <a:off x="1782826" y="5367119"/>
            <a:ext cx="1249953" cy="2406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(nyní 112)</a:t>
            </a:r>
          </a:p>
        </p:txBody>
      </p:sp>
      <p:sp>
        <p:nvSpPr>
          <p:cNvPr id="26" name="Nadpis"/>
          <p:cNvSpPr txBox="1"/>
          <p:nvPr/>
        </p:nvSpPr>
        <p:spPr>
          <a:xfrm>
            <a:off x="723900" y="514350"/>
            <a:ext cx="841248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Strategické cíle fundraisingu</a:t>
            </a:r>
            <a:endParaRPr lang="cs-CZ" sz="3150"/>
          </a:p>
        </p:txBody>
      </p:sp>
      <p:sp>
        <p:nvSpPr>
          <p:cNvPr id="27" name="Podnadpis"/>
          <p:cNvSpPr txBox="1"/>
          <p:nvPr/>
        </p:nvSpPr>
        <p:spPr>
          <a:xfrm>
            <a:off x="742950" y="12344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725" b="0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pro roky 2025–2028</a:t>
            </a:r>
            <a:endParaRPr lang="cs-CZ" sz="1725"/>
          </a:p>
        </p:txBody>
      </p:sp>
    </p:spTree>
    <p:extLst>
      <p:ext uri="{BB962C8B-B14F-4D97-AF65-F5344CB8AC3E}">
        <p14:creationId xmlns:p14="http://schemas.microsoft.com/office/powerpoint/2010/main" val="678852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5ECA5CE3-0DF6-4100-8B71-CC5FFE7BEA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Ke komu mluvíme?</a:t>
            </a:r>
            <a:endParaRPr lang="cs-CZ" sz="3150"/>
          </a:p>
        </p:txBody>
      </p:sp>
      <p:sp>
        <p:nvSpPr>
          <p:cNvPr id="10" name="Text"/>
          <p:cNvSpPr txBox="1"/>
          <p:nvPr/>
        </p:nvSpPr>
        <p:spPr>
          <a:xfrm>
            <a:off x="722376" y="182880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8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Kdo je náš zákazník?</a:t>
            </a:r>
            <a:endParaRPr lang="cs-CZ" sz="2800"/>
          </a:p>
          <a:p>
            <a:pPr algn="l" marL="0" indent="0">
              <a:lnSpc>
                <a:spcPct val="100000"/>
              </a:lnSpc>
              <a:spcBef>
                <a:spcPts val="1260"/>
              </a:spcBef>
              <a:buNone/>
            </a:pPr>
            <a:r>
              <a:rPr lang="cs-CZ" sz="2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1. Klienti</a:t>
            </a:r>
            <a:endParaRPr lang="cs-CZ" sz="2800"/>
          </a:p>
          <a:p>
            <a:pPr algn="l" marL="0" indent="0">
              <a:lnSpc>
                <a:spcPct val="100000"/>
              </a:lnSpc>
              <a:spcBef>
                <a:spcPts val="1260"/>
              </a:spcBef>
              <a:buNone/>
            </a:pPr>
            <a:r>
              <a:rPr lang="cs-CZ" sz="2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2. Dárci</a:t>
            </a:r>
            <a:endParaRPr lang="cs-CZ" sz="2800"/>
          </a:p>
          <a:p>
            <a:pPr algn="l" marL="0" indent="0">
              <a:lnSpc>
                <a:spcPct val="100000"/>
              </a:lnSpc>
              <a:spcBef>
                <a:spcPts val="1260"/>
              </a:spcBef>
              <a:buNone/>
            </a:pPr>
            <a:r>
              <a:rPr lang="cs-CZ" sz="2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3. …</a:t>
            </a:r>
            <a:endParaRPr lang="cs-CZ" sz="2800"/>
          </a:p>
        </p:txBody>
      </p:sp>
    </p:spTree>
    <p:extLst>
      <p:ext uri="{BB962C8B-B14F-4D97-AF65-F5344CB8AC3E}">
        <p14:creationId xmlns:p14="http://schemas.microsoft.com/office/powerpoint/2010/main" val="312236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rkysová horní linka">
            <a:extLst>
              <a:ext uri="{FF2B5EF4-FFF2-40B4-BE49-F238E27FC236}">
                <a16:creationId xmlns:a16="http://schemas.microsoft.com/office/drawing/2014/main" id="{987404B3-738F-45B9-9ACF-88B603968D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Karta 1"/>
          <p:cNvSpPr txBox="1"/>
          <p:nvPr/>
        </p:nvSpPr>
        <p:spPr>
          <a:xfrm>
            <a:off x="722376" y="1188720"/>
            <a:ext cx="5234940" cy="2331720"/>
          </a:xfrm>
          <a:prstGeom prst="roundRect">
            <a:avLst>
              <a:gd name="adj" fmla="val 8000"/>
            </a:avLst>
          </a:prstGeom>
          <a:solidFill>
            <a:srgbClr val="E3F1F1"/>
          </a:solidFill>
          <a:ln>
            <a:noFill/>
          </a:ln>
        </p:spPr>
        <p:txBody>
          <a:bodyPr wrap="square" lIns="228600" tIns="137160" rIns="228600" bIns="13716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Kdo je náš </a:t>
            </a: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zákazník</a:t>
            </a: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(Ideal Customer Profile)?</a:t>
            </a:r>
            <a:endParaRPr lang="cs-CZ" sz="2200"/>
          </a:p>
        </p:txBody>
      </p:sp>
      <p:sp>
        <p:nvSpPr>
          <p:cNvPr id="8" name="Karta 2"/>
          <p:cNvSpPr txBox="1"/>
          <p:nvPr/>
        </p:nvSpPr>
        <p:spPr>
          <a:xfrm>
            <a:off x="6231636" y="1188720"/>
            <a:ext cx="5234940" cy="2331720"/>
          </a:xfrm>
          <a:prstGeom prst="roundRect">
            <a:avLst>
              <a:gd name="adj" fmla="val 8000"/>
            </a:avLst>
          </a:prstGeom>
          <a:solidFill>
            <a:srgbClr val="E3F1F1"/>
          </a:solidFill>
          <a:ln>
            <a:noFill/>
          </a:ln>
        </p:spPr>
        <p:txBody>
          <a:bodyPr wrap="square" lIns="228600" tIns="137160" rIns="228600" bIns="13716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Jaký konkrétní </a:t>
            </a: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problém</a:t>
            </a: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zákazníkovi řešíme (Pain)?</a:t>
            </a:r>
            <a:endParaRPr lang="cs-CZ" sz="2200"/>
          </a:p>
        </p:txBody>
      </p:sp>
      <p:sp>
        <p:nvSpPr>
          <p:cNvPr id="9" name="Karta 3"/>
          <p:cNvSpPr txBox="1"/>
          <p:nvPr/>
        </p:nvSpPr>
        <p:spPr>
          <a:xfrm>
            <a:off x="722376" y="3794760"/>
            <a:ext cx="5234940" cy="2331720"/>
          </a:xfrm>
          <a:prstGeom prst="roundRect">
            <a:avLst>
              <a:gd name="adj" fmla="val 8000"/>
            </a:avLst>
          </a:prstGeom>
          <a:solidFill>
            <a:srgbClr val="E3F1F1"/>
          </a:solidFill>
          <a:ln>
            <a:noFill/>
          </a:ln>
        </p:spPr>
        <p:txBody>
          <a:bodyPr wrap="square" lIns="228600" tIns="137160" rIns="228600" bIns="13716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Jakou </a:t>
            </a: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hodnotu</a:t>
            </a: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zákazníkovi přinášíme (Value proposition)?</a:t>
            </a:r>
            <a:endParaRPr lang="cs-CZ" sz="2200"/>
          </a:p>
        </p:txBody>
      </p:sp>
      <p:sp>
        <p:nvSpPr>
          <p:cNvPr id="10" name="Karta 4"/>
          <p:cNvSpPr txBox="1"/>
          <p:nvPr/>
        </p:nvSpPr>
        <p:spPr>
          <a:xfrm>
            <a:off x="6231636" y="3794760"/>
            <a:ext cx="5234940" cy="2331720"/>
          </a:xfrm>
          <a:prstGeom prst="roundRect">
            <a:avLst>
              <a:gd name="adj" fmla="val 8000"/>
            </a:avLst>
          </a:prstGeom>
          <a:solidFill>
            <a:srgbClr val="E3F1F1"/>
          </a:solidFill>
          <a:ln>
            <a:noFill/>
          </a:ln>
        </p:spPr>
        <p:txBody>
          <a:bodyPr wrap="square" lIns="228600" tIns="137160" rIns="228600" bIns="13716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Proč zákazník kupuje </a:t>
            </a: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právě od nás (Unique selling point)?</a:t>
            </a:r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606372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AE15120A-E8FC-47F1-A5AD-9570613633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8F342BD3-8653-4999-885E-0A23DC038C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strana 20, řádek 3">
            <a:extLst>
              <a:ext uri="{FF2B5EF4-FFF2-40B4-BE49-F238E27FC236}">
                <a16:creationId xmlns:a16="http://schemas.microsoft.com/office/drawing/2014/main" id="{82433C17-3AB2-47D5-85F5-FD48C576B7D4}"/>
              </a:ext>
            </a:extLst>
          </p:cNvPr>
          <p:cNvSpPr>
            <a:spLocks noGrp="1"/>
          </p:cNvSpPr>
          <p:nvPr/>
        </p:nvSpPr>
        <p:spPr>
          <a:xfrm>
            <a:off x="6568440" y="2248932"/>
            <a:ext cx="1270372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Identita</a:t>
            </a:r>
          </a:p>
        </p:txBody>
      </p:sp>
      <p:sp>
        <p:nvSpPr>
          <p:cNvPr id="6" name="Text strana 20, řádek 4">
            <a:extLst>
              <a:ext uri="{FF2B5EF4-FFF2-40B4-BE49-F238E27FC236}">
                <a16:creationId xmlns:a16="http://schemas.microsoft.com/office/drawing/2014/main" id="{BF81C21C-7E5A-426D-B6CE-7F20B2DC4EAE}"/>
              </a:ext>
            </a:extLst>
          </p:cNvPr>
          <p:cNvSpPr>
            <a:spLocks noGrp="1"/>
          </p:cNvSpPr>
          <p:nvPr/>
        </p:nvSpPr>
        <p:spPr>
          <a:xfrm>
            <a:off x="8048879" y="3464465"/>
            <a:ext cx="1313230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Persona</a:t>
            </a:r>
          </a:p>
        </p:txBody>
      </p:sp>
      <p:sp>
        <p:nvSpPr>
          <p:cNvPr id="7" name="Text strana 20, řádek 5">
            <a:extLst>
              <a:ext uri="{FF2B5EF4-FFF2-40B4-BE49-F238E27FC236}">
                <a16:creationId xmlns:a16="http://schemas.microsoft.com/office/drawing/2014/main" id="{68994CA6-BE33-4510-B01C-E71869B7ED70}"/>
              </a:ext>
            </a:extLst>
          </p:cNvPr>
          <p:cNvSpPr>
            <a:spLocks noGrp="1"/>
          </p:cNvSpPr>
          <p:nvPr/>
        </p:nvSpPr>
        <p:spPr>
          <a:xfrm>
            <a:off x="8389620" y="5073666"/>
            <a:ext cx="1274473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Kontext</a:t>
            </a:r>
          </a:p>
        </p:txBody>
      </p:sp>
      <p:sp>
        <p:nvSpPr>
          <p:cNvPr id="8" name="Text strana 20, řádek 6">
            <a:extLst>
              <a:ext uri="{FF2B5EF4-FFF2-40B4-BE49-F238E27FC236}">
                <a16:creationId xmlns:a16="http://schemas.microsoft.com/office/drawing/2014/main" id="{93DEE4B5-B9AB-4677-B789-1922C8E36E6B}"/>
              </a:ext>
            </a:extLst>
          </p:cNvPr>
          <p:cNvSpPr>
            <a:spLocks noGrp="1"/>
          </p:cNvSpPr>
          <p:nvPr/>
        </p:nvSpPr>
        <p:spPr>
          <a:xfrm>
            <a:off x="9456801" y="2334022"/>
            <a:ext cx="1696853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Preference</a:t>
            </a:r>
          </a:p>
        </p:txBody>
      </p:sp>
      <p:sp>
        <p:nvSpPr>
          <p:cNvPr id="10" name="Nadpis"/>
          <p:cNvSpPr txBox="1"/>
          <p:nvPr/>
        </p:nvSpPr>
        <p:spPr>
          <a:xfrm>
            <a:off x="723900" y="514350"/>
            <a:ext cx="493776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Ke komu mluvíme?</a:t>
            </a:r>
            <a:endParaRPr lang="cs-CZ" sz="3150"/>
          </a:p>
        </p:txBody>
      </p:sp>
    </p:spTree>
    <p:extLst>
      <p:ext uri="{BB962C8B-B14F-4D97-AF65-F5344CB8AC3E}">
        <p14:creationId xmlns:p14="http://schemas.microsoft.com/office/powerpoint/2010/main" val="1426081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yrkysová horní linka">
            <a:extLst>
              <a:ext uri="{FF2B5EF4-FFF2-40B4-BE49-F238E27FC236}">
                <a16:creationId xmlns:a16="http://schemas.microsoft.com/office/drawing/2014/main" id="{522326A4-20DF-45C9-A931-314AC98081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Co je potřeba znát?</a:t>
            </a:r>
            <a:endParaRPr lang="cs-CZ" sz="3150"/>
          </a:p>
        </p:txBody>
      </p:sp>
      <p:sp>
        <p:nvSpPr>
          <p:cNvPr id="12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Kdo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rozhoduje o daru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Jaká jsou </a:t>
            </a: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kritéria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rozhodování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Má dárce </a:t>
            </a: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urgenci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proč by měl koupit teď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 aktuálně dárce řeší problém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1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Má dárce připravený </a:t>
            </a: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budget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1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Jaké </a:t>
            </a:r>
            <a:r>
              <a:rPr lang="cs-CZ" sz="2000" b="1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dokumenty</a:t>
            </a:r>
            <a:r>
              <a:rPr lang="cs-CZ" sz="2000" b="0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či schvalovací procesy musí dárce projít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Jaké jsou typické námitky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924267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14F99DD6-283A-4B5F-A896-9D5C9E4F2C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"/>
          <p:cNvSpPr txBox="1"/>
          <p:nvPr/>
        </p:nvSpPr>
        <p:spPr>
          <a:xfrm>
            <a:off x="722376" y="1280160"/>
            <a:ext cx="10241280" cy="4754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cs-CZ" sz="30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Persona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je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fiktivní, ale detailně popsaný profil 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reprezentující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typického zákazníka 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nebo uživatele, který zahrnuje jeho demografické údaje, potřeby, motivace, cíle, chování a případně i problémy, aby pomohl lépe porozumět cílové skupině a vytvořit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efektivní strategie jak prodat produkty či služby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.</a:t>
            </a:r>
            <a:endParaRPr lang="cs-CZ" sz="3000"/>
          </a:p>
        </p:txBody>
      </p:sp>
    </p:spTree>
    <p:extLst>
      <p:ext uri="{BB962C8B-B14F-4D97-AF65-F5344CB8AC3E}">
        <p14:creationId xmlns:p14="http://schemas.microsoft.com/office/powerpoint/2010/main" val="1232501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9A63A884-2772-46AE-8B21-FFE9C2A9E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46021" y="0"/>
            <a:ext cx="7099958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56D31D1B-AEBE-43F2-B68D-638910573E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5673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41C8BB23-BFF0-41C6-8F0F-EAF46994A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78068" y="647700"/>
            <a:ext cx="4046114" cy="5562600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EE164AA1-73B6-4128-95A5-8EECBE763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65712" y="647700"/>
            <a:ext cx="3907451" cy="5562600"/>
          </a:xfrm>
          <a:prstGeom prst="rect">
            <a:avLst/>
          </a:prstGeom>
        </p:spPr>
      </p:pic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129C9B92-A55A-4F2B-9FCF-57C0075A7F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yrkysová horní linka">
            <a:extLst>
              <a:ext uri="{FF2B5EF4-FFF2-40B4-BE49-F238E27FC236}">
                <a16:creationId xmlns:a16="http://schemas.microsoft.com/office/drawing/2014/main" id="{0A0F50A4-6C8E-46B7-BD7F-9CE58307A5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187989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0713BECA-C44B-4E50-AE71-47E5D72AE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23" y="114298"/>
            <a:ext cx="12184155" cy="66294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BB566575-3BD0-4B02-ABDD-57314C3745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1331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54739B9-FF31-4395-BF85-3C457FD6D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2861"/>
            <a:ext cx="12192000" cy="6832276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CD76FDB3-5D4C-4D88-9CBB-6530EF5905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3670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4D9354FA-9561-446A-A7A9-319CC5EA9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86149" y="0"/>
            <a:ext cx="6219701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D7FFE0F9-81F4-4698-86CE-AD545C1D54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8398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rkysová horní linka">
            <a:extLst>
              <a:ext uri="{FF2B5EF4-FFF2-40B4-BE49-F238E27FC236}">
                <a16:creationId xmlns:a16="http://schemas.microsoft.com/office/drawing/2014/main" id="{300B87F2-905B-476A-9929-4BBEDCD1B7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Metody sběru informací</a:t>
            </a:r>
            <a:endParaRPr lang="cs-CZ" sz="3150"/>
          </a:p>
        </p:txBody>
      </p:sp>
      <p:sp>
        <p:nvSpPr>
          <p:cNvPr id="8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Strukturované rozhovory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Focus groups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Digitální stopa</a:t>
            </a:r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397914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yrkysová horní linka">
            <a:extLst>
              <a:ext uri="{FF2B5EF4-FFF2-40B4-BE49-F238E27FC236}">
                <a16:creationId xmlns:a16="http://schemas.microsoft.com/office/drawing/2014/main" id="{145694E9-B3CC-4BE7-A92B-816A48F27D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workshop persony 1</a:t>
            </a:r>
            <a:endParaRPr lang="cs-CZ" sz="3150"/>
          </a:p>
        </p:txBody>
      </p:sp>
      <p:sp>
        <p:nvSpPr>
          <p:cNvPr id="15" name="Podnadpis"/>
          <p:cNvSpPr txBox="1"/>
          <p:nvPr/>
        </p:nvSpPr>
        <p:spPr>
          <a:xfrm>
            <a:off x="742950" y="1234440"/>
            <a:ext cx="10378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725" b="0" i="1" dirty="0">
                <a:solidFill>
                  <a:srgbClr val="53687A"/>
                </a:solidFill>
                <a:latin typeface="Arial"/>
                <a:ea typeface="Arial"/>
                <a:cs typeface="Arial"/>
              </a:rPr>
              <a:t>Ke komu mluvíš?</a:t>
            </a:r>
            <a:endParaRPr lang="cs-CZ" sz="1725"/>
          </a:p>
        </p:txBody>
      </p:sp>
      <p:sp>
        <p:nvSpPr>
          <p:cNvPr id="16" name="Text"/>
          <p:cNvSpPr txBox="1"/>
          <p:nvPr/>
        </p:nvSpPr>
        <p:spPr>
          <a:xfrm>
            <a:off x="722376" y="2103120"/>
            <a:ext cx="1074420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Věk: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Profesní zařazení / Čím se živí: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Charakteristika / Jaký/á je: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Co si o sobě myslí: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Cíle / Co chce, o co usiluje: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Co dělá pro to, aby cílů dosáhl/a: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Zájmy: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Témata, která řeší, z čeho má obavy: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Jaká média "konzumuje"? Jaké sociální sítě využívá?: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89870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59D4C876-DBA8-499A-BDA2-70C17B4B0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9B9F5C81-1A86-4244-8F54-936624BCF0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strana 30, řádek 4">
            <a:extLst>
              <a:ext uri="{FF2B5EF4-FFF2-40B4-BE49-F238E27FC236}">
                <a16:creationId xmlns:a16="http://schemas.microsoft.com/office/drawing/2014/main" id="{07113371-07F1-4746-B9E9-5C17EBAC1735}"/>
              </a:ext>
            </a:extLst>
          </p:cNvPr>
          <p:cNvSpPr>
            <a:spLocks noGrp="1"/>
          </p:cNvSpPr>
          <p:nvPr/>
        </p:nvSpPr>
        <p:spPr>
          <a:xfrm>
            <a:off x="6568440" y="2248932"/>
            <a:ext cx="1270372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Identita</a:t>
            </a:r>
          </a:p>
        </p:txBody>
      </p:sp>
      <p:sp>
        <p:nvSpPr>
          <p:cNvPr id="7" name="Text strana 30, řádek 5">
            <a:extLst>
              <a:ext uri="{FF2B5EF4-FFF2-40B4-BE49-F238E27FC236}">
                <a16:creationId xmlns:a16="http://schemas.microsoft.com/office/drawing/2014/main" id="{FA56906C-2389-4552-8295-58C30DD032F5}"/>
              </a:ext>
            </a:extLst>
          </p:cNvPr>
          <p:cNvSpPr>
            <a:spLocks noGrp="1"/>
          </p:cNvSpPr>
          <p:nvPr/>
        </p:nvSpPr>
        <p:spPr>
          <a:xfrm>
            <a:off x="8048879" y="3464465"/>
            <a:ext cx="1313230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Persona</a:t>
            </a:r>
          </a:p>
        </p:txBody>
      </p:sp>
      <p:sp>
        <p:nvSpPr>
          <p:cNvPr id="8" name="Text strana 30, řádek 6">
            <a:extLst>
              <a:ext uri="{FF2B5EF4-FFF2-40B4-BE49-F238E27FC236}">
                <a16:creationId xmlns:a16="http://schemas.microsoft.com/office/drawing/2014/main" id="{028949C9-A5CF-4528-A120-06B81D8CF49B}"/>
              </a:ext>
            </a:extLst>
          </p:cNvPr>
          <p:cNvSpPr>
            <a:spLocks noGrp="1"/>
          </p:cNvSpPr>
          <p:nvPr/>
        </p:nvSpPr>
        <p:spPr>
          <a:xfrm>
            <a:off x="8389620" y="5073666"/>
            <a:ext cx="1252944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Kontext</a:t>
            </a:r>
          </a:p>
        </p:txBody>
      </p:sp>
      <p:sp>
        <p:nvSpPr>
          <p:cNvPr id="9" name="Text strana 30, řádek 7">
            <a:extLst>
              <a:ext uri="{FF2B5EF4-FFF2-40B4-BE49-F238E27FC236}">
                <a16:creationId xmlns:a16="http://schemas.microsoft.com/office/drawing/2014/main" id="{D7E48D53-E763-4093-B81A-702C24138B30}"/>
              </a:ext>
            </a:extLst>
          </p:cNvPr>
          <p:cNvSpPr>
            <a:spLocks noGrp="1"/>
          </p:cNvSpPr>
          <p:nvPr/>
        </p:nvSpPr>
        <p:spPr>
          <a:xfrm>
            <a:off x="9456801" y="2334022"/>
            <a:ext cx="1717700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Preference</a:t>
            </a:r>
          </a:p>
        </p:txBody>
      </p:sp>
      <p:sp>
        <p:nvSpPr>
          <p:cNvPr id="11" name="Nadpis"/>
          <p:cNvSpPr txBox="1"/>
          <p:nvPr/>
        </p:nvSpPr>
        <p:spPr>
          <a:xfrm>
            <a:off x="723900" y="566928"/>
            <a:ext cx="4937760" cy="856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cs-CZ" sz="2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Značka organizace, archetyp značky</a:t>
            </a:r>
            <a:endParaRPr lang="cs-CZ" sz="2800"/>
          </a:p>
        </p:txBody>
      </p:sp>
    </p:spTree>
    <p:extLst>
      <p:ext uri="{BB962C8B-B14F-4D97-AF65-F5344CB8AC3E}">
        <p14:creationId xmlns:p14="http://schemas.microsoft.com/office/powerpoint/2010/main" val="9509578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D3D3E4C8-750E-464A-B646-82D511D623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"/>
          <p:cNvSpPr txBox="1"/>
          <p:nvPr/>
        </p:nvSpPr>
        <p:spPr>
          <a:xfrm>
            <a:off x="722376" y="1280160"/>
            <a:ext cx="10424160" cy="4937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cs-CZ" sz="30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Značka 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je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jedinečná identita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, která určuje, jak ji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vnímají zákazníci 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– zahrnuje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hodnoty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,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vizuální prvky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a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způsob komunikace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.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Archetyp značky 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jí dodává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osobnost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a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emocionální hloubku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, aby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oslovila cílové publikum autentickým způsobem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.</a:t>
            </a:r>
            <a:endParaRPr lang="cs-CZ" sz="3000"/>
          </a:p>
          <a:p>
            <a:pPr algn="l" marL="0" indent="0">
              <a:lnSpc>
                <a:spcPct val="115000"/>
              </a:lnSpc>
              <a:spcBef>
                <a:spcPts val="1350"/>
              </a:spcBef>
              <a:buNone/>
            </a:pP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Identita a archetyp vytvářejí společně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konzistentní a zapamatovatelný příběh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, který zákazníky </a:t>
            </a:r>
            <a:r>
              <a:rPr lang="cs-CZ" sz="3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přitahuje a buduje loajalitu</a:t>
            </a:r>
            <a:r>
              <a:rPr lang="cs-CZ" sz="3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.</a:t>
            </a:r>
            <a:endParaRPr lang="cs-CZ" sz="3000"/>
          </a:p>
        </p:txBody>
      </p:sp>
    </p:spTree>
    <p:extLst>
      <p:ext uri="{BB962C8B-B14F-4D97-AF65-F5344CB8AC3E}">
        <p14:creationId xmlns:p14="http://schemas.microsoft.com/office/powerpoint/2010/main" val="383676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EF69571-E2AA-4ECA-938C-2585E2375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17505" y="0"/>
            <a:ext cx="8957041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280B8697-63E7-4FD1-9B8C-3D1E5DA09F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0148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0295C3F9-C264-4227-8F91-3511B28F8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600" y="759"/>
            <a:ext cx="10210800" cy="6856483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08F2E48B-5B40-423F-AC7D-3B529F3206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219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rkysová horní linka">
            <a:extLst>
              <a:ext uri="{FF2B5EF4-FFF2-40B4-BE49-F238E27FC236}">
                <a16:creationId xmlns:a16="http://schemas.microsoft.com/office/drawing/2014/main" id="{4FEA98DA-6B55-47F2-85BA-1BD9332937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"/>
          <p:cNvSpPr txBox="1"/>
          <p:nvPr/>
        </p:nvSpPr>
        <p:spPr>
          <a:xfrm>
            <a:off x="722376" y="1463040"/>
            <a:ext cx="10241280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cs-CZ" sz="36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Archetyp značky </a:t>
            </a:r>
            <a:r>
              <a:rPr lang="cs-CZ" sz="36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je její </a:t>
            </a:r>
            <a:r>
              <a:rPr lang="cs-CZ" sz="36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symbolická osobnost</a:t>
            </a:r>
            <a:r>
              <a:rPr lang="cs-CZ" sz="36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, která vychází z univerzálních lidských </a:t>
            </a:r>
            <a:r>
              <a:rPr lang="cs-CZ" sz="36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vzorců chování </a:t>
            </a:r>
            <a:r>
              <a:rPr lang="cs-CZ" sz="36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 </a:t>
            </a:r>
            <a:r>
              <a:rPr lang="cs-CZ" sz="36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emocí</a:t>
            </a:r>
            <a:r>
              <a:rPr lang="cs-CZ" sz="36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, aby vytvořila </a:t>
            </a:r>
            <a:r>
              <a:rPr lang="cs-CZ" sz="36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hlubší emocionální spojení se zákazníky</a:t>
            </a:r>
            <a:r>
              <a:rPr lang="cs-CZ" sz="36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.</a:t>
            </a:r>
            <a:endParaRPr lang="cs-CZ" sz="3600"/>
          </a:p>
        </p:txBody>
      </p:sp>
    </p:spTree>
    <p:extLst>
      <p:ext uri="{BB962C8B-B14F-4D97-AF65-F5344CB8AC3E}">
        <p14:creationId xmlns:p14="http://schemas.microsoft.com/office/powerpoint/2010/main" val="739568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cký objekt 13">
            <a:extLst>
              <a:ext uri="{FF2B5EF4-FFF2-40B4-BE49-F238E27FC236}">
                <a16:creationId xmlns:a16="http://schemas.microsoft.com/office/drawing/2014/main" id="{7B7980E4-2FB8-4D24-BE87-F4F2BC5A2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5FB5543F-1A10-4F6E-8C7C-5B837C36DA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Nadpis"/>
          <p:cNvSpPr txBox="1"/>
          <p:nvPr/>
        </p:nvSpPr>
        <p:spPr>
          <a:xfrm>
            <a:off x="723900" y="566928"/>
            <a:ext cx="10744200" cy="856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cs-CZ" sz="2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1919 </a:t>
            </a:r>
            <a:r>
              <a:rPr lang="cs-CZ" sz="2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Carl Jung </a:t>
            </a:r>
            <a:r>
              <a:rPr lang="cs-CZ" sz="2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poprvé použil v jednom ze svých děl slovoarchetyp.</a:t>
            </a:r>
            <a:endParaRPr lang="cs-CZ" sz="2800"/>
          </a:p>
        </p:txBody>
      </p:sp>
      <p:sp>
        <p:nvSpPr>
          <p:cNvPr id="16" name="Text"/>
          <p:cNvSpPr txBox="1"/>
          <p:nvPr/>
        </p:nvSpPr>
        <p:spPr>
          <a:xfrm>
            <a:off x="722376" y="1926336"/>
            <a:ext cx="10744200" cy="4474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 značky mohou být stejně tak</a:t>
            </a: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užitečné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. V čem?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návod, pomůcka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pomáhají vysvětlit tonalitu komunikace</a:t>
            </a:r>
            <a:endParaRPr lang="cs-CZ" sz="1800"/>
          </a:p>
          <a:p>
            <a:pPr algn="l" marL="0" indent="0">
              <a:lnSpc>
                <a:spcPct val="100000"/>
              </a:lnSpc>
              <a:spcBef>
                <a:spcPts val="1810"/>
              </a:spcBef>
              <a:buNone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Archetypy mohou být</a:t>
            </a: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nápomocné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na dvou úrovních: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Pokud víte, který z archetypů ve vaší cílové skupině převažuje (= kdo u vás nakupuje) a přizpůsobíte tomu svou značku, bude pro vaše zákazníky snažší s vámi navázat emoční spojení.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Nebo archetyp využijete při budování „osobnosti“ a komunikace své značky.</a:t>
            </a:r>
            <a:endParaRPr lang="cs-CZ" sz="1800"/>
          </a:p>
          <a:p>
            <a:pPr algn="l" marL="0" indent="0">
              <a:lnSpc>
                <a:spcPct val="100000"/>
              </a:lnSpc>
              <a:spcBef>
                <a:spcPts val="1810"/>
              </a:spcBef>
              <a:buNone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 </a:t>
            </a: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 na to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?</a:t>
            </a:r>
            <a:endParaRPr lang="cs-CZ" sz="1800"/>
          </a:p>
          <a:p>
            <a:pPr algn="l" marL="2857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Převezmete jednu z archetypálních rolí. </a:t>
            </a:r>
            <a:r>
              <a:rPr lang="cs-CZ" sz="1800" b="0" i="1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Začnete se prostě chovat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jako hrdina, neviňátko nebo mudrc …</a:t>
            </a:r>
            <a:endParaRPr lang="cs-CZ" sz="1800"/>
          </a:p>
        </p:txBody>
      </p:sp>
    </p:spTree>
    <p:extLst>
      <p:ext uri="{BB962C8B-B14F-4D97-AF65-F5344CB8AC3E}">
        <p14:creationId xmlns:p14="http://schemas.microsoft.com/office/powerpoint/2010/main" val="2201908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511BBDE3-0F0C-45B6-8EB2-54E2D78A0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9250" y="0"/>
            <a:ext cx="9144000" cy="6858000"/>
          </a:xfrm>
          <a:prstGeom prst="rect">
            <a:avLst/>
          </a:prstGeom>
        </p:spPr>
      </p:pic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92E25795-7260-46B7-9C28-4CCC7ED18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382F49B3-7E66-4213-B0A5-895CD18B4D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17892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rázek 26">
            <a:extLst>
              <a:ext uri="{FF2B5EF4-FFF2-40B4-BE49-F238E27FC236}">
                <a16:creationId xmlns:a16="http://schemas.microsoft.com/office/drawing/2014/main" id="{872EF5FC-E1C1-49F4-A2E8-51756A6C3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381"/>
            <a:ext cx="5619750" cy="4214813"/>
          </a:xfrm>
          <a:prstGeom prst="rect">
            <a:avLst/>
          </a:prstGeom>
        </p:spPr>
      </p:pic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568336DA-2E30-4C90-948F-9D0DF54DC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F18EA87D-749D-44BF-B13C-5BC45F0FDC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"/>
          <p:cNvSpPr txBox="1"/>
          <p:nvPr/>
        </p:nvSpPr>
        <p:spPr>
          <a:xfrm>
            <a:off x="5806440" y="411480"/>
            <a:ext cx="6035040" cy="6263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Tvůrce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ten vytváří něco nového, jeho silnou stránkou jsou inovace</a:t>
            </a:r>
            <a:endParaRPr lang="cs-CZ" sz="1400"/>
          </a:p>
          <a:p>
            <a:pPr algn="l" marL="285750" indent="-285750">
              <a:lnSpc>
                <a:spcPct val="100000"/>
              </a:lnSpc>
              <a:spcBef>
                <a:spcPts val="3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Pečovatel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rád a dobře se stará o druhé, chrání je, nabízí skvělý servis</a:t>
            </a:r>
            <a:endParaRPr lang="cs-CZ" sz="1400"/>
          </a:p>
          <a:p>
            <a:pPr algn="l" marL="285750" indent="-285750">
              <a:lnSpc>
                <a:spcPct val="100000"/>
              </a:lnSpc>
              <a:spcBef>
                <a:spcPts val="3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Vládce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je určen k tomu, aby řídil ostatní</a:t>
            </a:r>
            <a:endParaRPr lang="cs-CZ" sz="1400"/>
          </a:p>
          <a:p>
            <a:pPr algn="l" marL="285750" indent="-285750">
              <a:lnSpc>
                <a:spcPct val="100000"/>
              </a:lnSpc>
              <a:spcBef>
                <a:spcPts val="3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Klaun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stará se o tom, aby nám bylo fajn</a:t>
            </a:r>
            <a:endParaRPr lang="cs-CZ" sz="1400"/>
          </a:p>
          <a:p>
            <a:pPr algn="l" marL="285750" indent="-285750">
              <a:lnSpc>
                <a:spcPct val="100000"/>
              </a:lnSpc>
              <a:spcBef>
                <a:spcPts val="3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Jeden z nás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kluk nebo holka odvedle, který je v pohodě a nezkazí žádnou zábavu</a:t>
            </a:r>
            <a:endParaRPr lang="cs-CZ" sz="1400"/>
          </a:p>
          <a:p>
            <a:pPr algn="l" marL="285750" indent="-285750">
              <a:lnSpc>
                <a:spcPct val="100000"/>
              </a:lnSpc>
              <a:spcBef>
                <a:spcPts val="3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Milenec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rozdává lásku a potěšení, s ním se cítíte součástí rodiny, komunity</a:t>
            </a:r>
            <a:endParaRPr lang="cs-CZ" sz="1400"/>
          </a:p>
          <a:p>
            <a:pPr algn="l" marL="285750" indent="-285750">
              <a:lnSpc>
                <a:spcPct val="100000"/>
              </a:lnSpc>
              <a:spcBef>
                <a:spcPts val="3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Hrdina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chová se odvážně a statečně, u něj se nemusíme bát</a:t>
            </a:r>
            <a:endParaRPr lang="cs-CZ" sz="1400"/>
          </a:p>
          <a:p>
            <a:pPr algn="l" marL="285750" indent="-285750">
              <a:lnSpc>
                <a:spcPct val="100000"/>
              </a:lnSpc>
              <a:spcBef>
                <a:spcPts val="3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Psanec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rebel do morku kosti, poruší každé pravidlo a není s ním nikdy nuda, vzrušení je jeho druhé jméno</a:t>
            </a:r>
            <a:endParaRPr lang="cs-CZ" sz="1400"/>
          </a:p>
          <a:p>
            <a:pPr algn="l" marL="285750" indent="-285750">
              <a:lnSpc>
                <a:spcPct val="100000"/>
              </a:lnSpc>
              <a:spcBef>
                <a:spcPts val="3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Kouzelník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dokáže nemožné, změnit cokoli, proměnit cokoli, cílí na vaše sny, ukazuje, jaké by to mohlo být, pokud….</a:t>
            </a:r>
            <a:endParaRPr lang="cs-CZ" sz="1400"/>
          </a:p>
          <a:p>
            <a:pPr algn="l" marL="285750" indent="-285750">
              <a:lnSpc>
                <a:spcPct val="100000"/>
              </a:lnSpc>
              <a:spcBef>
                <a:spcPts val="3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Neviňátko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uchovává víru v čistotu a nevinnost, nabízí štěstí a naplnění</a:t>
            </a:r>
            <a:endParaRPr lang="cs-CZ" sz="1400"/>
          </a:p>
          <a:p>
            <a:pPr algn="l" marL="285750" indent="-285750">
              <a:lnSpc>
                <a:spcPct val="100000"/>
              </a:lnSpc>
              <a:spcBef>
                <a:spcPts val="3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Objevitel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podobně jako Tvůrce, jen ne vždy dotahuje věci do konce, je trochu mimoň, ale když s něčím přijde, stojí to za to</a:t>
            </a:r>
            <a:endParaRPr lang="cs-CZ" sz="1400"/>
          </a:p>
          <a:p>
            <a:pPr algn="l" marL="285750" indent="-285750">
              <a:lnSpc>
                <a:spcPct val="100000"/>
              </a:lnSpc>
              <a:spcBef>
                <a:spcPts val="3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Mudrc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– snaží se pochopit svět, problém a vás</a:t>
            </a:r>
            <a:endParaRPr lang="cs-CZ" sz="1400"/>
          </a:p>
        </p:txBody>
      </p:sp>
    </p:spTree>
    <p:extLst>
      <p:ext uri="{BB962C8B-B14F-4D97-AF65-F5344CB8AC3E}">
        <p14:creationId xmlns:p14="http://schemas.microsoft.com/office/powerpoint/2010/main" val="9571672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F20B2E5B-FE2D-45F4-8BB4-D2B5DFCFA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66875" y="163355"/>
            <a:ext cx="8896350" cy="6464614"/>
          </a:xfrm>
          <a:prstGeom prst="rect">
            <a:avLst/>
          </a:prstGeom>
        </p:spPr>
      </p:pic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8CF48A8F-A375-407B-B7B2-C680DE0058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C3870BD8-E85D-4633-8E1D-C8C5133D23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5564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BCF061FF-0715-4D20-BA37-9C89052AC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00325" y="61710"/>
            <a:ext cx="9591675" cy="6734580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42C1BBF7-B057-4B26-AD9C-4DBF22E36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9" y="0"/>
            <a:ext cx="2784109" cy="1947926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B09481F8-4669-436C-8645-74BA856EFE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00100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9450FB16-8994-42C5-83B1-FF309C1AE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66938" y="457200"/>
            <a:ext cx="7858125" cy="59436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1D416B9A-BC66-4042-96AF-20F35A6856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10310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75B02C69-F38A-49FD-A537-9DD3461F6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50" y="5857873"/>
            <a:ext cx="12184900" cy="89535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CB62233F-8D5E-4427-A261-43F6E7EAB6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7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8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9" name="Štítek"/>
          <p:cNvSpPr txBox="1"/>
          <p:nvPr/>
        </p:nvSpPr>
        <p:spPr>
          <a:xfrm>
            <a:off x="722376" y="1783080"/>
            <a:ext cx="72237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workshop archetypy 1</a:t>
            </a:r>
            <a:endParaRPr lang="cs-CZ" sz="1800"/>
          </a:p>
        </p:txBody>
      </p:sp>
      <p:sp>
        <p:nvSpPr>
          <p:cNvPr id="10" name="Hlavní sdělení"/>
          <p:cNvSpPr txBox="1"/>
          <p:nvPr/>
        </p:nvSpPr>
        <p:spPr>
          <a:xfrm>
            <a:off x="722376" y="2331720"/>
            <a:ext cx="722376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4000" b="1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Kdo jsi?</a:t>
            </a:r>
            <a:endParaRPr lang="cs-CZ" sz="4000"/>
          </a:p>
        </p:txBody>
      </p:sp>
    </p:spTree>
    <p:extLst>
      <p:ext uri="{BB962C8B-B14F-4D97-AF65-F5344CB8AC3E}">
        <p14:creationId xmlns:p14="http://schemas.microsoft.com/office/powerpoint/2010/main" val="10927246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0F1895EF-32A9-4F71-8F8B-68DB56023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50" y="5857873"/>
            <a:ext cx="12184900" cy="89535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DE05E813-F0A1-47CF-92D5-3F74483BEC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9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0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1" name="Štítek"/>
          <p:cNvSpPr txBox="1"/>
          <p:nvPr/>
        </p:nvSpPr>
        <p:spPr>
          <a:xfrm>
            <a:off x="722376" y="1783080"/>
            <a:ext cx="72237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workshop archetypy 2</a:t>
            </a:r>
            <a:endParaRPr lang="cs-CZ" sz="1800"/>
          </a:p>
        </p:txBody>
      </p:sp>
      <p:sp>
        <p:nvSpPr>
          <p:cNvPr id="12" name="Hlavní sdělení"/>
          <p:cNvSpPr txBox="1"/>
          <p:nvPr/>
        </p:nvSpPr>
        <p:spPr>
          <a:xfrm>
            <a:off x="722376" y="2331720"/>
            <a:ext cx="722376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4000" b="1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Víš kdo jsi. Víš kdo je tvůj zákazník. Co mu říkáš? Jak chceš, aby tě vnímal?</a:t>
            </a:r>
            <a:endParaRPr lang="cs-CZ" sz="4000"/>
          </a:p>
        </p:txBody>
      </p:sp>
    </p:spTree>
    <p:extLst>
      <p:ext uri="{BB962C8B-B14F-4D97-AF65-F5344CB8AC3E}">
        <p14:creationId xmlns:p14="http://schemas.microsoft.com/office/powerpoint/2010/main" val="3982493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EA061D2E-2718-452C-898C-D3C6E4856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24800" y="4106083"/>
            <a:ext cx="3562350" cy="2160559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C3ED777D-4A42-4892-BB14-0E8EEBCD31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8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9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0" name="Hlavní sdělení"/>
          <p:cNvSpPr txBox="1"/>
          <p:nvPr/>
        </p:nvSpPr>
        <p:spPr>
          <a:xfrm>
            <a:off x="722376" y="1783080"/>
            <a:ext cx="722376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40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Segmentace dárců</a:t>
            </a:r>
            <a:endParaRPr lang="cs-CZ" sz="4000"/>
          </a:p>
        </p:txBody>
      </p:sp>
    </p:spTree>
    <p:extLst>
      <p:ext uri="{BB962C8B-B14F-4D97-AF65-F5344CB8AC3E}">
        <p14:creationId xmlns:p14="http://schemas.microsoft.com/office/powerpoint/2010/main" val="18238854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rkysová horní linka">
            <a:extLst>
              <a:ext uri="{FF2B5EF4-FFF2-40B4-BE49-F238E27FC236}">
                <a16:creationId xmlns:a16="http://schemas.microsoft.com/office/drawing/2014/main" id="{F0233BC1-61DE-4475-A1D5-9E716452FA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"/>
          <p:cNvSpPr txBox="1"/>
          <p:nvPr/>
        </p:nvSpPr>
        <p:spPr>
          <a:xfrm>
            <a:off x="722376" y="1188720"/>
            <a:ext cx="10744200" cy="5120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Přesnější </a:t>
            </a: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cílení</a:t>
            </a:r>
            <a:r>
              <a:rPr lang="cs-CZ" sz="2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fundraisingvých a marketingových aktivit</a:t>
            </a:r>
            <a:endParaRPr lang="cs-CZ" sz="2400"/>
          </a:p>
          <a:p>
            <a:pPr algn="l" marL="285750" indent="-285750">
              <a:lnSpc>
                <a:spcPct val="100000"/>
              </a:lnSpc>
              <a:spcBef>
                <a:spcPts val="108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Vyšší </a:t>
            </a: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návratnost</a:t>
            </a:r>
            <a:r>
              <a:rPr lang="cs-CZ" sz="2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investic</a:t>
            </a:r>
            <a:endParaRPr lang="cs-CZ" sz="2400"/>
          </a:p>
          <a:p>
            <a:pPr algn="l" marL="285750" indent="-285750">
              <a:lnSpc>
                <a:spcPct val="100000"/>
              </a:lnSpc>
              <a:spcBef>
                <a:spcPts val="108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Lepší </a:t>
            </a: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prioritizace</a:t>
            </a:r>
            <a:r>
              <a:rPr lang="cs-CZ" sz="2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fundraisingovýchpříležitostí</a:t>
            </a:r>
            <a:endParaRPr lang="cs-CZ" sz="2400"/>
          </a:p>
          <a:p>
            <a:pPr algn="l" marL="285750" indent="-285750">
              <a:lnSpc>
                <a:spcPct val="100000"/>
              </a:lnSpc>
              <a:spcBef>
                <a:spcPts val="108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Přizpůsobení produktu/služby konkrétním </a:t>
            </a: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potřebám</a:t>
            </a:r>
            <a:endParaRPr lang="cs-CZ" sz="2400"/>
          </a:p>
          <a:p>
            <a:pPr algn="l" marL="285750" indent="-285750">
              <a:lnSpc>
                <a:spcPct val="100000"/>
              </a:lnSpc>
              <a:spcBef>
                <a:spcPts val="108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Hlubší porozumění zákazníkovi</a:t>
            </a:r>
            <a:endParaRPr lang="cs-CZ" sz="2400"/>
          </a:p>
          <a:p>
            <a:pPr algn="l" marL="285750" indent="-285750">
              <a:lnSpc>
                <a:spcPct val="100000"/>
              </a:lnSpc>
              <a:spcBef>
                <a:spcPts val="108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Efektivnější reporting a analýza</a:t>
            </a:r>
            <a:endParaRPr lang="cs-CZ" sz="2400"/>
          </a:p>
        </p:txBody>
      </p:sp>
    </p:spTree>
    <p:extLst>
      <p:ext uri="{BB962C8B-B14F-4D97-AF65-F5344CB8AC3E}">
        <p14:creationId xmlns:p14="http://schemas.microsoft.com/office/powerpoint/2010/main" val="3192434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cký objekt 11">
            <a:extLst>
              <a:ext uri="{FF2B5EF4-FFF2-40B4-BE49-F238E27FC236}">
                <a16:creationId xmlns:a16="http://schemas.microsoft.com/office/drawing/2014/main" id="{0275889E-1552-4A57-8910-2CE03244CF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CE456A59-72A8-437A-B3E9-2649EB9E56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strana 45, řádek 6">
            <a:extLst>
              <a:ext uri="{FF2B5EF4-FFF2-40B4-BE49-F238E27FC236}">
                <a16:creationId xmlns:a16="http://schemas.microsoft.com/office/drawing/2014/main" id="{60F84BBF-9E1B-4B77-AFAB-9D29F05C97CF}"/>
              </a:ext>
            </a:extLst>
          </p:cNvPr>
          <p:cNvSpPr>
            <a:spLocks noGrp="1"/>
          </p:cNvSpPr>
          <p:nvPr/>
        </p:nvSpPr>
        <p:spPr>
          <a:xfrm>
            <a:off x="6568440" y="2248932"/>
            <a:ext cx="1270372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Identita</a:t>
            </a:r>
          </a:p>
        </p:txBody>
      </p:sp>
      <p:sp>
        <p:nvSpPr>
          <p:cNvPr id="9" name="Text strana 45, řádek 7">
            <a:extLst>
              <a:ext uri="{FF2B5EF4-FFF2-40B4-BE49-F238E27FC236}">
                <a16:creationId xmlns:a16="http://schemas.microsoft.com/office/drawing/2014/main" id="{00688BA2-E4F2-4343-850C-A6B3102FEF37}"/>
              </a:ext>
            </a:extLst>
          </p:cNvPr>
          <p:cNvSpPr>
            <a:spLocks noGrp="1"/>
          </p:cNvSpPr>
          <p:nvPr/>
        </p:nvSpPr>
        <p:spPr>
          <a:xfrm>
            <a:off x="8048879" y="3464465"/>
            <a:ext cx="1313230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Persona</a:t>
            </a:r>
          </a:p>
        </p:txBody>
      </p:sp>
      <p:sp>
        <p:nvSpPr>
          <p:cNvPr id="10" name="Text strana 45, řádek 8">
            <a:extLst>
              <a:ext uri="{FF2B5EF4-FFF2-40B4-BE49-F238E27FC236}">
                <a16:creationId xmlns:a16="http://schemas.microsoft.com/office/drawing/2014/main" id="{ED5BE4D1-BE58-403B-890F-8BD477C15148}"/>
              </a:ext>
            </a:extLst>
          </p:cNvPr>
          <p:cNvSpPr>
            <a:spLocks noGrp="1"/>
          </p:cNvSpPr>
          <p:nvPr/>
        </p:nvSpPr>
        <p:spPr>
          <a:xfrm>
            <a:off x="8389620" y="5073666"/>
            <a:ext cx="1274473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Kontext</a:t>
            </a:r>
          </a:p>
        </p:txBody>
      </p:sp>
      <p:sp>
        <p:nvSpPr>
          <p:cNvPr id="11" name="Text strana 45, řádek 9">
            <a:extLst>
              <a:ext uri="{FF2B5EF4-FFF2-40B4-BE49-F238E27FC236}">
                <a16:creationId xmlns:a16="http://schemas.microsoft.com/office/drawing/2014/main" id="{11B8E525-40FA-47BC-9357-5DE196C95C25}"/>
              </a:ext>
            </a:extLst>
          </p:cNvPr>
          <p:cNvSpPr>
            <a:spLocks noGrp="1"/>
          </p:cNvSpPr>
          <p:nvPr/>
        </p:nvSpPr>
        <p:spPr>
          <a:xfrm>
            <a:off x="9456801" y="2334022"/>
            <a:ext cx="1696853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Preference</a:t>
            </a:r>
          </a:p>
        </p:txBody>
      </p:sp>
      <p:sp>
        <p:nvSpPr>
          <p:cNvPr id="13" name="Nadpis"/>
          <p:cNvSpPr txBox="1"/>
          <p:nvPr/>
        </p:nvSpPr>
        <p:spPr>
          <a:xfrm>
            <a:off x="723900" y="566928"/>
            <a:ext cx="4937760" cy="1261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cs-CZ" sz="2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Value proposition. Strategická segmentace dárců</a:t>
            </a:r>
            <a:endParaRPr lang="cs-CZ" sz="2800"/>
          </a:p>
        </p:txBody>
      </p:sp>
    </p:spTree>
    <p:extLst>
      <p:ext uri="{BB962C8B-B14F-4D97-AF65-F5344CB8AC3E}">
        <p14:creationId xmlns:p14="http://schemas.microsoft.com/office/powerpoint/2010/main" val="11563295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cký objekt 15">
            <a:extLst>
              <a:ext uri="{FF2B5EF4-FFF2-40B4-BE49-F238E27FC236}">
                <a16:creationId xmlns:a16="http://schemas.microsoft.com/office/drawing/2014/main" id="{F1AE40BD-EE03-4588-A89C-489021F628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7578EF55-AAB5-4E99-B1D9-990DCB2733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strana 46, řádek 2">
            <a:extLst>
              <a:ext uri="{FF2B5EF4-FFF2-40B4-BE49-F238E27FC236}">
                <a16:creationId xmlns:a16="http://schemas.microsoft.com/office/drawing/2014/main" id="{2A998210-8655-42AB-9D26-D2A92ED3E8EA}"/>
              </a:ext>
            </a:extLst>
          </p:cNvPr>
          <p:cNvSpPr>
            <a:spLocks noGrp="1"/>
          </p:cNvSpPr>
          <p:nvPr/>
        </p:nvSpPr>
        <p:spPr>
          <a:xfrm>
            <a:off x="1671955" y="4822111"/>
            <a:ext cx="1109737" cy="197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Přístup k </a:t>
            </a:r>
          </a:p>
        </p:txBody>
      </p:sp>
      <p:sp>
        <p:nvSpPr>
          <p:cNvPr id="5" name="Text strana 46, řádek 3">
            <a:extLst>
              <a:ext uri="{FF2B5EF4-FFF2-40B4-BE49-F238E27FC236}">
                <a16:creationId xmlns:a16="http://schemas.microsoft.com/office/drawing/2014/main" id="{923AC9E7-0708-402B-9C18-332259307BD0}"/>
              </a:ext>
            </a:extLst>
          </p:cNvPr>
          <p:cNvSpPr>
            <a:spLocks noGrp="1"/>
          </p:cNvSpPr>
          <p:nvPr/>
        </p:nvSpPr>
        <p:spPr>
          <a:xfrm>
            <a:off x="1618869" y="5060617"/>
            <a:ext cx="1172887" cy="197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segmentu</a:t>
            </a:r>
          </a:p>
        </p:txBody>
      </p:sp>
      <p:sp>
        <p:nvSpPr>
          <p:cNvPr id="6" name="Text strana 46, řádek 4">
            <a:extLst>
              <a:ext uri="{FF2B5EF4-FFF2-40B4-BE49-F238E27FC236}">
                <a16:creationId xmlns:a16="http://schemas.microsoft.com/office/drawing/2014/main" id="{BF1D2E39-79B4-437A-91D9-A594ED487637}"/>
              </a:ext>
            </a:extLst>
          </p:cNvPr>
          <p:cNvSpPr>
            <a:spLocks noGrp="1"/>
          </p:cNvSpPr>
          <p:nvPr/>
        </p:nvSpPr>
        <p:spPr>
          <a:xfrm>
            <a:off x="3561715" y="4822111"/>
            <a:ext cx="788678" cy="197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Value </a:t>
            </a:r>
          </a:p>
        </p:txBody>
      </p:sp>
      <p:sp>
        <p:nvSpPr>
          <p:cNvPr id="7" name="Text strana 46, řádek 5">
            <a:extLst>
              <a:ext uri="{FF2B5EF4-FFF2-40B4-BE49-F238E27FC236}">
                <a16:creationId xmlns:a16="http://schemas.microsoft.com/office/drawing/2014/main" id="{58AE7D1D-AD41-4C88-8F25-D3450224E15D}"/>
              </a:ext>
            </a:extLst>
          </p:cNvPr>
          <p:cNvSpPr>
            <a:spLocks noGrp="1"/>
          </p:cNvSpPr>
          <p:nvPr/>
        </p:nvSpPr>
        <p:spPr>
          <a:xfrm>
            <a:off x="3298825" y="5060617"/>
            <a:ext cx="1322038" cy="197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proposition</a:t>
            </a:r>
          </a:p>
        </p:txBody>
      </p:sp>
      <p:sp>
        <p:nvSpPr>
          <p:cNvPr id="8" name="Text strana 46, řádek 6">
            <a:extLst>
              <a:ext uri="{FF2B5EF4-FFF2-40B4-BE49-F238E27FC236}">
                <a16:creationId xmlns:a16="http://schemas.microsoft.com/office/drawing/2014/main" id="{A5C5BFC0-F8A5-46BD-AF38-44289EA1877B}"/>
              </a:ext>
            </a:extLst>
          </p:cNvPr>
          <p:cNvSpPr>
            <a:spLocks noGrp="1"/>
          </p:cNvSpPr>
          <p:nvPr/>
        </p:nvSpPr>
        <p:spPr>
          <a:xfrm>
            <a:off x="5241036" y="4703366"/>
            <a:ext cx="938961" cy="197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Práce s </a:t>
            </a:r>
          </a:p>
        </p:txBody>
      </p:sp>
      <p:sp>
        <p:nvSpPr>
          <p:cNvPr id="9" name="Text strana 46, řádek 7">
            <a:extLst>
              <a:ext uri="{FF2B5EF4-FFF2-40B4-BE49-F238E27FC236}">
                <a16:creationId xmlns:a16="http://schemas.microsoft.com/office/drawing/2014/main" id="{6E880BA1-0C79-43E5-BDEB-8764F630D9ED}"/>
              </a:ext>
            </a:extLst>
          </p:cNvPr>
          <p:cNvSpPr>
            <a:spLocks noGrp="1"/>
          </p:cNvSpPr>
          <p:nvPr/>
        </p:nvSpPr>
        <p:spPr>
          <a:xfrm>
            <a:off x="5096891" y="4941745"/>
            <a:ext cx="1269700" cy="197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akvizičním </a:t>
            </a:r>
          </a:p>
        </p:txBody>
      </p:sp>
      <p:sp>
        <p:nvSpPr>
          <p:cNvPr id="10" name="Text strana 46, řádek 8">
            <a:extLst>
              <a:ext uri="{FF2B5EF4-FFF2-40B4-BE49-F238E27FC236}">
                <a16:creationId xmlns:a16="http://schemas.microsoft.com/office/drawing/2014/main" id="{0D054903-DB4F-4937-9B57-EA63C3D54EBF}"/>
              </a:ext>
            </a:extLst>
          </p:cNvPr>
          <p:cNvSpPr>
            <a:spLocks noGrp="1"/>
          </p:cNvSpPr>
          <p:nvPr/>
        </p:nvSpPr>
        <p:spPr>
          <a:xfrm>
            <a:off x="5088001" y="5180251"/>
            <a:ext cx="1229648" cy="197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prostorem</a:t>
            </a:r>
          </a:p>
        </p:txBody>
      </p:sp>
      <p:sp>
        <p:nvSpPr>
          <p:cNvPr id="11" name="Text strana 46, řádek 9">
            <a:extLst>
              <a:ext uri="{FF2B5EF4-FFF2-40B4-BE49-F238E27FC236}">
                <a16:creationId xmlns:a16="http://schemas.microsoft.com/office/drawing/2014/main" id="{62F0D244-4FB1-4A7C-839F-25B2E638D788}"/>
              </a:ext>
            </a:extLst>
          </p:cNvPr>
          <p:cNvSpPr>
            <a:spLocks noGrp="1"/>
          </p:cNvSpPr>
          <p:nvPr/>
        </p:nvSpPr>
        <p:spPr>
          <a:xfrm>
            <a:off x="6801231" y="4940856"/>
            <a:ext cx="1312948" cy="197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Akviziční cíl</a:t>
            </a:r>
          </a:p>
        </p:txBody>
      </p:sp>
      <p:sp>
        <p:nvSpPr>
          <p:cNvPr id="12" name="Text strana 46, řádek 10">
            <a:extLst>
              <a:ext uri="{FF2B5EF4-FFF2-40B4-BE49-F238E27FC236}">
                <a16:creationId xmlns:a16="http://schemas.microsoft.com/office/drawing/2014/main" id="{87BB7867-EBCA-4899-9AAD-36252BBD883B}"/>
              </a:ext>
            </a:extLst>
          </p:cNvPr>
          <p:cNvSpPr>
            <a:spLocks noGrp="1"/>
          </p:cNvSpPr>
          <p:nvPr/>
        </p:nvSpPr>
        <p:spPr>
          <a:xfrm>
            <a:off x="8536559" y="4940856"/>
            <a:ext cx="1339242" cy="197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Zahřívací cíl</a:t>
            </a:r>
          </a:p>
        </p:txBody>
      </p:sp>
      <p:sp>
        <p:nvSpPr>
          <p:cNvPr id="13" name="Text strana 46, řádek 11">
            <a:extLst>
              <a:ext uri="{FF2B5EF4-FFF2-40B4-BE49-F238E27FC236}">
                <a16:creationId xmlns:a16="http://schemas.microsoft.com/office/drawing/2014/main" id="{E7763537-E1F8-4724-BA08-638651BE8F1F}"/>
              </a:ext>
            </a:extLst>
          </p:cNvPr>
          <p:cNvSpPr>
            <a:spLocks noGrp="1"/>
          </p:cNvSpPr>
          <p:nvPr/>
        </p:nvSpPr>
        <p:spPr>
          <a:xfrm>
            <a:off x="10302494" y="4940856"/>
            <a:ext cx="1303610" cy="197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Tranzitní cíl</a:t>
            </a:r>
          </a:p>
        </p:txBody>
      </p:sp>
      <p:sp>
        <p:nvSpPr>
          <p:cNvPr id="17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Strategická segmentace dárců</a:t>
            </a:r>
            <a:endParaRPr lang="cs-CZ" sz="3150"/>
          </a:p>
        </p:txBody>
      </p:sp>
      <p:sp>
        <p:nvSpPr>
          <p:cNvPr id="18" name="Text"/>
          <p:cNvSpPr txBox="1"/>
          <p:nvPr/>
        </p:nvSpPr>
        <p:spPr>
          <a:xfrm>
            <a:off x="722376" y="201168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 nejlépe</a:t>
            </a: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vytipovat, prozkoumat, oslovit a získat potenciální dárce a jak s nimi dále rozvíjet vztah a vzájemnou důvěru?</a:t>
            </a:r>
            <a:endParaRPr lang="cs-CZ" sz="1800"/>
          </a:p>
        </p:txBody>
      </p:sp>
    </p:spTree>
    <p:extLst>
      <p:ext uri="{BB962C8B-B14F-4D97-AF65-F5344CB8AC3E}">
        <p14:creationId xmlns:p14="http://schemas.microsoft.com/office/powerpoint/2010/main" val="1035690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fický objekt 25">
            <a:extLst>
              <a:ext uri="{FF2B5EF4-FFF2-40B4-BE49-F238E27FC236}">
                <a16:creationId xmlns:a16="http://schemas.microsoft.com/office/drawing/2014/main" id="{094F9836-8962-4055-88D8-F108929A26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27BB0BF8-5D96-4DD4-8DFF-C78E133E9C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strana 47, řádek 2">
            <a:extLst>
              <a:ext uri="{FF2B5EF4-FFF2-40B4-BE49-F238E27FC236}">
                <a16:creationId xmlns:a16="http://schemas.microsoft.com/office/drawing/2014/main" id="{A60862B2-1114-4CA2-B626-D9654E400DE1}"/>
              </a:ext>
            </a:extLst>
          </p:cNvPr>
          <p:cNvSpPr>
            <a:spLocks noGrp="1"/>
          </p:cNvSpPr>
          <p:nvPr/>
        </p:nvSpPr>
        <p:spPr>
          <a:xfrm>
            <a:off x="5586730" y="2906792"/>
            <a:ext cx="729528" cy="1889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35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Value </a:t>
            </a:r>
          </a:p>
        </p:txBody>
      </p:sp>
      <p:sp>
        <p:nvSpPr>
          <p:cNvPr id="5" name="Text strana 47, řádek 3">
            <a:extLst>
              <a:ext uri="{FF2B5EF4-FFF2-40B4-BE49-F238E27FC236}">
                <a16:creationId xmlns:a16="http://schemas.microsoft.com/office/drawing/2014/main" id="{CC96F608-3EC4-4896-BCBE-74C60B76B7DF}"/>
              </a:ext>
            </a:extLst>
          </p:cNvPr>
          <p:cNvSpPr>
            <a:spLocks noGrp="1"/>
          </p:cNvSpPr>
          <p:nvPr/>
        </p:nvSpPr>
        <p:spPr>
          <a:xfrm>
            <a:off x="5358765" y="3116596"/>
            <a:ext cx="1186842" cy="1889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35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proposition</a:t>
            </a:r>
          </a:p>
        </p:txBody>
      </p:sp>
      <p:sp>
        <p:nvSpPr>
          <p:cNvPr id="6" name="Text strana 47, řádek 4">
            <a:extLst>
              <a:ext uri="{FF2B5EF4-FFF2-40B4-BE49-F238E27FC236}">
                <a16:creationId xmlns:a16="http://schemas.microsoft.com/office/drawing/2014/main" id="{CD32B87F-F848-4982-9B8A-46B9FA34F210}"/>
              </a:ext>
            </a:extLst>
          </p:cNvPr>
          <p:cNvSpPr>
            <a:spLocks noGrp="1"/>
          </p:cNvSpPr>
          <p:nvPr/>
        </p:nvSpPr>
        <p:spPr>
          <a:xfrm>
            <a:off x="4986909" y="4267597"/>
            <a:ext cx="4948028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Vyjádření jedinečné hodnoty, kterou produkt </a:t>
            </a:r>
          </a:p>
        </p:txBody>
      </p:sp>
      <p:sp>
        <p:nvSpPr>
          <p:cNvPr id="7" name="Text strana 47, řádek 5">
            <a:extLst>
              <a:ext uri="{FF2B5EF4-FFF2-40B4-BE49-F238E27FC236}">
                <a16:creationId xmlns:a16="http://schemas.microsoft.com/office/drawing/2014/main" id="{CEEEA7C5-866C-4888-880A-027B1FDAE82A}"/>
              </a:ext>
            </a:extLst>
          </p:cNvPr>
          <p:cNvSpPr>
            <a:spLocks noGrp="1"/>
          </p:cNvSpPr>
          <p:nvPr/>
        </p:nvSpPr>
        <p:spPr>
          <a:xfrm>
            <a:off x="5099685" y="4544203"/>
            <a:ext cx="4693436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přináší zákazníkům. Co je ta ideální změna, </a:t>
            </a:r>
          </a:p>
        </p:txBody>
      </p:sp>
      <p:sp>
        <p:nvSpPr>
          <p:cNvPr id="8" name="Text strana 47, řádek 6">
            <a:extLst>
              <a:ext uri="{FF2B5EF4-FFF2-40B4-BE49-F238E27FC236}">
                <a16:creationId xmlns:a16="http://schemas.microsoft.com/office/drawing/2014/main" id="{1082308E-9543-4014-A2EE-4AB70994BE5D}"/>
              </a:ext>
            </a:extLst>
          </p:cNvPr>
          <p:cNvSpPr>
            <a:spLocks noGrp="1"/>
          </p:cNvSpPr>
          <p:nvPr/>
        </p:nvSpPr>
        <p:spPr>
          <a:xfrm>
            <a:off x="5089271" y="4820936"/>
            <a:ext cx="4670875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kterou chceme tímto produktem způsobit?</a:t>
            </a:r>
          </a:p>
        </p:txBody>
      </p:sp>
      <p:sp>
        <p:nvSpPr>
          <p:cNvPr id="9" name="Text strana 47, řádek 7">
            <a:extLst>
              <a:ext uri="{FF2B5EF4-FFF2-40B4-BE49-F238E27FC236}">
                <a16:creationId xmlns:a16="http://schemas.microsoft.com/office/drawing/2014/main" id="{6B9C586A-1EC1-4054-82FF-06100B9B737C}"/>
              </a:ext>
            </a:extLst>
          </p:cNvPr>
          <p:cNvSpPr>
            <a:spLocks noGrp="1"/>
          </p:cNvSpPr>
          <p:nvPr/>
        </p:nvSpPr>
        <p:spPr>
          <a:xfrm>
            <a:off x="3246755" y="6041628"/>
            <a:ext cx="680058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Morální </a:t>
            </a:r>
          </a:p>
        </p:txBody>
      </p:sp>
      <p:sp>
        <p:nvSpPr>
          <p:cNvPr id="10" name="Text strana 47, řádek 8">
            <a:extLst>
              <a:ext uri="{FF2B5EF4-FFF2-40B4-BE49-F238E27FC236}">
                <a16:creationId xmlns:a16="http://schemas.microsoft.com/office/drawing/2014/main" id="{A2311432-49D9-4F8D-BC24-B7990042741A}"/>
              </a:ext>
            </a:extLst>
          </p:cNvPr>
          <p:cNvSpPr>
            <a:spLocks noGrp="1"/>
          </p:cNvSpPr>
          <p:nvPr/>
        </p:nvSpPr>
        <p:spPr>
          <a:xfrm>
            <a:off x="3193161" y="6185059"/>
            <a:ext cx="796826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povinnost </a:t>
            </a:r>
          </a:p>
        </p:txBody>
      </p:sp>
      <p:sp>
        <p:nvSpPr>
          <p:cNvPr id="11" name="Text strana 47, řádek 9">
            <a:extLst>
              <a:ext uri="{FF2B5EF4-FFF2-40B4-BE49-F238E27FC236}">
                <a16:creationId xmlns:a16="http://schemas.microsoft.com/office/drawing/2014/main" id="{FC9BCE5D-145A-4898-B337-C0544D1E63C8}"/>
              </a:ext>
            </a:extLst>
          </p:cNvPr>
          <p:cNvSpPr>
            <a:spLocks noGrp="1"/>
          </p:cNvSpPr>
          <p:nvPr/>
        </p:nvSpPr>
        <p:spPr>
          <a:xfrm>
            <a:off x="4408170" y="6111478"/>
            <a:ext cx="435766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Ego </a:t>
            </a:r>
          </a:p>
        </p:txBody>
      </p:sp>
      <p:sp>
        <p:nvSpPr>
          <p:cNvPr id="12" name="Text strana 47, řádek 10">
            <a:extLst>
              <a:ext uri="{FF2B5EF4-FFF2-40B4-BE49-F238E27FC236}">
                <a16:creationId xmlns:a16="http://schemas.microsoft.com/office/drawing/2014/main" id="{0414BF53-6C2C-46C0-A009-F966E6AF3FCA}"/>
              </a:ext>
            </a:extLst>
          </p:cNvPr>
          <p:cNvSpPr>
            <a:spLocks noGrp="1"/>
          </p:cNvSpPr>
          <p:nvPr/>
        </p:nvSpPr>
        <p:spPr>
          <a:xfrm>
            <a:off x="5186934" y="6111478"/>
            <a:ext cx="1042256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Protože známí </a:t>
            </a:r>
          </a:p>
        </p:txBody>
      </p:sp>
      <p:sp>
        <p:nvSpPr>
          <p:cNvPr id="13" name="Text strana 47, řádek 11">
            <a:extLst>
              <a:ext uri="{FF2B5EF4-FFF2-40B4-BE49-F238E27FC236}">
                <a16:creationId xmlns:a16="http://schemas.microsoft.com/office/drawing/2014/main" id="{27B88D43-746F-4A2E-9EBB-050502725D06}"/>
              </a:ext>
            </a:extLst>
          </p:cNvPr>
          <p:cNvSpPr>
            <a:spLocks noGrp="1"/>
          </p:cNvSpPr>
          <p:nvPr/>
        </p:nvSpPr>
        <p:spPr>
          <a:xfrm>
            <a:off x="6440805" y="6111478"/>
            <a:ext cx="596358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FOMO </a:t>
            </a:r>
          </a:p>
        </p:txBody>
      </p:sp>
      <p:sp>
        <p:nvSpPr>
          <p:cNvPr id="14" name="Text strana 47, řádek 12">
            <a:extLst>
              <a:ext uri="{FF2B5EF4-FFF2-40B4-BE49-F238E27FC236}">
                <a16:creationId xmlns:a16="http://schemas.microsoft.com/office/drawing/2014/main" id="{F6D9B1DF-21E4-43EA-BA82-2419495F53FD}"/>
              </a:ext>
            </a:extLst>
          </p:cNvPr>
          <p:cNvSpPr>
            <a:spLocks noGrp="1"/>
          </p:cNvSpPr>
          <p:nvPr/>
        </p:nvSpPr>
        <p:spPr>
          <a:xfrm>
            <a:off x="7486269" y="5971778"/>
            <a:ext cx="616378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Vlastní </a:t>
            </a:r>
          </a:p>
        </p:txBody>
      </p:sp>
      <p:sp>
        <p:nvSpPr>
          <p:cNvPr id="15" name="Text strana 47, řádek 13">
            <a:extLst>
              <a:ext uri="{FF2B5EF4-FFF2-40B4-BE49-F238E27FC236}">
                <a16:creationId xmlns:a16="http://schemas.microsoft.com/office/drawing/2014/main" id="{6D7532AF-E744-4A1A-8EBA-1223A720878A}"/>
              </a:ext>
            </a:extLst>
          </p:cNvPr>
          <p:cNvSpPr>
            <a:spLocks noGrp="1"/>
          </p:cNvSpPr>
          <p:nvPr/>
        </p:nvSpPr>
        <p:spPr>
          <a:xfrm>
            <a:off x="7365365" y="6115209"/>
            <a:ext cx="882534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zkušenost s </a:t>
            </a:r>
          </a:p>
        </p:txBody>
      </p:sp>
      <p:sp>
        <p:nvSpPr>
          <p:cNvPr id="16" name="Text strana 47, řádek 14">
            <a:extLst>
              <a:ext uri="{FF2B5EF4-FFF2-40B4-BE49-F238E27FC236}">
                <a16:creationId xmlns:a16="http://schemas.microsoft.com/office/drawing/2014/main" id="{48152B0B-FCC7-4502-A599-A0DD86A3F819}"/>
              </a:ext>
            </a:extLst>
          </p:cNvPr>
          <p:cNvSpPr>
            <a:spLocks noGrp="1"/>
          </p:cNvSpPr>
          <p:nvPr/>
        </p:nvSpPr>
        <p:spPr>
          <a:xfrm>
            <a:off x="7407656" y="6248321"/>
            <a:ext cx="759171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tématem.</a:t>
            </a:r>
          </a:p>
        </p:txBody>
      </p:sp>
      <p:sp>
        <p:nvSpPr>
          <p:cNvPr id="17" name="Text strana 47, řádek 15">
            <a:extLst>
              <a:ext uri="{FF2B5EF4-FFF2-40B4-BE49-F238E27FC236}">
                <a16:creationId xmlns:a16="http://schemas.microsoft.com/office/drawing/2014/main" id="{5D376E8E-A011-4EC6-A1A3-685823F65924}"/>
              </a:ext>
            </a:extLst>
          </p:cNvPr>
          <p:cNvSpPr>
            <a:spLocks noGrp="1"/>
          </p:cNvSpPr>
          <p:nvPr/>
        </p:nvSpPr>
        <p:spPr>
          <a:xfrm>
            <a:off x="8486140" y="5971778"/>
            <a:ext cx="733032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Důvěra v </a:t>
            </a:r>
          </a:p>
        </p:txBody>
      </p:sp>
      <p:sp>
        <p:nvSpPr>
          <p:cNvPr id="18" name="Text strana 47, řádek 16">
            <a:extLst>
              <a:ext uri="{FF2B5EF4-FFF2-40B4-BE49-F238E27FC236}">
                <a16:creationId xmlns:a16="http://schemas.microsoft.com/office/drawing/2014/main" id="{0340603C-7638-42A8-812E-AB04DB86F77A}"/>
              </a:ext>
            </a:extLst>
          </p:cNvPr>
          <p:cNvSpPr>
            <a:spLocks noGrp="1"/>
          </p:cNvSpPr>
          <p:nvPr/>
        </p:nvSpPr>
        <p:spPr>
          <a:xfrm>
            <a:off x="8408670" y="6115209"/>
            <a:ext cx="904027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organizaci a </a:t>
            </a:r>
          </a:p>
        </p:txBody>
      </p:sp>
      <p:sp>
        <p:nvSpPr>
          <p:cNvPr id="19" name="Text strana 47, řádek 17">
            <a:extLst>
              <a:ext uri="{FF2B5EF4-FFF2-40B4-BE49-F238E27FC236}">
                <a16:creationId xmlns:a16="http://schemas.microsoft.com/office/drawing/2014/main" id="{C3576019-874E-47A3-A984-F8A236C80DED}"/>
              </a:ext>
            </a:extLst>
          </p:cNvPr>
          <p:cNvSpPr>
            <a:spLocks noGrp="1"/>
          </p:cNvSpPr>
          <p:nvPr/>
        </p:nvSpPr>
        <p:spPr>
          <a:xfrm>
            <a:off x="8433181" y="6248321"/>
            <a:ext cx="821742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její konání.</a:t>
            </a:r>
          </a:p>
        </p:txBody>
      </p:sp>
      <p:sp>
        <p:nvSpPr>
          <p:cNvPr id="20" name="Text strana 47, řádek 18">
            <a:extLst>
              <a:ext uri="{FF2B5EF4-FFF2-40B4-BE49-F238E27FC236}">
                <a16:creationId xmlns:a16="http://schemas.microsoft.com/office/drawing/2014/main" id="{946FEFF3-B724-49C4-9B16-F1355BEB557A}"/>
              </a:ext>
            </a:extLst>
          </p:cNvPr>
          <p:cNvSpPr>
            <a:spLocks noGrp="1"/>
          </p:cNvSpPr>
          <p:nvPr/>
        </p:nvSpPr>
        <p:spPr>
          <a:xfrm>
            <a:off x="9597644" y="6111478"/>
            <a:ext cx="605396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Dopad </a:t>
            </a:r>
          </a:p>
        </p:txBody>
      </p:sp>
      <p:sp>
        <p:nvSpPr>
          <p:cNvPr id="21" name="Text strana 47, řádek 19">
            <a:extLst>
              <a:ext uri="{FF2B5EF4-FFF2-40B4-BE49-F238E27FC236}">
                <a16:creationId xmlns:a16="http://schemas.microsoft.com/office/drawing/2014/main" id="{A79027FE-2BEC-43F6-88E9-B9B28A59747F}"/>
              </a:ext>
            </a:extLst>
          </p:cNvPr>
          <p:cNvSpPr>
            <a:spLocks noGrp="1"/>
          </p:cNvSpPr>
          <p:nvPr/>
        </p:nvSpPr>
        <p:spPr>
          <a:xfrm>
            <a:off x="10458831" y="5971778"/>
            <a:ext cx="1031412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Mohu pomoci </a:t>
            </a:r>
          </a:p>
        </p:txBody>
      </p:sp>
      <p:sp>
        <p:nvSpPr>
          <p:cNvPr id="22" name="Text strana 47, řádek 20">
            <a:extLst>
              <a:ext uri="{FF2B5EF4-FFF2-40B4-BE49-F238E27FC236}">
                <a16:creationId xmlns:a16="http://schemas.microsoft.com/office/drawing/2014/main" id="{F3D10140-CC48-41DC-B821-F83DFC72A1B9}"/>
              </a:ext>
            </a:extLst>
          </p:cNvPr>
          <p:cNvSpPr>
            <a:spLocks noGrp="1"/>
          </p:cNvSpPr>
          <p:nvPr/>
        </p:nvSpPr>
        <p:spPr>
          <a:xfrm>
            <a:off x="10543286" y="6115209"/>
            <a:ext cx="839264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dosáhnout </a:t>
            </a:r>
          </a:p>
        </p:txBody>
      </p:sp>
      <p:sp>
        <p:nvSpPr>
          <p:cNvPr id="23" name="Text strana 47, řádek 21">
            <a:extLst>
              <a:ext uri="{FF2B5EF4-FFF2-40B4-BE49-F238E27FC236}">
                <a16:creationId xmlns:a16="http://schemas.microsoft.com/office/drawing/2014/main" id="{4383023E-2D71-468A-8010-79158FDFC92A}"/>
              </a:ext>
            </a:extLst>
          </p:cNvPr>
          <p:cNvSpPr>
            <a:spLocks noGrp="1"/>
          </p:cNvSpPr>
          <p:nvPr/>
        </p:nvSpPr>
        <p:spPr>
          <a:xfrm>
            <a:off x="10730865" y="6248321"/>
            <a:ext cx="391273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cílů</a:t>
            </a:r>
          </a:p>
        </p:txBody>
      </p:sp>
      <p:sp>
        <p:nvSpPr>
          <p:cNvPr id="24" name="Text strana 47, řádek 22">
            <a:extLst>
              <a:ext uri="{FF2B5EF4-FFF2-40B4-BE49-F238E27FC236}">
                <a16:creationId xmlns:a16="http://schemas.microsoft.com/office/drawing/2014/main" id="{72D8563E-968F-4DF4-AF82-3BCC4DFF8478}"/>
              </a:ext>
            </a:extLst>
          </p:cNvPr>
          <p:cNvSpPr>
            <a:spLocks noGrp="1"/>
          </p:cNvSpPr>
          <p:nvPr/>
        </p:nvSpPr>
        <p:spPr>
          <a:xfrm>
            <a:off x="911225" y="5903675"/>
            <a:ext cx="1666439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Proč dárci </a:t>
            </a:r>
          </a:p>
        </p:txBody>
      </p:sp>
      <p:sp>
        <p:nvSpPr>
          <p:cNvPr id="25" name="Text strana 47, řádek 23">
            <a:extLst>
              <a:ext uri="{FF2B5EF4-FFF2-40B4-BE49-F238E27FC236}">
                <a16:creationId xmlns:a16="http://schemas.microsoft.com/office/drawing/2014/main" id="{1BB5C685-BDF6-4531-A80B-A054E9A6DF97}"/>
              </a:ext>
            </a:extLst>
          </p:cNvPr>
          <p:cNvSpPr>
            <a:spLocks noGrp="1"/>
          </p:cNvSpPr>
          <p:nvPr/>
        </p:nvSpPr>
        <p:spPr>
          <a:xfrm>
            <a:off x="911225" y="6265942"/>
            <a:ext cx="1181180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168F92"/>
                </a:solidFill>
                <a:latin typeface="Arial"/>
                <a:ea typeface="Arial"/>
                <a:cs typeface="Arial"/>
              </a:rPr>
              <a:t>darují?</a:t>
            </a:r>
          </a:p>
        </p:txBody>
      </p:sp>
      <p:sp>
        <p:nvSpPr>
          <p:cNvPr id="27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Strategická segmentace dárců</a:t>
            </a:r>
            <a:endParaRPr lang="cs-CZ" sz="3150"/>
          </a:p>
        </p:txBody>
      </p:sp>
    </p:spTree>
    <p:extLst>
      <p:ext uri="{BB962C8B-B14F-4D97-AF65-F5344CB8AC3E}">
        <p14:creationId xmlns:p14="http://schemas.microsoft.com/office/powerpoint/2010/main" val="3801033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32BE61BD-871D-48A0-B3A7-96BCED0C5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14975" y="1261852"/>
            <a:ext cx="5838825" cy="5210597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5437D474-FE22-4519-98DF-736BFD2C26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Nadpis"/>
          <p:cNvSpPr txBox="1"/>
          <p:nvPr/>
        </p:nvSpPr>
        <p:spPr>
          <a:xfrm>
            <a:off x="723900" y="566928"/>
            <a:ext cx="4572000" cy="856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cs-CZ" sz="2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Segmentace stávajících dárců</a:t>
            </a:r>
            <a:endParaRPr lang="cs-CZ" sz="2800"/>
          </a:p>
        </p:txBody>
      </p:sp>
    </p:spTree>
    <p:extLst>
      <p:ext uri="{BB962C8B-B14F-4D97-AF65-F5344CB8AC3E}">
        <p14:creationId xmlns:p14="http://schemas.microsoft.com/office/powerpoint/2010/main" val="1211594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rkysová horní linka">
            <a:extLst>
              <a:ext uri="{FF2B5EF4-FFF2-40B4-BE49-F238E27FC236}">
                <a16:creationId xmlns:a16="http://schemas.microsoft.com/office/drawing/2014/main" id="{E7083D96-B2F0-4E13-BC3D-A015C6D6BF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Strategická segmentace: Typy fundraisingu dle dárců</a:t>
            </a:r>
            <a:endParaRPr lang="cs-CZ" sz="2800"/>
          </a:p>
        </p:txBody>
      </p:sp>
      <p:sp>
        <p:nvSpPr>
          <p:cNvPr id="10" name="Karta 1"/>
          <p:cNvSpPr txBox="1"/>
          <p:nvPr/>
        </p:nvSpPr>
        <p:spPr>
          <a:xfrm>
            <a:off x="722376" y="1920240"/>
            <a:ext cx="5234940" cy="1828800"/>
          </a:xfrm>
          <a:prstGeom prst="roundRect">
            <a:avLst>
              <a:gd name="adj" fmla="val 8000"/>
            </a:avLst>
          </a:prstGeom>
          <a:solidFill>
            <a:srgbClr val="E3F1F1"/>
          </a:solidFill>
          <a:ln>
            <a:noFill/>
          </a:ln>
        </p:spPr>
        <p:txBody>
          <a:bodyPr wrap="square" lIns="228600" tIns="137160" rIns="228600" bIns="13716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1. Velcí dárci</a:t>
            </a:r>
            <a:endParaRPr lang="cs-CZ" sz="2400"/>
          </a:p>
        </p:txBody>
      </p:sp>
      <p:sp>
        <p:nvSpPr>
          <p:cNvPr id="11" name="Karta 2"/>
          <p:cNvSpPr txBox="1"/>
          <p:nvPr/>
        </p:nvSpPr>
        <p:spPr>
          <a:xfrm>
            <a:off x="6231636" y="1920240"/>
            <a:ext cx="5234940" cy="1828800"/>
          </a:xfrm>
          <a:prstGeom prst="roundRect">
            <a:avLst>
              <a:gd name="adj" fmla="val 8000"/>
            </a:avLst>
          </a:prstGeom>
          <a:solidFill>
            <a:srgbClr val="E3F1F1"/>
          </a:solidFill>
          <a:ln>
            <a:noFill/>
          </a:ln>
        </p:spPr>
        <p:txBody>
          <a:bodyPr wrap="square" lIns="228600" tIns="137160" rIns="228600" bIns="13716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2.</a:t>
            </a: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Firemní dárci</a:t>
            </a:r>
            <a:endParaRPr lang="cs-CZ" sz="2400"/>
          </a:p>
        </p:txBody>
      </p:sp>
      <p:sp>
        <p:nvSpPr>
          <p:cNvPr id="12" name="Karta 3"/>
          <p:cNvSpPr txBox="1"/>
          <p:nvPr/>
        </p:nvSpPr>
        <p:spPr>
          <a:xfrm>
            <a:off x="722376" y="4023360"/>
            <a:ext cx="5234940" cy="1828800"/>
          </a:xfrm>
          <a:prstGeom prst="roundRect">
            <a:avLst>
              <a:gd name="adj" fmla="val 8000"/>
            </a:avLst>
          </a:prstGeom>
          <a:solidFill>
            <a:srgbClr val="E3F1F1"/>
          </a:solidFill>
          <a:ln>
            <a:noFill/>
          </a:ln>
        </p:spPr>
        <p:txBody>
          <a:bodyPr wrap="square" lIns="228600" tIns="137160" rIns="228600" bIns="13716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3. Drobní dárci</a:t>
            </a:r>
            <a:endParaRPr lang="cs-CZ" sz="2400"/>
          </a:p>
        </p:txBody>
      </p:sp>
      <p:sp>
        <p:nvSpPr>
          <p:cNvPr id="13" name="Karta 4"/>
          <p:cNvSpPr txBox="1"/>
          <p:nvPr/>
        </p:nvSpPr>
        <p:spPr>
          <a:xfrm>
            <a:off x="6231636" y="4023360"/>
            <a:ext cx="5234940" cy="1828800"/>
          </a:xfrm>
          <a:prstGeom prst="roundRect">
            <a:avLst>
              <a:gd name="adj" fmla="val 8000"/>
            </a:avLst>
          </a:prstGeom>
          <a:solidFill>
            <a:srgbClr val="E3F1F1"/>
          </a:solidFill>
          <a:ln>
            <a:noFill/>
          </a:ln>
        </p:spPr>
        <p:txBody>
          <a:bodyPr wrap="square" lIns="228600" tIns="137160" rIns="228600" bIns="13716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cs-CZ" sz="2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4. Mezinárodní nadace a granty</a:t>
            </a:r>
            <a:endParaRPr lang="cs-CZ" sz="2400"/>
          </a:p>
        </p:txBody>
      </p:sp>
    </p:spTree>
    <p:extLst>
      <p:ext uri="{BB962C8B-B14F-4D97-AF65-F5344CB8AC3E}">
        <p14:creationId xmlns:p14="http://schemas.microsoft.com/office/powerpoint/2010/main" val="11192726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14970405-A097-4A79-AD8D-2B5CDFF4A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0500" y="647700"/>
            <a:ext cx="9271000" cy="5562600"/>
          </a:xfrm>
          <a:prstGeom prst="rect">
            <a:avLst/>
          </a:prstGeom>
        </p:spPr>
      </p:pic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20161818-7A61-491D-AA18-CCDCEAAC66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677C0561-B254-4EDB-AD54-1C28819CD4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0511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AA774CD7-AC0E-4909-A8C1-55B7822E9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9874" y="876300"/>
            <a:ext cx="10892253" cy="5105400"/>
          </a:xfrm>
          <a:prstGeom prst="rect">
            <a:avLst/>
          </a:prstGeom>
        </p:spPr>
      </p:pic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BB2EAF0E-6426-4D74-BB36-B63730592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7E1C3468-2760-40D8-B3C1-50E7652E55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strana 51, řádek 1">
            <a:extLst>
              <a:ext uri="{FF2B5EF4-FFF2-40B4-BE49-F238E27FC236}">
                <a16:creationId xmlns:a16="http://schemas.microsoft.com/office/drawing/2014/main" id="{ECB1DEBC-034E-4932-B159-CC041289CE42}"/>
              </a:ext>
            </a:extLst>
          </p:cNvPr>
          <p:cNvSpPr>
            <a:spLocks noGrp="1"/>
          </p:cNvSpPr>
          <p:nvPr/>
        </p:nvSpPr>
        <p:spPr>
          <a:xfrm>
            <a:off x="511810" y="450866"/>
            <a:ext cx="1264764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KAMPANĚ</a:t>
            </a:r>
          </a:p>
        </p:txBody>
      </p:sp>
      <p:sp>
        <p:nvSpPr>
          <p:cNvPr id="5" name="Text strana 51, řádek 2">
            <a:extLst>
              <a:ext uri="{FF2B5EF4-FFF2-40B4-BE49-F238E27FC236}">
                <a16:creationId xmlns:a16="http://schemas.microsoft.com/office/drawing/2014/main" id="{11306374-4512-488B-87EC-9A42D8705CB7}"/>
              </a:ext>
            </a:extLst>
          </p:cNvPr>
          <p:cNvSpPr>
            <a:spLocks noGrp="1"/>
          </p:cNvSpPr>
          <p:nvPr/>
        </p:nvSpPr>
        <p:spPr>
          <a:xfrm>
            <a:off x="6705981" y="2846467"/>
            <a:ext cx="837880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MAILY</a:t>
            </a:r>
          </a:p>
        </p:txBody>
      </p:sp>
      <p:sp>
        <p:nvSpPr>
          <p:cNvPr id="6" name="Text strana 51, řádek 3">
            <a:extLst>
              <a:ext uri="{FF2B5EF4-FFF2-40B4-BE49-F238E27FC236}">
                <a16:creationId xmlns:a16="http://schemas.microsoft.com/office/drawing/2014/main" id="{579C3BCF-9DD1-450A-B419-A1021C23062E}"/>
              </a:ext>
            </a:extLst>
          </p:cNvPr>
          <p:cNvSpPr>
            <a:spLocks noGrp="1"/>
          </p:cNvSpPr>
          <p:nvPr/>
        </p:nvSpPr>
        <p:spPr>
          <a:xfrm>
            <a:off x="3528695" y="5292487"/>
            <a:ext cx="2132636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TELEFUNDRAISING</a:t>
            </a:r>
          </a:p>
        </p:txBody>
      </p:sp>
      <p:sp>
        <p:nvSpPr>
          <p:cNvPr id="7" name="Text strana 51, řádek 4">
            <a:extLst>
              <a:ext uri="{FF2B5EF4-FFF2-40B4-BE49-F238E27FC236}">
                <a16:creationId xmlns:a16="http://schemas.microsoft.com/office/drawing/2014/main" id="{EF1FA8A4-B1FC-409A-953F-9BF2E874319E}"/>
              </a:ext>
            </a:extLst>
          </p:cNvPr>
          <p:cNvSpPr>
            <a:spLocks noGrp="1"/>
          </p:cNvSpPr>
          <p:nvPr/>
        </p:nvSpPr>
        <p:spPr>
          <a:xfrm>
            <a:off x="7915910" y="5700475"/>
            <a:ext cx="1949834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OSOBNÍ SETKÁNÍ</a:t>
            </a:r>
          </a:p>
        </p:txBody>
      </p:sp>
    </p:spTree>
    <p:extLst>
      <p:ext uri="{BB962C8B-B14F-4D97-AF65-F5344CB8AC3E}">
        <p14:creationId xmlns:p14="http://schemas.microsoft.com/office/powerpoint/2010/main" val="662560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6E3AC14A-2D09-406F-BC3E-56D10D674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" y="228600"/>
            <a:ext cx="12115800" cy="64008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C2FA9D9A-DFDD-4EE9-89E5-4C42FFB720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8487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7C1FA3B-D1A9-4D7F-98D7-E6A35D876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563" y="0"/>
            <a:ext cx="12146875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EB219558-101F-41DB-9DD0-68218C1ECD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879074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yrkysová horní linka">
            <a:extLst>
              <a:ext uri="{FF2B5EF4-FFF2-40B4-BE49-F238E27FC236}">
                <a16:creationId xmlns:a16="http://schemas.microsoft.com/office/drawing/2014/main" id="{F4632388-F47F-415F-BE21-E879348CA6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Neprodávám produkt ale řeším problém</a:t>
            </a:r>
            <a:endParaRPr lang="cs-CZ" sz="3150"/>
          </a:p>
        </p:txBody>
      </p:sp>
      <p:sp>
        <p:nvSpPr>
          <p:cNvPr id="12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Nevysvětluj jak skvělý máš produkt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Zjisti problém zákazníka a ukaž jak ho umíš vyřešit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Když nemá zákazník problém, tak ho vytvoř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Neukazuj co zákazníka nezajímá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Neprodávej na první schůzce – buduj důvěru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Ptej se a poslouchej</a:t>
            </a:r>
            <a:endParaRPr lang="cs-CZ" sz="2200"/>
          </a:p>
          <a:p>
            <a:pPr algn="l" marL="285750" indent="-285750">
              <a:lnSpc>
                <a:spcPct val="100000"/>
              </a:lnSpc>
              <a:spcBef>
                <a:spcPts val="99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2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Mluv jazykem zákazníka, ne funkcemi produktu</a:t>
            </a:r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10058683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rkysová horní linka">
            <a:extLst>
              <a:ext uri="{FF2B5EF4-FFF2-40B4-BE49-F238E27FC236}">
                <a16:creationId xmlns:a16="http://schemas.microsoft.com/office/drawing/2014/main" id="{49090D6D-07DD-4224-AFB4-EE8337B679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6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7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8" name="Štítek"/>
          <p:cNvSpPr txBox="1"/>
          <p:nvPr/>
        </p:nvSpPr>
        <p:spPr>
          <a:xfrm>
            <a:off x="722376" y="1783080"/>
            <a:ext cx="72237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workshop lean canavas</a:t>
            </a:r>
            <a:endParaRPr lang="cs-CZ" sz="1800"/>
          </a:p>
        </p:txBody>
      </p:sp>
      <p:sp>
        <p:nvSpPr>
          <p:cNvPr id="9" name="Hlavní sdělení"/>
          <p:cNvSpPr txBox="1"/>
          <p:nvPr/>
        </p:nvSpPr>
        <p:spPr>
          <a:xfrm>
            <a:off x="722376" y="2331720"/>
            <a:ext cx="722376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4000" b="1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Jakou hodnotu_komu_nabízíš?</a:t>
            </a:r>
            <a:endParaRPr lang="cs-CZ" sz="4000"/>
          </a:p>
        </p:txBody>
      </p:sp>
    </p:spTree>
    <p:extLst>
      <p:ext uri="{BB962C8B-B14F-4D97-AF65-F5344CB8AC3E}">
        <p14:creationId xmlns:p14="http://schemas.microsoft.com/office/powerpoint/2010/main" val="1685468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4F428517-EE6D-4534-8B1A-5B235714D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976"/>
            <a:ext cx="11391900" cy="6854048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FA3FFB9D-5D2F-466C-8ECA-97F08C8A04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53125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cký objekt 13">
            <a:extLst>
              <a:ext uri="{FF2B5EF4-FFF2-40B4-BE49-F238E27FC236}">
                <a16:creationId xmlns:a16="http://schemas.microsoft.com/office/drawing/2014/main" id="{86809C59-468D-4E1B-A80B-B95A2B97B9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FECFA47C-904B-468E-A30A-096CB8F71C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strana 57, řádek 8">
            <a:extLst>
              <a:ext uri="{FF2B5EF4-FFF2-40B4-BE49-F238E27FC236}">
                <a16:creationId xmlns:a16="http://schemas.microsoft.com/office/drawing/2014/main" id="{9ADD0B63-30A8-441D-B75A-31F6A3968134}"/>
              </a:ext>
            </a:extLst>
          </p:cNvPr>
          <p:cNvSpPr>
            <a:spLocks noGrp="1"/>
          </p:cNvSpPr>
          <p:nvPr/>
        </p:nvSpPr>
        <p:spPr>
          <a:xfrm>
            <a:off x="6568440" y="2248932"/>
            <a:ext cx="1270374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Identita</a:t>
            </a:r>
          </a:p>
        </p:txBody>
      </p:sp>
      <p:sp>
        <p:nvSpPr>
          <p:cNvPr id="11" name="Text strana 57, řádek 9">
            <a:extLst>
              <a:ext uri="{FF2B5EF4-FFF2-40B4-BE49-F238E27FC236}">
                <a16:creationId xmlns:a16="http://schemas.microsoft.com/office/drawing/2014/main" id="{0572D505-EC8F-4991-BF2B-625E94C9AA88}"/>
              </a:ext>
            </a:extLst>
          </p:cNvPr>
          <p:cNvSpPr>
            <a:spLocks noGrp="1"/>
          </p:cNvSpPr>
          <p:nvPr/>
        </p:nvSpPr>
        <p:spPr>
          <a:xfrm>
            <a:off x="8048879" y="3464465"/>
            <a:ext cx="1313230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Persona</a:t>
            </a:r>
          </a:p>
        </p:txBody>
      </p:sp>
      <p:sp>
        <p:nvSpPr>
          <p:cNvPr id="12" name="Text strana 57, řádek 10">
            <a:extLst>
              <a:ext uri="{FF2B5EF4-FFF2-40B4-BE49-F238E27FC236}">
                <a16:creationId xmlns:a16="http://schemas.microsoft.com/office/drawing/2014/main" id="{6D2BAEC8-7A5B-4BDB-A2ED-2663FFC9B247}"/>
              </a:ext>
            </a:extLst>
          </p:cNvPr>
          <p:cNvSpPr>
            <a:spLocks noGrp="1"/>
          </p:cNvSpPr>
          <p:nvPr/>
        </p:nvSpPr>
        <p:spPr>
          <a:xfrm>
            <a:off x="8389620" y="5073666"/>
            <a:ext cx="1252944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Kontext</a:t>
            </a:r>
          </a:p>
        </p:txBody>
      </p:sp>
      <p:sp>
        <p:nvSpPr>
          <p:cNvPr id="13" name="Text strana 57, řádek 11">
            <a:extLst>
              <a:ext uri="{FF2B5EF4-FFF2-40B4-BE49-F238E27FC236}">
                <a16:creationId xmlns:a16="http://schemas.microsoft.com/office/drawing/2014/main" id="{DC7CE717-DDF7-47A2-A7BF-0197917D8B78}"/>
              </a:ext>
            </a:extLst>
          </p:cNvPr>
          <p:cNvSpPr>
            <a:spLocks noGrp="1"/>
          </p:cNvSpPr>
          <p:nvPr/>
        </p:nvSpPr>
        <p:spPr>
          <a:xfrm>
            <a:off x="9456801" y="2334022"/>
            <a:ext cx="1717700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Preference</a:t>
            </a:r>
          </a:p>
        </p:txBody>
      </p:sp>
      <p:sp>
        <p:nvSpPr>
          <p:cNvPr id="15" name="Nadpis"/>
          <p:cNvSpPr txBox="1"/>
          <p:nvPr/>
        </p:nvSpPr>
        <p:spPr>
          <a:xfrm>
            <a:off x="723900" y="566928"/>
            <a:ext cx="4937760" cy="16672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cs-CZ" sz="2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Komunikační kanály. MKT Strategy Canvas. Sociální sítě. Offline. Média. Word of mouth. A FR.</a:t>
            </a:r>
            <a:endParaRPr lang="cs-CZ" sz="2800"/>
          </a:p>
        </p:txBody>
      </p:sp>
    </p:spTree>
    <p:extLst>
      <p:ext uri="{BB962C8B-B14F-4D97-AF65-F5344CB8AC3E}">
        <p14:creationId xmlns:p14="http://schemas.microsoft.com/office/powerpoint/2010/main" val="1946297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yrkysová horní linka">
            <a:extLst>
              <a:ext uri="{FF2B5EF4-FFF2-40B4-BE49-F238E27FC236}">
                <a16:creationId xmlns:a16="http://schemas.microsoft.com/office/drawing/2014/main" id="{724AD687-996D-468B-9B63-6B4D8DA815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" name="Text strana 58, řádek 1">
            <a:extLst>
              <a:ext uri="{FF2B5EF4-FFF2-40B4-BE49-F238E27FC236}">
                <a16:creationId xmlns:a16="http://schemas.microsoft.com/office/drawing/2014/main" id="{3E70CB9D-C218-4B6C-A54D-02653607C84C}"/>
              </a:ext>
            </a:extLst>
          </p:cNvPr>
          <p:cNvSpPr>
            <a:spLocks noGrp="1"/>
          </p:cNvSpPr>
          <p:nvPr/>
        </p:nvSpPr>
        <p:spPr>
          <a:xfrm>
            <a:off x="3561334" y="2168033"/>
            <a:ext cx="1192462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Kategorie</a:t>
            </a:r>
          </a:p>
        </p:txBody>
      </p:sp>
      <p:sp>
        <p:nvSpPr>
          <p:cNvPr id="3" name="Text strana 58, řádek 2">
            <a:extLst>
              <a:ext uri="{FF2B5EF4-FFF2-40B4-BE49-F238E27FC236}">
                <a16:creationId xmlns:a16="http://schemas.microsoft.com/office/drawing/2014/main" id="{BDD1968C-8F2F-4216-A089-B1296D191F29}"/>
              </a:ext>
            </a:extLst>
          </p:cNvPr>
          <p:cNvSpPr>
            <a:spLocks noGrp="1"/>
          </p:cNvSpPr>
          <p:nvPr/>
        </p:nvSpPr>
        <p:spPr>
          <a:xfrm>
            <a:off x="6192139" y="2030492"/>
            <a:ext cx="1804459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Co to znamená </a:t>
            </a:r>
          </a:p>
        </p:txBody>
      </p:sp>
      <p:sp>
        <p:nvSpPr>
          <p:cNvPr id="4" name="Text strana 58, řádek 3">
            <a:extLst>
              <a:ext uri="{FF2B5EF4-FFF2-40B4-BE49-F238E27FC236}">
                <a16:creationId xmlns:a16="http://schemas.microsoft.com/office/drawing/2014/main" id="{371BFBD8-1642-42D3-BB5B-E38CEF56DC19}"/>
              </a:ext>
            </a:extLst>
          </p:cNvPr>
          <p:cNvSpPr>
            <a:spLocks noGrp="1"/>
          </p:cNvSpPr>
          <p:nvPr/>
        </p:nvSpPr>
        <p:spPr>
          <a:xfrm>
            <a:off x="6192139" y="2306971"/>
            <a:ext cx="1440134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(jednoduše)</a:t>
            </a:r>
          </a:p>
        </p:txBody>
      </p:sp>
      <p:sp>
        <p:nvSpPr>
          <p:cNvPr id="5" name="Text strana 58, řádek 4">
            <a:extLst>
              <a:ext uri="{FF2B5EF4-FFF2-40B4-BE49-F238E27FC236}">
                <a16:creationId xmlns:a16="http://schemas.microsoft.com/office/drawing/2014/main" id="{F610A383-097D-4A68-896F-C87793C80BD7}"/>
              </a:ext>
            </a:extLst>
          </p:cNvPr>
          <p:cNvSpPr>
            <a:spLocks noGrp="1"/>
          </p:cNvSpPr>
          <p:nvPr/>
        </p:nvSpPr>
        <p:spPr>
          <a:xfrm>
            <a:off x="8822944" y="2168033"/>
            <a:ext cx="1022221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Příklady</a:t>
            </a:r>
          </a:p>
        </p:txBody>
      </p:sp>
      <p:sp>
        <p:nvSpPr>
          <p:cNvPr id="6" name="Text strana 58, řádek 5">
            <a:extLst>
              <a:ext uri="{FF2B5EF4-FFF2-40B4-BE49-F238E27FC236}">
                <a16:creationId xmlns:a16="http://schemas.microsoft.com/office/drawing/2014/main" id="{63B136A9-7221-4FAD-999C-FE0D7726C439}"/>
              </a:ext>
            </a:extLst>
          </p:cNvPr>
          <p:cNvSpPr>
            <a:spLocks noGrp="1"/>
          </p:cNvSpPr>
          <p:nvPr/>
        </p:nvSpPr>
        <p:spPr>
          <a:xfrm>
            <a:off x="982662" y="2808621"/>
            <a:ext cx="1174259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Influence</a:t>
            </a:r>
          </a:p>
        </p:txBody>
      </p:sp>
      <p:sp>
        <p:nvSpPr>
          <p:cNvPr id="7" name="Text strana 58, řádek 6">
            <a:extLst>
              <a:ext uri="{FF2B5EF4-FFF2-40B4-BE49-F238E27FC236}">
                <a16:creationId xmlns:a16="http://schemas.microsoft.com/office/drawing/2014/main" id="{161B2000-C9F9-44F4-B3A9-5E756531698C}"/>
              </a:ext>
            </a:extLst>
          </p:cNvPr>
          <p:cNvSpPr>
            <a:spLocks noGrp="1"/>
          </p:cNvSpPr>
          <p:nvPr/>
        </p:nvSpPr>
        <p:spPr>
          <a:xfrm>
            <a:off x="3561334" y="2671461"/>
            <a:ext cx="2869493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využití vlivu, značky nebo </a:t>
            </a:r>
          </a:p>
        </p:txBody>
      </p:sp>
      <p:sp>
        <p:nvSpPr>
          <p:cNvPr id="8" name="Text strana 58, řádek 7">
            <a:extLst>
              <a:ext uri="{FF2B5EF4-FFF2-40B4-BE49-F238E27FC236}">
                <a16:creationId xmlns:a16="http://schemas.microsoft.com/office/drawing/2014/main" id="{A9EF7FF8-4DE0-469F-A881-DAB49E2701EB}"/>
              </a:ext>
            </a:extLst>
          </p:cNvPr>
          <p:cNvSpPr>
            <a:spLocks noGrp="1"/>
          </p:cNvSpPr>
          <p:nvPr/>
        </p:nvSpPr>
        <p:spPr>
          <a:xfrm>
            <a:off x="3561334" y="2948067"/>
            <a:ext cx="1170670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komunity</a:t>
            </a:r>
          </a:p>
        </p:txBody>
      </p:sp>
      <p:sp>
        <p:nvSpPr>
          <p:cNvPr id="9" name="Text strana 58, řádek 8">
            <a:extLst>
              <a:ext uri="{FF2B5EF4-FFF2-40B4-BE49-F238E27FC236}">
                <a16:creationId xmlns:a16="http://schemas.microsoft.com/office/drawing/2014/main" id="{C44AF852-E41C-480C-A4BB-3DEDC5376BAB}"/>
              </a:ext>
            </a:extLst>
          </p:cNvPr>
          <p:cNvSpPr>
            <a:spLocks noGrp="1"/>
          </p:cNvSpPr>
          <p:nvPr/>
        </p:nvSpPr>
        <p:spPr>
          <a:xfrm>
            <a:off x="6192139" y="2671461"/>
            <a:ext cx="2539780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vztahy, osobní značka, </a:t>
            </a:r>
          </a:p>
        </p:txBody>
      </p:sp>
      <p:sp>
        <p:nvSpPr>
          <p:cNvPr id="10" name="Text strana 58, řádek 9">
            <a:extLst>
              <a:ext uri="{FF2B5EF4-FFF2-40B4-BE49-F238E27FC236}">
                <a16:creationId xmlns:a16="http://schemas.microsoft.com/office/drawing/2014/main" id="{284C14C6-B066-460D-88B3-AF19BE98E72B}"/>
              </a:ext>
            </a:extLst>
          </p:cNvPr>
          <p:cNvSpPr>
            <a:spLocks noGrp="1"/>
          </p:cNvSpPr>
          <p:nvPr/>
        </p:nvSpPr>
        <p:spPr>
          <a:xfrm>
            <a:off x="6192139" y="2948067"/>
            <a:ext cx="1410905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ambasadoři</a:t>
            </a:r>
          </a:p>
        </p:txBody>
      </p:sp>
      <p:sp>
        <p:nvSpPr>
          <p:cNvPr id="11" name="Text strana 58, řádek 10">
            <a:extLst>
              <a:ext uri="{FF2B5EF4-FFF2-40B4-BE49-F238E27FC236}">
                <a16:creationId xmlns:a16="http://schemas.microsoft.com/office/drawing/2014/main" id="{86CFE0BD-B65C-44AB-BE5F-A5A1C926A148}"/>
              </a:ext>
            </a:extLst>
          </p:cNvPr>
          <p:cNvSpPr>
            <a:spLocks noGrp="1"/>
          </p:cNvSpPr>
          <p:nvPr/>
        </p:nvSpPr>
        <p:spPr>
          <a:xfrm>
            <a:off x="8822944" y="2671461"/>
            <a:ext cx="2332106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podcasty, komunita, </a:t>
            </a:r>
          </a:p>
        </p:txBody>
      </p:sp>
      <p:sp>
        <p:nvSpPr>
          <p:cNvPr id="12" name="Text strana 58, řádek 11">
            <a:extLst>
              <a:ext uri="{FF2B5EF4-FFF2-40B4-BE49-F238E27FC236}">
                <a16:creationId xmlns:a16="http://schemas.microsoft.com/office/drawing/2014/main" id="{0E7753BE-0C58-4B23-9B35-17CC5629210B}"/>
              </a:ext>
            </a:extLst>
          </p:cNvPr>
          <p:cNvSpPr>
            <a:spLocks noGrp="1"/>
          </p:cNvSpPr>
          <p:nvPr/>
        </p:nvSpPr>
        <p:spPr>
          <a:xfrm>
            <a:off x="8822944" y="2948067"/>
            <a:ext cx="1693187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founder brand</a:t>
            </a:r>
          </a:p>
        </p:txBody>
      </p:sp>
      <p:sp>
        <p:nvSpPr>
          <p:cNvPr id="13" name="Text strana 58, řádek 12">
            <a:extLst>
              <a:ext uri="{FF2B5EF4-FFF2-40B4-BE49-F238E27FC236}">
                <a16:creationId xmlns:a16="http://schemas.microsoft.com/office/drawing/2014/main" id="{356D86E0-72F9-4CD6-AB75-9C67A6659E41}"/>
              </a:ext>
            </a:extLst>
          </p:cNvPr>
          <p:cNvSpPr>
            <a:spLocks noGrp="1"/>
          </p:cNvSpPr>
          <p:nvPr/>
        </p:nvSpPr>
        <p:spPr>
          <a:xfrm>
            <a:off x="930275" y="3449717"/>
            <a:ext cx="648665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Paid</a:t>
            </a:r>
          </a:p>
        </p:txBody>
      </p:sp>
      <p:sp>
        <p:nvSpPr>
          <p:cNvPr id="14" name="Text strana 58, řádek 13">
            <a:extLst>
              <a:ext uri="{FF2B5EF4-FFF2-40B4-BE49-F238E27FC236}">
                <a16:creationId xmlns:a16="http://schemas.microsoft.com/office/drawing/2014/main" id="{BA5DBF13-F6CC-49A5-A2AC-CD02DE6D442D}"/>
              </a:ext>
            </a:extLst>
          </p:cNvPr>
          <p:cNvSpPr>
            <a:spLocks noGrp="1"/>
          </p:cNvSpPr>
          <p:nvPr/>
        </p:nvSpPr>
        <p:spPr>
          <a:xfrm>
            <a:off x="3561334" y="3449717"/>
            <a:ext cx="1901374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placená reklama</a:t>
            </a:r>
          </a:p>
        </p:txBody>
      </p:sp>
      <p:sp>
        <p:nvSpPr>
          <p:cNvPr id="15" name="Text strana 58, řádek 14">
            <a:extLst>
              <a:ext uri="{FF2B5EF4-FFF2-40B4-BE49-F238E27FC236}">
                <a16:creationId xmlns:a16="http://schemas.microsoft.com/office/drawing/2014/main" id="{2769F0F0-7CB2-4CB7-BD5A-F90DBA594CB4}"/>
              </a:ext>
            </a:extLst>
          </p:cNvPr>
          <p:cNvSpPr>
            <a:spLocks noGrp="1"/>
          </p:cNvSpPr>
          <p:nvPr/>
        </p:nvSpPr>
        <p:spPr>
          <a:xfrm>
            <a:off x="6192139" y="3312557"/>
            <a:ext cx="2838472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přímé zaplacení prostoru </a:t>
            </a:r>
          </a:p>
        </p:txBody>
      </p:sp>
      <p:sp>
        <p:nvSpPr>
          <p:cNvPr id="16" name="Text strana 58, řádek 15">
            <a:extLst>
              <a:ext uri="{FF2B5EF4-FFF2-40B4-BE49-F238E27FC236}">
                <a16:creationId xmlns:a16="http://schemas.microsoft.com/office/drawing/2014/main" id="{A23EA501-5D71-4F76-A7C6-53DBC6C51265}"/>
              </a:ext>
            </a:extLst>
          </p:cNvPr>
          <p:cNvSpPr>
            <a:spLocks noGrp="1"/>
          </p:cNvSpPr>
          <p:nvPr/>
        </p:nvSpPr>
        <p:spPr>
          <a:xfrm>
            <a:off x="6192139" y="3589036"/>
            <a:ext cx="1874453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nebo propagace</a:t>
            </a:r>
          </a:p>
        </p:txBody>
      </p:sp>
      <p:sp>
        <p:nvSpPr>
          <p:cNvPr id="17" name="Text strana 58, řádek 16">
            <a:extLst>
              <a:ext uri="{FF2B5EF4-FFF2-40B4-BE49-F238E27FC236}">
                <a16:creationId xmlns:a16="http://schemas.microsoft.com/office/drawing/2014/main" id="{4A8CF753-FF9B-457F-96C9-73B80D49B2B7}"/>
              </a:ext>
            </a:extLst>
          </p:cNvPr>
          <p:cNvSpPr>
            <a:spLocks noGrp="1"/>
          </p:cNvSpPr>
          <p:nvPr/>
        </p:nvSpPr>
        <p:spPr>
          <a:xfrm>
            <a:off x="8822944" y="3312557"/>
            <a:ext cx="2770782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Google Ads, retargeting, </a:t>
            </a:r>
          </a:p>
        </p:txBody>
      </p:sp>
      <p:sp>
        <p:nvSpPr>
          <p:cNvPr id="18" name="Text strana 58, řádek 17">
            <a:extLst>
              <a:ext uri="{FF2B5EF4-FFF2-40B4-BE49-F238E27FC236}">
                <a16:creationId xmlns:a16="http://schemas.microsoft.com/office/drawing/2014/main" id="{4570E343-7F8A-49B9-9ABA-BAD4C1504A56}"/>
              </a:ext>
            </a:extLst>
          </p:cNvPr>
          <p:cNvSpPr>
            <a:spLocks noGrp="1"/>
          </p:cNvSpPr>
          <p:nvPr/>
        </p:nvSpPr>
        <p:spPr>
          <a:xfrm>
            <a:off x="8822944" y="3589036"/>
            <a:ext cx="1326553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sponzoring</a:t>
            </a:r>
          </a:p>
        </p:txBody>
      </p:sp>
      <p:sp>
        <p:nvSpPr>
          <p:cNvPr id="19" name="Text strana 58, řádek 18">
            <a:extLst>
              <a:ext uri="{FF2B5EF4-FFF2-40B4-BE49-F238E27FC236}">
                <a16:creationId xmlns:a16="http://schemas.microsoft.com/office/drawing/2014/main" id="{3770E8EB-D953-4B80-8A4D-CDB5C494CA96}"/>
              </a:ext>
            </a:extLst>
          </p:cNvPr>
          <p:cNvSpPr>
            <a:spLocks noGrp="1"/>
          </p:cNvSpPr>
          <p:nvPr/>
        </p:nvSpPr>
        <p:spPr>
          <a:xfrm>
            <a:off x="930275" y="4228227"/>
            <a:ext cx="1278096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Outbound</a:t>
            </a:r>
          </a:p>
        </p:txBody>
      </p:sp>
      <p:sp>
        <p:nvSpPr>
          <p:cNvPr id="20" name="Text strana 58, řádek 19">
            <a:extLst>
              <a:ext uri="{FF2B5EF4-FFF2-40B4-BE49-F238E27FC236}">
                <a16:creationId xmlns:a16="http://schemas.microsoft.com/office/drawing/2014/main" id="{B2766C3B-6D6C-446F-8739-6F58D3258BC5}"/>
              </a:ext>
            </a:extLst>
          </p:cNvPr>
          <p:cNvSpPr>
            <a:spLocks noGrp="1"/>
          </p:cNvSpPr>
          <p:nvPr/>
        </p:nvSpPr>
        <p:spPr>
          <a:xfrm>
            <a:off x="3561334" y="4228227"/>
            <a:ext cx="2039567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aktivní oslovování</a:t>
            </a:r>
          </a:p>
        </p:txBody>
      </p:sp>
      <p:sp>
        <p:nvSpPr>
          <p:cNvPr id="21" name="Text strana 58, řádek 20">
            <a:extLst>
              <a:ext uri="{FF2B5EF4-FFF2-40B4-BE49-F238E27FC236}">
                <a16:creationId xmlns:a16="http://schemas.microsoft.com/office/drawing/2014/main" id="{F0A051B1-5D97-4D21-80A6-6BEC83CB0A82}"/>
              </a:ext>
            </a:extLst>
          </p:cNvPr>
          <p:cNvSpPr>
            <a:spLocks noGrp="1"/>
          </p:cNvSpPr>
          <p:nvPr/>
        </p:nvSpPr>
        <p:spPr>
          <a:xfrm>
            <a:off x="6192139" y="4228227"/>
            <a:ext cx="2413380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sami kontaktujete lidi</a:t>
            </a:r>
          </a:p>
        </p:txBody>
      </p:sp>
      <p:sp>
        <p:nvSpPr>
          <p:cNvPr id="22" name="Text strana 58, řádek 21">
            <a:extLst>
              <a:ext uri="{FF2B5EF4-FFF2-40B4-BE49-F238E27FC236}">
                <a16:creationId xmlns:a16="http://schemas.microsoft.com/office/drawing/2014/main" id="{A03C8DAB-259C-4412-B493-FB41151F6E85}"/>
              </a:ext>
            </a:extLst>
          </p:cNvPr>
          <p:cNvSpPr>
            <a:spLocks noGrp="1"/>
          </p:cNvSpPr>
          <p:nvPr/>
        </p:nvSpPr>
        <p:spPr>
          <a:xfrm>
            <a:off x="8822944" y="3953272"/>
            <a:ext cx="1967009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cold calling, cold </a:t>
            </a:r>
          </a:p>
        </p:txBody>
      </p:sp>
      <p:sp>
        <p:nvSpPr>
          <p:cNvPr id="23" name="Text strana 58, řádek 22">
            <a:extLst>
              <a:ext uri="{FF2B5EF4-FFF2-40B4-BE49-F238E27FC236}">
                <a16:creationId xmlns:a16="http://schemas.microsoft.com/office/drawing/2014/main" id="{DCD89DBC-B942-4644-BFAD-0AE39DDEDC0E}"/>
              </a:ext>
            </a:extLst>
          </p:cNvPr>
          <p:cNvSpPr>
            <a:spLocks noGrp="1"/>
          </p:cNvSpPr>
          <p:nvPr/>
        </p:nvSpPr>
        <p:spPr>
          <a:xfrm>
            <a:off x="8822944" y="4230132"/>
            <a:ext cx="2796986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outreach, ABM (account-</a:t>
            </a:r>
          </a:p>
        </p:txBody>
      </p:sp>
      <p:sp>
        <p:nvSpPr>
          <p:cNvPr id="24" name="Text strana 58, řádek 23">
            <a:extLst>
              <a:ext uri="{FF2B5EF4-FFF2-40B4-BE49-F238E27FC236}">
                <a16:creationId xmlns:a16="http://schemas.microsoft.com/office/drawing/2014/main" id="{46D44B39-661F-4404-8805-C4EDE236942A}"/>
              </a:ext>
            </a:extLst>
          </p:cNvPr>
          <p:cNvSpPr>
            <a:spLocks noGrp="1"/>
          </p:cNvSpPr>
          <p:nvPr/>
        </p:nvSpPr>
        <p:spPr>
          <a:xfrm>
            <a:off x="8822944" y="4506611"/>
            <a:ext cx="1999315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based marketing)</a:t>
            </a:r>
          </a:p>
        </p:txBody>
      </p:sp>
      <p:sp>
        <p:nvSpPr>
          <p:cNvPr id="25" name="Text strana 58, řádek 24">
            <a:extLst>
              <a:ext uri="{FF2B5EF4-FFF2-40B4-BE49-F238E27FC236}">
                <a16:creationId xmlns:a16="http://schemas.microsoft.com/office/drawing/2014/main" id="{5AC083E9-176E-45CF-8965-96E37EAA8700}"/>
              </a:ext>
            </a:extLst>
          </p:cNvPr>
          <p:cNvSpPr>
            <a:spLocks noGrp="1"/>
          </p:cNvSpPr>
          <p:nvPr/>
        </p:nvSpPr>
        <p:spPr>
          <a:xfrm>
            <a:off x="930275" y="5006356"/>
            <a:ext cx="1037348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26" name="Text strana 58, řádek 25">
            <a:extLst>
              <a:ext uri="{FF2B5EF4-FFF2-40B4-BE49-F238E27FC236}">
                <a16:creationId xmlns:a16="http://schemas.microsoft.com/office/drawing/2014/main" id="{B4485D84-229E-48B2-8590-A1D83C5D009C}"/>
              </a:ext>
            </a:extLst>
          </p:cNvPr>
          <p:cNvSpPr>
            <a:spLocks noGrp="1"/>
          </p:cNvSpPr>
          <p:nvPr/>
        </p:nvSpPr>
        <p:spPr>
          <a:xfrm>
            <a:off x="3561334" y="5006356"/>
            <a:ext cx="2293647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obsahový marketing</a:t>
            </a:r>
          </a:p>
        </p:txBody>
      </p:sp>
      <p:sp>
        <p:nvSpPr>
          <p:cNvPr id="27" name="Text strana 58, řádek 26">
            <a:extLst>
              <a:ext uri="{FF2B5EF4-FFF2-40B4-BE49-F238E27FC236}">
                <a16:creationId xmlns:a16="http://schemas.microsoft.com/office/drawing/2014/main" id="{EDC6AD29-8896-4E0D-89C0-0AF3B3DEDF21}"/>
              </a:ext>
            </a:extLst>
          </p:cNvPr>
          <p:cNvSpPr>
            <a:spLocks noGrp="1"/>
          </p:cNvSpPr>
          <p:nvPr/>
        </p:nvSpPr>
        <p:spPr>
          <a:xfrm>
            <a:off x="6192139" y="4868942"/>
            <a:ext cx="2166737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tvoříš obsah, který </a:t>
            </a:r>
          </a:p>
        </p:txBody>
      </p:sp>
      <p:sp>
        <p:nvSpPr>
          <p:cNvPr id="28" name="Text strana 58, řádek 27">
            <a:extLst>
              <a:ext uri="{FF2B5EF4-FFF2-40B4-BE49-F238E27FC236}">
                <a16:creationId xmlns:a16="http://schemas.microsoft.com/office/drawing/2014/main" id="{C57D45C2-E767-4B1F-B899-872338600827}"/>
              </a:ext>
            </a:extLst>
          </p:cNvPr>
          <p:cNvSpPr>
            <a:spLocks noGrp="1"/>
          </p:cNvSpPr>
          <p:nvPr/>
        </p:nvSpPr>
        <p:spPr>
          <a:xfrm>
            <a:off x="6192139" y="5145802"/>
            <a:ext cx="1506539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přitahuje lidi</a:t>
            </a:r>
          </a:p>
        </p:txBody>
      </p:sp>
      <p:sp>
        <p:nvSpPr>
          <p:cNvPr id="29" name="Text strana 58, řádek 28">
            <a:extLst>
              <a:ext uri="{FF2B5EF4-FFF2-40B4-BE49-F238E27FC236}">
                <a16:creationId xmlns:a16="http://schemas.microsoft.com/office/drawing/2014/main" id="{22ED93AB-67D9-417E-A5BE-7420767125D3}"/>
              </a:ext>
            </a:extLst>
          </p:cNvPr>
          <p:cNvSpPr>
            <a:spLocks noGrp="1"/>
          </p:cNvSpPr>
          <p:nvPr/>
        </p:nvSpPr>
        <p:spPr>
          <a:xfrm>
            <a:off x="8822944" y="4868942"/>
            <a:ext cx="2502602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blog, newsletter, SEO, </a:t>
            </a:r>
          </a:p>
        </p:txBody>
      </p:sp>
      <p:sp>
        <p:nvSpPr>
          <p:cNvPr id="30" name="Text strana 58, řádek 29">
            <a:extLst>
              <a:ext uri="{FF2B5EF4-FFF2-40B4-BE49-F238E27FC236}">
                <a16:creationId xmlns:a16="http://schemas.microsoft.com/office/drawing/2014/main" id="{26D50D93-D15E-4C4B-A9FE-0FBD6C89D217}"/>
              </a:ext>
            </a:extLst>
          </p:cNvPr>
          <p:cNvSpPr>
            <a:spLocks noGrp="1"/>
          </p:cNvSpPr>
          <p:nvPr/>
        </p:nvSpPr>
        <p:spPr>
          <a:xfrm>
            <a:off x="8822944" y="5145802"/>
            <a:ext cx="1519869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články, kniha</a:t>
            </a:r>
          </a:p>
        </p:txBody>
      </p:sp>
      <p:sp>
        <p:nvSpPr>
          <p:cNvPr id="31" name="Text strana 58, řádek 30">
            <a:extLst>
              <a:ext uri="{FF2B5EF4-FFF2-40B4-BE49-F238E27FC236}">
                <a16:creationId xmlns:a16="http://schemas.microsoft.com/office/drawing/2014/main" id="{605550C4-25CC-410D-A833-A23596741392}"/>
              </a:ext>
            </a:extLst>
          </p:cNvPr>
          <p:cNvSpPr>
            <a:spLocks noGrp="1"/>
          </p:cNvSpPr>
          <p:nvPr/>
        </p:nvSpPr>
        <p:spPr>
          <a:xfrm>
            <a:off x="982662" y="5647452"/>
            <a:ext cx="1444492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32" name="Text strana 58, řádek 31">
            <a:extLst>
              <a:ext uri="{FF2B5EF4-FFF2-40B4-BE49-F238E27FC236}">
                <a16:creationId xmlns:a16="http://schemas.microsoft.com/office/drawing/2014/main" id="{43089786-50A2-4B25-B8C4-612A318F1B4D}"/>
              </a:ext>
            </a:extLst>
          </p:cNvPr>
          <p:cNvSpPr>
            <a:spLocks noGrp="1"/>
          </p:cNvSpPr>
          <p:nvPr/>
        </p:nvSpPr>
        <p:spPr>
          <a:xfrm>
            <a:off x="3561334" y="5509975"/>
            <a:ext cx="2656948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technické / produktové </a:t>
            </a:r>
          </a:p>
        </p:txBody>
      </p:sp>
      <p:sp>
        <p:nvSpPr>
          <p:cNvPr id="33" name="Text strana 58, řádek 32">
            <a:extLst>
              <a:ext uri="{FF2B5EF4-FFF2-40B4-BE49-F238E27FC236}">
                <a16:creationId xmlns:a16="http://schemas.microsoft.com/office/drawing/2014/main" id="{330E1D33-DDE4-411A-8518-4D55A8ADAD70}"/>
              </a:ext>
            </a:extLst>
          </p:cNvPr>
          <p:cNvSpPr>
            <a:spLocks noGrp="1"/>
          </p:cNvSpPr>
          <p:nvPr/>
        </p:nvSpPr>
        <p:spPr>
          <a:xfrm>
            <a:off x="3561334" y="5786517"/>
            <a:ext cx="764296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prvky</a:t>
            </a:r>
          </a:p>
        </p:txBody>
      </p:sp>
      <p:sp>
        <p:nvSpPr>
          <p:cNvPr id="34" name="Text strana 58, řádek 33">
            <a:extLst>
              <a:ext uri="{FF2B5EF4-FFF2-40B4-BE49-F238E27FC236}">
                <a16:creationId xmlns:a16="http://schemas.microsoft.com/office/drawing/2014/main" id="{9FC35FED-E989-479B-B2DF-6E114F4B1251}"/>
              </a:ext>
            </a:extLst>
          </p:cNvPr>
          <p:cNvSpPr>
            <a:spLocks noGrp="1"/>
          </p:cNvSpPr>
          <p:nvPr/>
        </p:nvSpPr>
        <p:spPr>
          <a:xfrm>
            <a:off x="6192139" y="5647452"/>
            <a:ext cx="2732581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něco zdarma, co láká lidi</a:t>
            </a:r>
          </a:p>
        </p:txBody>
      </p:sp>
      <p:sp>
        <p:nvSpPr>
          <p:cNvPr id="35" name="Text strana 58, řádek 34">
            <a:extLst>
              <a:ext uri="{FF2B5EF4-FFF2-40B4-BE49-F238E27FC236}">
                <a16:creationId xmlns:a16="http://schemas.microsoft.com/office/drawing/2014/main" id="{1781BE9A-F503-484E-84BE-DE318D3E943E}"/>
              </a:ext>
            </a:extLst>
          </p:cNvPr>
          <p:cNvSpPr>
            <a:spLocks noGrp="1"/>
          </p:cNvSpPr>
          <p:nvPr/>
        </p:nvSpPr>
        <p:spPr>
          <a:xfrm>
            <a:off x="8822944" y="5509975"/>
            <a:ext cx="2272785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free tools, aplikace, </a:t>
            </a:r>
          </a:p>
        </p:txBody>
      </p:sp>
      <p:sp>
        <p:nvSpPr>
          <p:cNvPr id="36" name="Text strana 58, řádek 35">
            <a:extLst>
              <a:ext uri="{FF2B5EF4-FFF2-40B4-BE49-F238E27FC236}">
                <a16:creationId xmlns:a16="http://schemas.microsoft.com/office/drawing/2014/main" id="{C8FAA21A-40CB-4C83-982F-17A1BAF4CD5D}"/>
              </a:ext>
            </a:extLst>
          </p:cNvPr>
          <p:cNvSpPr>
            <a:spLocks noGrp="1"/>
          </p:cNvSpPr>
          <p:nvPr/>
        </p:nvSpPr>
        <p:spPr>
          <a:xfrm>
            <a:off x="8822944" y="5786517"/>
            <a:ext cx="1921116" cy="206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webové nástroje</a:t>
            </a:r>
          </a:p>
        </p:txBody>
      </p:sp>
      <p:sp>
        <p:nvSpPr>
          <p:cNvPr id="39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6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Typy kanálů nebo přístupů</a:t>
            </a:r>
            <a:r>
              <a:rPr lang="cs-CZ" sz="26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, kterými můžeš dárce získávat:</a:t>
            </a:r>
            <a:endParaRPr lang="cs-CZ" sz="2600"/>
          </a:p>
        </p:txBody>
      </p:sp>
    </p:spTree>
    <p:extLst>
      <p:ext uri="{BB962C8B-B14F-4D97-AF65-F5344CB8AC3E}">
        <p14:creationId xmlns:p14="http://schemas.microsoft.com/office/powerpoint/2010/main" val="4813410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5C90D6A7-30E3-404E-BF1B-D352DDA2E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2" y="0"/>
            <a:ext cx="12104211" cy="6772275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8C16F7F4-AA14-477B-859F-B4A5F2EDB8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strana 59, řádek 1">
            <a:extLst>
              <a:ext uri="{FF2B5EF4-FFF2-40B4-BE49-F238E27FC236}">
                <a16:creationId xmlns:a16="http://schemas.microsoft.com/office/drawing/2014/main" id="{14CCEB6F-9B8D-436B-BB23-BD0092526DF8}"/>
              </a:ext>
            </a:extLst>
          </p:cNvPr>
          <p:cNvSpPr>
            <a:spLocks noGrp="1"/>
          </p:cNvSpPr>
          <p:nvPr/>
        </p:nvSpPr>
        <p:spPr>
          <a:xfrm>
            <a:off x="9488170" y="6370717"/>
            <a:ext cx="2136225" cy="206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Zdroj: Petr Zelenka</a:t>
            </a:r>
          </a:p>
        </p:txBody>
      </p:sp>
    </p:spTree>
    <p:extLst>
      <p:ext uri="{BB962C8B-B14F-4D97-AF65-F5344CB8AC3E}">
        <p14:creationId xmlns:p14="http://schemas.microsoft.com/office/powerpoint/2010/main" val="5654577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rafický objekt 109">
            <a:extLst>
              <a:ext uri="{FF2B5EF4-FFF2-40B4-BE49-F238E27FC236}">
                <a16:creationId xmlns:a16="http://schemas.microsoft.com/office/drawing/2014/main" id="{A11A6F54-4B97-401E-9C31-5B0C8833F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EB85005E-BA0A-447C-99C3-18EB748769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strana 60, řádek 2">
            <a:extLst>
              <a:ext uri="{FF2B5EF4-FFF2-40B4-BE49-F238E27FC236}">
                <a16:creationId xmlns:a16="http://schemas.microsoft.com/office/drawing/2014/main" id="{4A82E53F-2E2C-4BC5-9F40-74FA8E160C9F}"/>
              </a:ext>
            </a:extLst>
          </p:cNvPr>
          <p:cNvSpPr>
            <a:spLocks noGrp="1"/>
          </p:cNvSpPr>
          <p:nvPr/>
        </p:nvSpPr>
        <p:spPr>
          <a:xfrm>
            <a:off x="651193" y="1283256"/>
            <a:ext cx="4128686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Služba / skupina služeb pro daný segment zákazníků / skupina </a:t>
            </a:r>
          </a:p>
        </p:txBody>
      </p:sp>
      <p:sp>
        <p:nvSpPr>
          <p:cNvPr id="5" name="Text strana 60, řádek 3">
            <a:extLst>
              <a:ext uri="{FF2B5EF4-FFF2-40B4-BE49-F238E27FC236}">
                <a16:creationId xmlns:a16="http://schemas.microsoft.com/office/drawing/2014/main" id="{56351285-80ED-4EF0-9D80-FFAA4C493172}"/>
              </a:ext>
            </a:extLst>
          </p:cNvPr>
          <p:cNvSpPr>
            <a:spLocks noGrp="1"/>
          </p:cNvSpPr>
          <p:nvPr/>
        </p:nvSpPr>
        <p:spPr>
          <a:xfrm>
            <a:off x="651193" y="1445434"/>
            <a:ext cx="3546039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služeb relevantní z pohledu daného archetypu značky</a:t>
            </a:r>
          </a:p>
        </p:txBody>
      </p:sp>
      <p:sp>
        <p:nvSpPr>
          <p:cNvPr id="6" name="Text strana 60, řádek 4">
            <a:extLst>
              <a:ext uri="{FF2B5EF4-FFF2-40B4-BE49-F238E27FC236}">
                <a16:creationId xmlns:a16="http://schemas.microsoft.com/office/drawing/2014/main" id="{F85B04B8-C958-45B2-973F-66F3EC0712A5}"/>
              </a:ext>
            </a:extLst>
          </p:cNvPr>
          <p:cNvSpPr>
            <a:spLocks noGrp="1"/>
          </p:cNvSpPr>
          <p:nvPr/>
        </p:nvSpPr>
        <p:spPr>
          <a:xfrm>
            <a:off x="4781550" y="1283256"/>
            <a:ext cx="1113942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Vím kdo jsem </a:t>
            </a:r>
          </a:p>
        </p:txBody>
      </p:sp>
      <p:sp>
        <p:nvSpPr>
          <p:cNvPr id="7" name="Text strana 60, řádek 5">
            <a:extLst>
              <a:ext uri="{FF2B5EF4-FFF2-40B4-BE49-F238E27FC236}">
                <a16:creationId xmlns:a16="http://schemas.microsoft.com/office/drawing/2014/main" id="{C5F8B9CB-1352-42C4-B7B9-257CD538D0DC}"/>
              </a:ext>
            </a:extLst>
          </p:cNvPr>
          <p:cNvSpPr>
            <a:spLocks noGrp="1"/>
          </p:cNvSpPr>
          <p:nvPr/>
        </p:nvSpPr>
        <p:spPr>
          <a:xfrm>
            <a:off x="5028946" y="1445434"/>
            <a:ext cx="519612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(See)</a:t>
            </a:r>
          </a:p>
        </p:txBody>
      </p:sp>
      <p:sp>
        <p:nvSpPr>
          <p:cNvPr id="8" name="Text strana 60, řádek 6">
            <a:extLst>
              <a:ext uri="{FF2B5EF4-FFF2-40B4-BE49-F238E27FC236}">
                <a16:creationId xmlns:a16="http://schemas.microsoft.com/office/drawing/2014/main" id="{185AC5DE-03D7-4851-9D72-E71A117ABA34}"/>
              </a:ext>
            </a:extLst>
          </p:cNvPr>
          <p:cNvSpPr>
            <a:spLocks noGrp="1"/>
          </p:cNvSpPr>
          <p:nvPr/>
        </p:nvSpPr>
        <p:spPr>
          <a:xfrm>
            <a:off x="6375146" y="1283256"/>
            <a:ext cx="1584163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Vím co bych asi chtěl </a:t>
            </a:r>
          </a:p>
        </p:txBody>
      </p:sp>
      <p:sp>
        <p:nvSpPr>
          <p:cNvPr id="9" name="Text strana 60, řádek 7">
            <a:extLst>
              <a:ext uri="{FF2B5EF4-FFF2-40B4-BE49-F238E27FC236}">
                <a16:creationId xmlns:a16="http://schemas.microsoft.com/office/drawing/2014/main" id="{5298C44F-A3E3-45CB-A465-AAEAF4163D88}"/>
              </a:ext>
            </a:extLst>
          </p:cNvPr>
          <p:cNvSpPr>
            <a:spLocks noGrp="1"/>
          </p:cNvSpPr>
          <p:nvPr/>
        </p:nvSpPr>
        <p:spPr>
          <a:xfrm>
            <a:off x="6778625" y="1445434"/>
            <a:ext cx="645967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(Think)</a:t>
            </a:r>
          </a:p>
        </p:txBody>
      </p:sp>
      <p:sp>
        <p:nvSpPr>
          <p:cNvPr id="10" name="Text strana 60, řádek 8">
            <a:extLst>
              <a:ext uri="{FF2B5EF4-FFF2-40B4-BE49-F238E27FC236}">
                <a16:creationId xmlns:a16="http://schemas.microsoft.com/office/drawing/2014/main" id="{D000B804-D481-4355-88BB-5EFF41B37441}"/>
              </a:ext>
            </a:extLst>
          </p:cNvPr>
          <p:cNvSpPr>
            <a:spLocks noGrp="1"/>
          </p:cNvSpPr>
          <p:nvPr/>
        </p:nvSpPr>
        <p:spPr>
          <a:xfrm>
            <a:off x="8149971" y="1283256"/>
            <a:ext cx="1655690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Vím co potřebuji od … </a:t>
            </a:r>
          </a:p>
        </p:txBody>
      </p:sp>
      <p:sp>
        <p:nvSpPr>
          <p:cNvPr id="11" name="Text strana 60, řádek 9">
            <a:extLst>
              <a:ext uri="{FF2B5EF4-FFF2-40B4-BE49-F238E27FC236}">
                <a16:creationId xmlns:a16="http://schemas.microsoft.com/office/drawing/2014/main" id="{8785DBC0-4677-402A-9635-89C08EA70930}"/>
              </a:ext>
            </a:extLst>
          </p:cNvPr>
          <p:cNvSpPr>
            <a:spLocks noGrp="1"/>
          </p:cNvSpPr>
          <p:nvPr/>
        </p:nvSpPr>
        <p:spPr>
          <a:xfrm>
            <a:off x="8665591" y="1445434"/>
            <a:ext cx="475168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(Do)</a:t>
            </a:r>
          </a:p>
        </p:txBody>
      </p:sp>
      <p:sp>
        <p:nvSpPr>
          <p:cNvPr id="12" name="Text strana 60, řádek 10">
            <a:extLst>
              <a:ext uri="{FF2B5EF4-FFF2-40B4-BE49-F238E27FC236}">
                <a16:creationId xmlns:a16="http://schemas.microsoft.com/office/drawing/2014/main" id="{C08C7F6D-8350-4384-A366-9BFD51C7AEC8}"/>
              </a:ext>
            </a:extLst>
          </p:cNvPr>
          <p:cNvSpPr>
            <a:spLocks noGrp="1"/>
          </p:cNvSpPr>
          <p:nvPr/>
        </p:nvSpPr>
        <p:spPr>
          <a:xfrm>
            <a:off x="9771761" y="1283256"/>
            <a:ext cx="2328788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Mám zákaznickou zkušenost s ... </a:t>
            </a:r>
          </a:p>
        </p:txBody>
      </p:sp>
      <p:sp>
        <p:nvSpPr>
          <p:cNvPr id="13" name="Text strana 60, řádek 11">
            <a:extLst>
              <a:ext uri="{FF2B5EF4-FFF2-40B4-BE49-F238E27FC236}">
                <a16:creationId xmlns:a16="http://schemas.microsoft.com/office/drawing/2014/main" id="{C6C1DF56-66F6-4835-88EB-EA80376AF380}"/>
              </a:ext>
            </a:extLst>
          </p:cNvPr>
          <p:cNvSpPr>
            <a:spLocks noGrp="1"/>
          </p:cNvSpPr>
          <p:nvPr/>
        </p:nvSpPr>
        <p:spPr>
          <a:xfrm>
            <a:off x="10536555" y="1445434"/>
            <a:ext cx="581817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(Care)</a:t>
            </a:r>
          </a:p>
        </p:txBody>
      </p:sp>
      <p:sp>
        <p:nvSpPr>
          <p:cNvPr id="14" name="Text strana 60, řádek 12">
            <a:extLst>
              <a:ext uri="{FF2B5EF4-FFF2-40B4-BE49-F238E27FC236}">
                <a16:creationId xmlns:a16="http://schemas.microsoft.com/office/drawing/2014/main" id="{0C08E0EC-750E-4CDA-8BC1-1BAB5FA69425}"/>
              </a:ext>
            </a:extLst>
          </p:cNvPr>
          <p:cNvSpPr>
            <a:spLocks noGrp="1"/>
          </p:cNvSpPr>
          <p:nvPr/>
        </p:nvSpPr>
        <p:spPr>
          <a:xfrm>
            <a:off x="651193" y="1786811"/>
            <a:ext cx="811474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Publikum</a:t>
            </a:r>
          </a:p>
        </p:txBody>
      </p:sp>
      <p:sp>
        <p:nvSpPr>
          <p:cNvPr id="15" name="Text strana 60, řádek 13">
            <a:extLst>
              <a:ext uri="{FF2B5EF4-FFF2-40B4-BE49-F238E27FC236}">
                <a16:creationId xmlns:a16="http://schemas.microsoft.com/office/drawing/2014/main" id="{D3E5A9F4-8548-42F9-AADA-54D1A0223767}"/>
              </a:ext>
            </a:extLst>
          </p:cNvPr>
          <p:cNvSpPr>
            <a:spLocks noGrp="1"/>
          </p:cNvSpPr>
          <p:nvPr/>
        </p:nvSpPr>
        <p:spPr>
          <a:xfrm>
            <a:off x="2640330" y="1699673"/>
            <a:ext cx="1240231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Potřeby a touhy</a:t>
            </a:r>
          </a:p>
        </p:txBody>
      </p:sp>
      <p:sp>
        <p:nvSpPr>
          <p:cNvPr id="16" name="Text strana 60, řádek 14">
            <a:extLst>
              <a:ext uri="{FF2B5EF4-FFF2-40B4-BE49-F238E27FC236}">
                <a16:creationId xmlns:a16="http://schemas.microsoft.com/office/drawing/2014/main" id="{8954ABF2-E693-479C-920B-A3013ADC45EC}"/>
              </a:ext>
            </a:extLst>
          </p:cNvPr>
          <p:cNvSpPr>
            <a:spLocks noGrp="1"/>
          </p:cNvSpPr>
          <p:nvPr/>
        </p:nvSpPr>
        <p:spPr>
          <a:xfrm>
            <a:off x="4814951" y="1699673"/>
            <a:ext cx="997801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Po čem touží</a:t>
            </a:r>
          </a:p>
        </p:txBody>
      </p:sp>
      <p:sp>
        <p:nvSpPr>
          <p:cNvPr id="17" name="Text strana 60, řádek 15">
            <a:extLst>
              <a:ext uri="{FF2B5EF4-FFF2-40B4-BE49-F238E27FC236}">
                <a16:creationId xmlns:a16="http://schemas.microsoft.com/office/drawing/2014/main" id="{54A639D6-9005-4CDD-8C4C-785E13EDC3E2}"/>
              </a:ext>
            </a:extLst>
          </p:cNvPr>
          <p:cNvSpPr>
            <a:spLocks noGrp="1"/>
          </p:cNvSpPr>
          <p:nvPr/>
        </p:nvSpPr>
        <p:spPr>
          <a:xfrm>
            <a:off x="6622034" y="1699673"/>
            <a:ext cx="997800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Po čem touží</a:t>
            </a:r>
          </a:p>
        </p:txBody>
      </p:sp>
      <p:sp>
        <p:nvSpPr>
          <p:cNvPr id="18" name="Text strana 60, řádek 16">
            <a:extLst>
              <a:ext uri="{FF2B5EF4-FFF2-40B4-BE49-F238E27FC236}">
                <a16:creationId xmlns:a16="http://schemas.microsoft.com/office/drawing/2014/main" id="{ABEC67BC-893F-45F7-8902-90BD22EA6C50}"/>
              </a:ext>
            </a:extLst>
          </p:cNvPr>
          <p:cNvSpPr>
            <a:spLocks noGrp="1"/>
          </p:cNvSpPr>
          <p:nvPr/>
        </p:nvSpPr>
        <p:spPr>
          <a:xfrm>
            <a:off x="8429244" y="1699673"/>
            <a:ext cx="997800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Po čem touží</a:t>
            </a:r>
          </a:p>
        </p:txBody>
      </p:sp>
      <p:sp>
        <p:nvSpPr>
          <p:cNvPr id="19" name="Text strana 60, řádek 17">
            <a:extLst>
              <a:ext uri="{FF2B5EF4-FFF2-40B4-BE49-F238E27FC236}">
                <a16:creationId xmlns:a16="http://schemas.microsoft.com/office/drawing/2014/main" id="{8FC390E1-A99E-4F4A-9B38-549C2D9DD59C}"/>
              </a:ext>
            </a:extLst>
          </p:cNvPr>
          <p:cNvSpPr>
            <a:spLocks noGrp="1"/>
          </p:cNvSpPr>
          <p:nvPr/>
        </p:nvSpPr>
        <p:spPr>
          <a:xfrm>
            <a:off x="10350881" y="1699673"/>
            <a:ext cx="994758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Po čem touží</a:t>
            </a:r>
          </a:p>
        </p:txBody>
      </p:sp>
      <p:sp>
        <p:nvSpPr>
          <p:cNvPr id="20" name="Text strana 60, řádek 18">
            <a:extLst>
              <a:ext uri="{FF2B5EF4-FFF2-40B4-BE49-F238E27FC236}">
                <a16:creationId xmlns:a16="http://schemas.microsoft.com/office/drawing/2014/main" id="{C55311DF-0075-4793-A933-1F340B0B2C97}"/>
              </a:ext>
            </a:extLst>
          </p:cNvPr>
          <p:cNvSpPr>
            <a:spLocks noGrp="1"/>
          </p:cNvSpPr>
          <p:nvPr/>
        </p:nvSpPr>
        <p:spPr>
          <a:xfrm>
            <a:off x="2640330" y="1921431"/>
            <a:ext cx="1356591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Value proposition</a:t>
            </a:r>
          </a:p>
        </p:txBody>
      </p:sp>
      <p:sp>
        <p:nvSpPr>
          <p:cNvPr id="21" name="Text strana 60, řádek 19">
            <a:extLst>
              <a:ext uri="{FF2B5EF4-FFF2-40B4-BE49-F238E27FC236}">
                <a16:creationId xmlns:a16="http://schemas.microsoft.com/office/drawing/2014/main" id="{521AB741-0DDD-4552-A544-9E3A3C28B04E}"/>
              </a:ext>
            </a:extLst>
          </p:cNvPr>
          <p:cNvSpPr>
            <a:spLocks noGrp="1"/>
          </p:cNvSpPr>
          <p:nvPr/>
        </p:nvSpPr>
        <p:spPr>
          <a:xfrm>
            <a:off x="4529201" y="1921431"/>
            <a:ext cx="1640776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Proč by mělo zaujmout</a:t>
            </a:r>
          </a:p>
        </p:txBody>
      </p:sp>
      <p:sp>
        <p:nvSpPr>
          <p:cNvPr id="22" name="Text strana 60, řádek 20">
            <a:extLst>
              <a:ext uri="{FF2B5EF4-FFF2-40B4-BE49-F238E27FC236}">
                <a16:creationId xmlns:a16="http://schemas.microsoft.com/office/drawing/2014/main" id="{D4BF9359-6A99-43AA-8CB0-7E7148DB2EB9}"/>
              </a:ext>
            </a:extLst>
          </p:cNvPr>
          <p:cNvSpPr>
            <a:spLocks noGrp="1"/>
          </p:cNvSpPr>
          <p:nvPr/>
        </p:nvSpPr>
        <p:spPr>
          <a:xfrm>
            <a:off x="6390259" y="1921431"/>
            <a:ext cx="1513116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Proč by měl zvažovat</a:t>
            </a:r>
          </a:p>
        </p:txBody>
      </p:sp>
      <p:sp>
        <p:nvSpPr>
          <p:cNvPr id="23" name="Text strana 60, řádek 21">
            <a:extLst>
              <a:ext uri="{FF2B5EF4-FFF2-40B4-BE49-F238E27FC236}">
                <a16:creationId xmlns:a16="http://schemas.microsoft.com/office/drawing/2014/main" id="{E60D5E80-4C58-411C-92DE-F71A2BD56417}"/>
              </a:ext>
            </a:extLst>
          </p:cNvPr>
          <p:cNvSpPr>
            <a:spLocks noGrp="1"/>
          </p:cNvSpPr>
          <p:nvPr/>
        </p:nvSpPr>
        <p:spPr>
          <a:xfrm>
            <a:off x="8267446" y="1921431"/>
            <a:ext cx="1363807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Proč by měl koupit</a:t>
            </a:r>
          </a:p>
        </p:txBody>
      </p:sp>
      <p:sp>
        <p:nvSpPr>
          <p:cNvPr id="24" name="Text strana 60, řádek 22">
            <a:extLst>
              <a:ext uri="{FF2B5EF4-FFF2-40B4-BE49-F238E27FC236}">
                <a16:creationId xmlns:a16="http://schemas.microsoft.com/office/drawing/2014/main" id="{6B0D380E-CE0D-4137-B623-F047748DE3BA}"/>
              </a:ext>
            </a:extLst>
          </p:cNvPr>
          <p:cNvSpPr>
            <a:spLocks noGrp="1"/>
          </p:cNvSpPr>
          <p:nvPr/>
        </p:nvSpPr>
        <p:spPr>
          <a:xfrm>
            <a:off x="10188575" y="1921431"/>
            <a:ext cx="1367016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Proč by měl koupit</a:t>
            </a:r>
          </a:p>
        </p:txBody>
      </p:sp>
      <p:sp>
        <p:nvSpPr>
          <p:cNvPr id="25" name="Text strana 60, řádek 23">
            <a:extLst>
              <a:ext uri="{FF2B5EF4-FFF2-40B4-BE49-F238E27FC236}">
                <a16:creationId xmlns:a16="http://schemas.microsoft.com/office/drawing/2014/main" id="{3524DF64-DECE-4F76-B9F5-D2AE2F8D763A}"/>
              </a:ext>
            </a:extLst>
          </p:cNvPr>
          <p:cNvSpPr>
            <a:spLocks noGrp="1"/>
          </p:cNvSpPr>
          <p:nvPr/>
        </p:nvSpPr>
        <p:spPr>
          <a:xfrm>
            <a:off x="651193" y="2317671"/>
            <a:ext cx="1455703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Obsahová strategie</a:t>
            </a:r>
          </a:p>
        </p:txBody>
      </p:sp>
      <p:sp>
        <p:nvSpPr>
          <p:cNvPr id="26" name="Text strana 60, řádek 24">
            <a:extLst>
              <a:ext uri="{FF2B5EF4-FFF2-40B4-BE49-F238E27FC236}">
                <a16:creationId xmlns:a16="http://schemas.microsoft.com/office/drawing/2014/main" id="{E8099446-9E6B-4C18-99FF-AC250CB87754}"/>
              </a:ext>
            </a:extLst>
          </p:cNvPr>
          <p:cNvSpPr>
            <a:spLocks noGrp="1"/>
          </p:cNvSpPr>
          <p:nvPr/>
        </p:nvSpPr>
        <p:spPr>
          <a:xfrm>
            <a:off x="2640330" y="2143919"/>
            <a:ext cx="1161021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Klíčová sdělení</a:t>
            </a:r>
          </a:p>
        </p:txBody>
      </p:sp>
      <p:sp>
        <p:nvSpPr>
          <p:cNvPr id="27" name="Text strana 60, řádek 25">
            <a:extLst>
              <a:ext uri="{FF2B5EF4-FFF2-40B4-BE49-F238E27FC236}">
                <a16:creationId xmlns:a16="http://schemas.microsoft.com/office/drawing/2014/main" id="{849D3BE6-FECF-4A44-9234-4C2A56D7E113}"/>
              </a:ext>
            </a:extLst>
          </p:cNvPr>
          <p:cNvSpPr>
            <a:spLocks noGrp="1"/>
          </p:cNvSpPr>
          <p:nvPr/>
        </p:nvSpPr>
        <p:spPr>
          <a:xfrm>
            <a:off x="4332859" y="2143919"/>
            <a:ext cx="2078578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Základ komunikační kampaně</a:t>
            </a:r>
          </a:p>
        </p:txBody>
      </p:sp>
      <p:sp>
        <p:nvSpPr>
          <p:cNvPr id="28" name="Text strana 60, řádek 26">
            <a:extLst>
              <a:ext uri="{FF2B5EF4-FFF2-40B4-BE49-F238E27FC236}">
                <a16:creationId xmlns:a16="http://schemas.microsoft.com/office/drawing/2014/main" id="{0EDF8709-6D60-43A6-A58B-99238FC824A9}"/>
              </a:ext>
            </a:extLst>
          </p:cNvPr>
          <p:cNvSpPr>
            <a:spLocks noGrp="1"/>
          </p:cNvSpPr>
          <p:nvPr/>
        </p:nvSpPr>
        <p:spPr>
          <a:xfrm>
            <a:off x="6140196" y="2143919"/>
            <a:ext cx="2078575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Základ komunikační kampaně</a:t>
            </a:r>
          </a:p>
        </p:txBody>
      </p:sp>
      <p:sp>
        <p:nvSpPr>
          <p:cNvPr id="29" name="Text strana 60, řádek 27">
            <a:extLst>
              <a:ext uri="{FF2B5EF4-FFF2-40B4-BE49-F238E27FC236}">
                <a16:creationId xmlns:a16="http://schemas.microsoft.com/office/drawing/2014/main" id="{3EED0324-CD69-477A-A0F1-38650C757BE2}"/>
              </a:ext>
            </a:extLst>
          </p:cNvPr>
          <p:cNvSpPr>
            <a:spLocks noGrp="1"/>
          </p:cNvSpPr>
          <p:nvPr/>
        </p:nvSpPr>
        <p:spPr>
          <a:xfrm>
            <a:off x="7947406" y="2143919"/>
            <a:ext cx="2078575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Základ komunikační kampaně</a:t>
            </a:r>
          </a:p>
        </p:txBody>
      </p:sp>
      <p:sp>
        <p:nvSpPr>
          <p:cNvPr id="30" name="Text strana 60, řádek 28">
            <a:extLst>
              <a:ext uri="{FF2B5EF4-FFF2-40B4-BE49-F238E27FC236}">
                <a16:creationId xmlns:a16="http://schemas.microsoft.com/office/drawing/2014/main" id="{9A90C4AB-B785-47C6-B0D7-65921CE37492}"/>
              </a:ext>
            </a:extLst>
          </p:cNvPr>
          <p:cNvSpPr>
            <a:spLocks noGrp="1"/>
          </p:cNvSpPr>
          <p:nvPr/>
        </p:nvSpPr>
        <p:spPr>
          <a:xfrm>
            <a:off x="9868535" y="2143919"/>
            <a:ext cx="2078575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Základ komunikační kampaně</a:t>
            </a:r>
          </a:p>
        </p:txBody>
      </p:sp>
      <p:sp>
        <p:nvSpPr>
          <p:cNvPr id="31" name="Text strana 60, řádek 29">
            <a:extLst>
              <a:ext uri="{FF2B5EF4-FFF2-40B4-BE49-F238E27FC236}">
                <a16:creationId xmlns:a16="http://schemas.microsoft.com/office/drawing/2014/main" id="{8005A74F-F2D4-4854-8606-C64AB9ACD788}"/>
              </a:ext>
            </a:extLst>
          </p:cNvPr>
          <p:cNvSpPr>
            <a:spLocks noGrp="1"/>
          </p:cNvSpPr>
          <p:nvPr/>
        </p:nvSpPr>
        <p:spPr>
          <a:xfrm>
            <a:off x="2640330" y="2538651"/>
            <a:ext cx="1175848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Formát obsahu</a:t>
            </a:r>
          </a:p>
        </p:txBody>
      </p:sp>
      <p:sp>
        <p:nvSpPr>
          <p:cNvPr id="32" name="Text strana 60, řádek 30">
            <a:extLst>
              <a:ext uri="{FF2B5EF4-FFF2-40B4-BE49-F238E27FC236}">
                <a16:creationId xmlns:a16="http://schemas.microsoft.com/office/drawing/2014/main" id="{35F9BA69-F4C2-4352-AE64-7EAA352FFD79}"/>
              </a:ext>
            </a:extLst>
          </p:cNvPr>
          <p:cNvSpPr>
            <a:spLocks noGrp="1"/>
          </p:cNvSpPr>
          <p:nvPr/>
        </p:nvSpPr>
        <p:spPr>
          <a:xfrm>
            <a:off x="4610735" y="2371249"/>
            <a:ext cx="1492619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Web/socky/blog/PR </a:t>
            </a:r>
          </a:p>
        </p:txBody>
      </p:sp>
      <p:sp>
        <p:nvSpPr>
          <p:cNvPr id="33" name="Text strana 60, řádek 31">
            <a:extLst>
              <a:ext uri="{FF2B5EF4-FFF2-40B4-BE49-F238E27FC236}">
                <a16:creationId xmlns:a16="http://schemas.microsoft.com/office/drawing/2014/main" id="{86FB0E2E-0817-431A-B564-4C824B634E58}"/>
              </a:ext>
            </a:extLst>
          </p:cNvPr>
          <p:cNvSpPr>
            <a:spLocks noGrp="1"/>
          </p:cNvSpPr>
          <p:nvPr/>
        </p:nvSpPr>
        <p:spPr>
          <a:xfrm>
            <a:off x="4491609" y="2532936"/>
            <a:ext cx="1726542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články/video/podcast/…</a:t>
            </a:r>
          </a:p>
        </p:txBody>
      </p:sp>
      <p:sp>
        <p:nvSpPr>
          <p:cNvPr id="34" name="Text strana 60, řádek 32">
            <a:extLst>
              <a:ext uri="{FF2B5EF4-FFF2-40B4-BE49-F238E27FC236}">
                <a16:creationId xmlns:a16="http://schemas.microsoft.com/office/drawing/2014/main" id="{3B45B613-7FD6-4867-BB01-913CBC3705AD}"/>
              </a:ext>
            </a:extLst>
          </p:cNvPr>
          <p:cNvSpPr>
            <a:spLocks noGrp="1"/>
          </p:cNvSpPr>
          <p:nvPr/>
        </p:nvSpPr>
        <p:spPr>
          <a:xfrm>
            <a:off x="6417945" y="2371249"/>
            <a:ext cx="1492618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Web/socky/blog/PR </a:t>
            </a:r>
          </a:p>
        </p:txBody>
      </p:sp>
      <p:sp>
        <p:nvSpPr>
          <p:cNvPr id="35" name="Text strana 60, řádek 33">
            <a:extLst>
              <a:ext uri="{FF2B5EF4-FFF2-40B4-BE49-F238E27FC236}">
                <a16:creationId xmlns:a16="http://schemas.microsoft.com/office/drawing/2014/main" id="{A5DB5C5A-49D0-4268-8DF3-CFAC6DA32135}"/>
              </a:ext>
            </a:extLst>
          </p:cNvPr>
          <p:cNvSpPr>
            <a:spLocks noGrp="1"/>
          </p:cNvSpPr>
          <p:nvPr/>
        </p:nvSpPr>
        <p:spPr>
          <a:xfrm>
            <a:off x="6298946" y="2532936"/>
            <a:ext cx="1726399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články/video/podcast/…</a:t>
            </a:r>
          </a:p>
        </p:txBody>
      </p:sp>
      <p:sp>
        <p:nvSpPr>
          <p:cNvPr id="36" name="Text strana 60, řádek 34">
            <a:extLst>
              <a:ext uri="{FF2B5EF4-FFF2-40B4-BE49-F238E27FC236}">
                <a16:creationId xmlns:a16="http://schemas.microsoft.com/office/drawing/2014/main" id="{E4BBB28F-7E4A-462A-8ABF-C850DEE84A8D}"/>
              </a:ext>
            </a:extLst>
          </p:cNvPr>
          <p:cNvSpPr>
            <a:spLocks noGrp="1"/>
          </p:cNvSpPr>
          <p:nvPr/>
        </p:nvSpPr>
        <p:spPr>
          <a:xfrm>
            <a:off x="8225155" y="2371249"/>
            <a:ext cx="1490501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Web/socky/blog/PR </a:t>
            </a:r>
          </a:p>
        </p:txBody>
      </p:sp>
      <p:sp>
        <p:nvSpPr>
          <p:cNvPr id="37" name="Text strana 60, řádek 35">
            <a:extLst>
              <a:ext uri="{FF2B5EF4-FFF2-40B4-BE49-F238E27FC236}">
                <a16:creationId xmlns:a16="http://schemas.microsoft.com/office/drawing/2014/main" id="{FCC6D58A-4BB1-4EF9-BF06-471BB13BFD77}"/>
              </a:ext>
            </a:extLst>
          </p:cNvPr>
          <p:cNvSpPr>
            <a:spLocks noGrp="1"/>
          </p:cNvSpPr>
          <p:nvPr/>
        </p:nvSpPr>
        <p:spPr>
          <a:xfrm>
            <a:off x="8106029" y="2532936"/>
            <a:ext cx="1719040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články/video/podcast/…</a:t>
            </a:r>
          </a:p>
        </p:txBody>
      </p:sp>
      <p:sp>
        <p:nvSpPr>
          <p:cNvPr id="38" name="Text strana 60, řádek 36">
            <a:extLst>
              <a:ext uri="{FF2B5EF4-FFF2-40B4-BE49-F238E27FC236}">
                <a16:creationId xmlns:a16="http://schemas.microsoft.com/office/drawing/2014/main" id="{9041024A-6C41-4328-9190-72A510FC1E08}"/>
              </a:ext>
            </a:extLst>
          </p:cNvPr>
          <p:cNvSpPr>
            <a:spLocks noGrp="1"/>
          </p:cNvSpPr>
          <p:nvPr/>
        </p:nvSpPr>
        <p:spPr>
          <a:xfrm>
            <a:off x="10146665" y="2371249"/>
            <a:ext cx="1484419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Web/socky/blog/PR </a:t>
            </a:r>
          </a:p>
        </p:txBody>
      </p:sp>
      <p:sp>
        <p:nvSpPr>
          <p:cNvPr id="39" name="Text strana 60, řádek 37">
            <a:extLst>
              <a:ext uri="{FF2B5EF4-FFF2-40B4-BE49-F238E27FC236}">
                <a16:creationId xmlns:a16="http://schemas.microsoft.com/office/drawing/2014/main" id="{2A1FC47A-13F0-4FB0-8DAD-BEF962CA0BA1}"/>
              </a:ext>
            </a:extLst>
          </p:cNvPr>
          <p:cNvSpPr>
            <a:spLocks noGrp="1"/>
          </p:cNvSpPr>
          <p:nvPr/>
        </p:nvSpPr>
        <p:spPr>
          <a:xfrm>
            <a:off x="10027285" y="2532936"/>
            <a:ext cx="1725293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články/video/podcast/…</a:t>
            </a:r>
          </a:p>
        </p:txBody>
      </p:sp>
      <p:sp>
        <p:nvSpPr>
          <p:cNvPr id="40" name="Text strana 60, řádek 38">
            <a:extLst>
              <a:ext uri="{FF2B5EF4-FFF2-40B4-BE49-F238E27FC236}">
                <a16:creationId xmlns:a16="http://schemas.microsoft.com/office/drawing/2014/main" id="{684A45AC-785E-43CE-9D80-50314CFF0C90}"/>
              </a:ext>
            </a:extLst>
          </p:cNvPr>
          <p:cNvSpPr>
            <a:spLocks noGrp="1"/>
          </p:cNvSpPr>
          <p:nvPr/>
        </p:nvSpPr>
        <p:spPr>
          <a:xfrm>
            <a:off x="651193" y="3046015"/>
            <a:ext cx="1744059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Marketingová  strategie</a:t>
            </a:r>
          </a:p>
        </p:txBody>
      </p:sp>
      <p:sp>
        <p:nvSpPr>
          <p:cNvPr id="41" name="Text strana 60, řádek 39">
            <a:extLst>
              <a:ext uri="{FF2B5EF4-FFF2-40B4-BE49-F238E27FC236}">
                <a16:creationId xmlns:a16="http://schemas.microsoft.com/office/drawing/2014/main" id="{5184D611-175E-4E92-988F-A0F9FC5E71CC}"/>
              </a:ext>
            </a:extLst>
          </p:cNvPr>
          <p:cNvSpPr>
            <a:spLocks noGrp="1"/>
          </p:cNvSpPr>
          <p:nvPr/>
        </p:nvSpPr>
        <p:spPr>
          <a:xfrm>
            <a:off x="2640330" y="2760901"/>
            <a:ext cx="1228131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Brand awarness</a:t>
            </a:r>
          </a:p>
        </p:txBody>
      </p:sp>
      <p:sp>
        <p:nvSpPr>
          <p:cNvPr id="42" name="Text strana 60, řádek 40">
            <a:extLst>
              <a:ext uri="{FF2B5EF4-FFF2-40B4-BE49-F238E27FC236}">
                <a16:creationId xmlns:a16="http://schemas.microsoft.com/office/drawing/2014/main" id="{14B3FC14-0DC5-467F-8BD8-B79CE8141730}"/>
              </a:ext>
            </a:extLst>
          </p:cNvPr>
          <p:cNvSpPr>
            <a:spLocks noGrp="1"/>
          </p:cNvSpPr>
          <p:nvPr/>
        </p:nvSpPr>
        <p:spPr>
          <a:xfrm>
            <a:off x="4645025" y="2760901"/>
            <a:ext cx="1374233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Upoutat pozornost</a:t>
            </a:r>
          </a:p>
        </p:txBody>
      </p:sp>
      <p:sp>
        <p:nvSpPr>
          <p:cNvPr id="43" name="Text strana 60, řádek 41">
            <a:extLst>
              <a:ext uri="{FF2B5EF4-FFF2-40B4-BE49-F238E27FC236}">
                <a16:creationId xmlns:a16="http://schemas.microsoft.com/office/drawing/2014/main" id="{67E34501-E74D-4B8C-972E-66869E31733D}"/>
              </a:ext>
            </a:extLst>
          </p:cNvPr>
          <p:cNvSpPr>
            <a:spLocks noGrp="1"/>
          </p:cNvSpPr>
          <p:nvPr/>
        </p:nvSpPr>
        <p:spPr>
          <a:xfrm>
            <a:off x="6583426" y="2760901"/>
            <a:ext cx="1084752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Vzbudit zájem</a:t>
            </a:r>
          </a:p>
        </p:txBody>
      </p:sp>
      <p:sp>
        <p:nvSpPr>
          <p:cNvPr id="44" name="Text strana 60, řádek 42">
            <a:extLst>
              <a:ext uri="{FF2B5EF4-FFF2-40B4-BE49-F238E27FC236}">
                <a16:creationId xmlns:a16="http://schemas.microsoft.com/office/drawing/2014/main" id="{B3E8A35D-B810-4C47-9CEB-DC80C2B96AD7}"/>
              </a:ext>
            </a:extLst>
          </p:cNvPr>
          <p:cNvSpPr>
            <a:spLocks noGrp="1"/>
          </p:cNvSpPr>
          <p:nvPr/>
        </p:nvSpPr>
        <p:spPr>
          <a:xfrm>
            <a:off x="8676640" y="2760901"/>
            <a:ext cx="443252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5" name="Text strana 60, řádek 43">
            <a:extLst>
              <a:ext uri="{FF2B5EF4-FFF2-40B4-BE49-F238E27FC236}">
                <a16:creationId xmlns:a16="http://schemas.microsoft.com/office/drawing/2014/main" id="{8F950BEA-E0AB-4BFD-A2A6-DA0030A6A22E}"/>
              </a:ext>
            </a:extLst>
          </p:cNvPr>
          <p:cNvSpPr>
            <a:spLocks noGrp="1"/>
          </p:cNvSpPr>
          <p:nvPr/>
        </p:nvSpPr>
        <p:spPr>
          <a:xfrm>
            <a:off x="10597769" y="2760901"/>
            <a:ext cx="443252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6" name="Text strana 60, řádek 44">
            <a:extLst>
              <a:ext uri="{FF2B5EF4-FFF2-40B4-BE49-F238E27FC236}">
                <a16:creationId xmlns:a16="http://schemas.microsoft.com/office/drawing/2014/main" id="{D86B63BD-781A-42C1-92E0-C47AE34D3D18}"/>
              </a:ext>
            </a:extLst>
          </p:cNvPr>
          <p:cNvSpPr>
            <a:spLocks noGrp="1"/>
          </p:cNvSpPr>
          <p:nvPr/>
        </p:nvSpPr>
        <p:spPr>
          <a:xfrm>
            <a:off x="2640330" y="2983389"/>
            <a:ext cx="1143578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Brand building</a:t>
            </a:r>
          </a:p>
        </p:txBody>
      </p:sp>
      <p:sp>
        <p:nvSpPr>
          <p:cNvPr id="47" name="Text strana 60, řádek 45">
            <a:extLst>
              <a:ext uri="{FF2B5EF4-FFF2-40B4-BE49-F238E27FC236}">
                <a16:creationId xmlns:a16="http://schemas.microsoft.com/office/drawing/2014/main" id="{FBA65B02-9BA8-491C-B899-2FB1CA99500D}"/>
              </a:ext>
            </a:extLst>
          </p:cNvPr>
          <p:cNvSpPr>
            <a:spLocks noGrp="1"/>
          </p:cNvSpPr>
          <p:nvPr/>
        </p:nvSpPr>
        <p:spPr>
          <a:xfrm>
            <a:off x="5062220" y="2983389"/>
            <a:ext cx="443012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8" name="Text strana 60, řádek 46">
            <a:extLst>
              <a:ext uri="{FF2B5EF4-FFF2-40B4-BE49-F238E27FC236}">
                <a16:creationId xmlns:a16="http://schemas.microsoft.com/office/drawing/2014/main" id="{8DE3AAA0-0247-4240-BF68-1C2F0755AD8F}"/>
              </a:ext>
            </a:extLst>
          </p:cNvPr>
          <p:cNvSpPr>
            <a:spLocks noGrp="1"/>
          </p:cNvSpPr>
          <p:nvPr/>
        </p:nvSpPr>
        <p:spPr>
          <a:xfrm>
            <a:off x="6869430" y="2983389"/>
            <a:ext cx="443011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9" name="Text strana 60, řádek 47">
            <a:extLst>
              <a:ext uri="{FF2B5EF4-FFF2-40B4-BE49-F238E27FC236}">
                <a16:creationId xmlns:a16="http://schemas.microsoft.com/office/drawing/2014/main" id="{F5A7A6E9-CFF7-4C0D-9756-8210D9D4195B}"/>
              </a:ext>
            </a:extLst>
          </p:cNvPr>
          <p:cNvSpPr>
            <a:spLocks noGrp="1"/>
          </p:cNvSpPr>
          <p:nvPr/>
        </p:nvSpPr>
        <p:spPr>
          <a:xfrm>
            <a:off x="8343011" y="2983389"/>
            <a:ext cx="1189342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Budovat důvěru</a:t>
            </a:r>
          </a:p>
        </p:txBody>
      </p:sp>
      <p:sp>
        <p:nvSpPr>
          <p:cNvPr id="50" name="Text strana 60, řádek 48">
            <a:extLst>
              <a:ext uri="{FF2B5EF4-FFF2-40B4-BE49-F238E27FC236}">
                <a16:creationId xmlns:a16="http://schemas.microsoft.com/office/drawing/2014/main" id="{855B1622-9306-4C6C-BE16-B4DCB66C2E4F}"/>
              </a:ext>
            </a:extLst>
          </p:cNvPr>
          <p:cNvSpPr>
            <a:spLocks noGrp="1"/>
          </p:cNvSpPr>
          <p:nvPr/>
        </p:nvSpPr>
        <p:spPr>
          <a:xfrm>
            <a:off x="10306304" y="2983389"/>
            <a:ext cx="1093329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Budovat vztah</a:t>
            </a:r>
          </a:p>
        </p:txBody>
      </p:sp>
      <p:sp>
        <p:nvSpPr>
          <p:cNvPr id="51" name="Text strana 60, řádek 49">
            <a:extLst>
              <a:ext uri="{FF2B5EF4-FFF2-40B4-BE49-F238E27FC236}">
                <a16:creationId xmlns:a16="http://schemas.microsoft.com/office/drawing/2014/main" id="{7B538619-855A-4193-A1B5-239CB0A043C7}"/>
              </a:ext>
            </a:extLst>
          </p:cNvPr>
          <p:cNvSpPr>
            <a:spLocks noGrp="1"/>
          </p:cNvSpPr>
          <p:nvPr/>
        </p:nvSpPr>
        <p:spPr>
          <a:xfrm>
            <a:off x="2640330" y="3378121"/>
            <a:ext cx="1239517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Lead generation</a:t>
            </a:r>
          </a:p>
        </p:txBody>
      </p:sp>
      <p:sp>
        <p:nvSpPr>
          <p:cNvPr id="52" name="Text strana 60, řádek 50">
            <a:extLst>
              <a:ext uri="{FF2B5EF4-FFF2-40B4-BE49-F238E27FC236}">
                <a16:creationId xmlns:a16="http://schemas.microsoft.com/office/drawing/2014/main" id="{984A67D9-1650-4C8B-8889-998AE732BFE0}"/>
              </a:ext>
            </a:extLst>
          </p:cNvPr>
          <p:cNvSpPr>
            <a:spLocks noGrp="1"/>
          </p:cNvSpPr>
          <p:nvPr/>
        </p:nvSpPr>
        <p:spPr>
          <a:xfrm>
            <a:off x="4645025" y="3378121"/>
            <a:ext cx="1374233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Upoutat pozornost</a:t>
            </a:r>
          </a:p>
        </p:txBody>
      </p:sp>
      <p:sp>
        <p:nvSpPr>
          <p:cNvPr id="53" name="Text strana 60, řádek 51">
            <a:extLst>
              <a:ext uri="{FF2B5EF4-FFF2-40B4-BE49-F238E27FC236}">
                <a16:creationId xmlns:a16="http://schemas.microsoft.com/office/drawing/2014/main" id="{F8CB3825-635E-47FD-9FD3-DBF81E7CB3A8}"/>
              </a:ext>
            </a:extLst>
          </p:cNvPr>
          <p:cNvSpPr>
            <a:spLocks noGrp="1"/>
          </p:cNvSpPr>
          <p:nvPr/>
        </p:nvSpPr>
        <p:spPr>
          <a:xfrm>
            <a:off x="6583426" y="3378121"/>
            <a:ext cx="1084752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Vzbudit zájem</a:t>
            </a:r>
          </a:p>
        </p:txBody>
      </p:sp>
      <p:sp>
        <p:nvSpPr>
          <p:cNvPr id="54" name="Text strana 60, řádek 52">
            <a:extLst>
              <a:ext uri="{FF2B5EF4-FFF2-40B4-BE49-F238E27FC236}">
                <a16:creationId xmlns:a16="http://schemas.microsoft.com/office/drawing/2014/main" id="{E20C8D85-968E-49D4-B228-8A4FE9E3C7F8}"/>
              </a:ext>
            </a:extLst>
          </p:cNvPr>
          <p:cNvSpPr>
            <a:spLocks noGrp="1"/>
          </p:cNvSpPr>
          <p:nvPr/>
        </p:nvSpPr>
        <p:spPr>
          <a:xfrm>
            <a:off x="8283194" y="3378121"/>
            <a:ext cx="132098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Vzbudit touhu mít</a:t>
            </a:r>
          </a:p>
        </p:txBody>
      </p:sp>
      <p:sp>
        <p:nvSpPr>
          <p:cNvPr id="55" name="Text strana 60, řádek 53">
            <a:extLst>
              <a:ext uri="{FF2B5EF4-FFF2-40B4-BE49-F238E27FC236}">
                <a16:creationId xmlns:a16="http://schemas.microsoft.com/office/drawing/2014/main" id="{CA63666A-E9F6-41DC-BA63-56F2695D6DE8}"/>
              </a:ext>
            </a:extLst>
          </p:cNvPr>
          <p:cNvSpPr>
            <a:spLocks noGrp="1"/>
          </p:cNvSpPr>
          <p:nvPr/>
        </p:nvSpPr>
        <p:spPr>
          <a:xfrm>
            <a:off x="9835261" y="3210227"/>
            <a:ext cx="218845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Vzbudit touhu mít opakovaně / </a:t>
            </a:r>
          </a:p>
        </p:txBody>
      </p:sp>
      <p:sp>
        <p:nvSpPr>
          <p:cNvPr id="56" name="Text strana 60, řádek 54">
            <a:extLst>
              <a:ext uri="{FF2B5EF4-FFF2-40B4-BE49-F238E27FC236}">
                <a16:creationId xmlns:a16="http://schemas.microsoft.com/office/drawing/2014/main" id="{B7B20673-9434-4182-B055-11D717307D32}"/>
              </a:ext>
            </a:extLst>
          </p:cNvPr>
          <p:cNvSpPr>
            <a:spLocks noGrp="1"/>
          </p:cNvSpPr>
          <p:nvPr/>
        </p:nvSpPr>
        <p:spPr>
          <a:xfrm>
            <a:off x="10443591" y="3372406"/>
            <a:ext cx="827030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zapojit se </a:t>
            </a:r>
          </a:p>
        </p:txBody>
      </p:sp>
      <p:sp>
        <p:nvSpPr>
          <p:cNvPr id="57" name="Text strana 60, řádek 55">
            <a:extLst>
              <a:ext uri="{FF2B5EF4-FFF2-40B4-BE49-F238E27FC236}">
                <a16:creationId xmlns:a16="http://schemas.microsoft.com/office/drawing/2014/main" id="{1E9575F0-D712-404A-B75E-BF0E421F945A}"/>
              </a:ext>
            </a:extLst>
          </p:cNvPr>
          <p:cNvSpPr>
            <a:spLocks noGrp="1"/>
          </p:cNvSpPr>
          <p:nvPr/>
        </p:nvSpPr>
        <p:spPr>
          <a:xfrm>
            <a:off x="651193" y="4453430"/>
            <a:ext cx="1322752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Nástroje a kanály</a:t>
            </a:r>
          </a:p>
        </p:txBody>
      </p:sp>
      <p:sp>
        <p:nvSpPr>
          <p:cNvPr id="58" name="Text strana 60, řádek 56">
            <a:extLst>
              <a:ext uri="{FF2B5EF4-FFF2-40B4-BE49-F238E27FC236}">
                <a16:creationId xmlns:a16="http://schemas.microsoft.com/office/drawing/2014/main" id="{8FA18793-1D11-4E33-A111-D98AC5E678E3}"/>
              </a:ext>
            </a:extLst>
          </p:cNvPr>
          <p:cNvSpPr>
            <a:spLocks noGrp="1"/>
          </p:cNvSpPr>
          <p:nvPr/>
        </p:nvSpPr>
        <p:spPr>
          <a:xfrm>
            <a:off x="2640330" y="3773710"/>
            <a:ext cx="624154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Online</a:t>
            </a:r>
          </a:p>
        </p:txBody>
      </p:sp>
      <p:sp>
        <p:nvSpPr>
          <p:cNvPr id="59" name="Text strana 60, řádek 57">
            <a:extLst>
              <a:ext uri="{FF2B5EF4-FFF2-40B4-BE49-F238E27FC236}">
                <a16:creationId xmlns:a16="http://schemas.microsoft.com/office/drawing/2014/main" id="{AAE16C3C-7C16-467B-BABC-F78DB9AF85C2}"/>
              </a:ext>
            </a:extLst>
          </p:cNvPr>
          <p:cNvSpPr>
            <a:spLocks noGrp="1"/>
          </p:cNvSpPr>
          <p:nvPr/>
        </p:nvSpPr>
        <p:spPr>
          <a:xfrm>
            <a:off x="4408170" y="3605689"/>
            <a:ext cx="1953120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60" name="Text strana 60, řádek 58">
            <a:extLst>
              <a:ext uri="{FF2B5EF4-FFF2-40B4-BE49-F238E27FC236}">
                <a16:creationId xmlns:a16="http://schemas.microsoft.com/office/drawing/2014/main" id="{E63A96C6-0F67-4E38-B754-D1E8BCDDE5EF}"/>
              </a:ext>
            </a:extLst>
          </p:cNvPr>
          <p:cNvSpPr>
            <a:spLocks noGrp="1"/>
          </p:cNvSpPr>
          <p:nvPr/>
        </p:nvSpPr>
        <p:spPr>
          <a:xfrm>
            <a:off x="4988814" y="3767376"/>
            <a:ext cx="615496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61" name="Text strana 60, řádek 59">
            <a:extLst>
              <a:ext uri="{FF2B5EF4-FFF2-40B4-BE49-F238E27FC236}">
                <a16:creationId xmlns:a16="http://schemas.microsoft.com/office/drawing/2014/main" id="{D832D24E-BE24-4BDA-809D-884F072CED3D}"/>
              </a:ext>
            </a:extLst>
          </p:cNvPr>
          <p:cNvSpPr>
            <a:spLocks noGrp="1"/>
          </p:cNvSpPr>
          <p:nvPr/>
        </p:nvSpPr>
        <p:spPr>
          <a:xfrm>
            <a:off x="6215380" y="3605689"/>
            <a:ext cx="1951201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62" name="Text strana 60, řádek 60">
            <a:extLst>
              <a:ext uri="{FF2B5EF4-FFF2-40B4-BE49-F238E27FC236}">
                <a16:creationId xmlns:a16="http://schemas.microsoft.com/office/drawing/2014/main" id="{285CBDA1-BEBF-440B-8C32-B91C85A0C73E}"/>
              </a:ext>
            </a:extLst>
          </p:cNvPr>
          <p:cNvSpPr>
            <a:spLocks noGrp="1"/>
          </p:cNvSpPr>
          <p:nvPr/>
        </p:nvSpPr>
        <p:spPr>
          <a:xfrm>
            <a:off x="6796151" y="3767376"/>
            <a:ext cx="61517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63" name="Text strana 60, řádek 61">
            <a:extLst>
              <a:ext uri="{FF2B5EF4-FFF2-40B4-BE49-F238E27FC236}">
                <a16:creationId xmlns:a16="http://schemas.microsoft.com/office/drawing/2014/main" id="{6D5C4066-81A7-4AD2-895A-FCF633BF2A5F}"/>
              </a:ext>
            </a:extLst>
          </p:cNvPr>
          <p:cNvSpPr>
            <a:spLocks noGrp="1"/>
          </p:cNvSpPr>
          <p:nvPr/>
        </p:nvSpPr>
        <p:spPr>
          <a:xfrm>
            <a:off x="8022590" y="3605689"/>
            <a:ext cx="1951200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64" name="Text strana 60, řádek 62">
            <a:extLst>
              <a:ext uri="{FF2B5EF4-FFF2-40B4-BE49-F238E27FC236}">
                <a16:creationId xmlns:a16="http://schemas.microsoft.com/office/drawing/2014/main" id="{D71329D5-00B5-49E8-8D77-8A3D50FBE2E9}"/>
              </a:ext>
            </a:extLst>
          </p:cNvPr>
          <p:cNvSpPr>
            <a:spLocks noGrp="1"/>
          </p:cNvSpPr>
          <p:nvPr/>
        </p:nvSpPr>
        <p:spPr>
          <a:xfrm>
            <a:off x="8603361" y="3767376"/>
            <a:ext cx="61517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65" name="Text strana 60, řádek 63">
            <a:extLst>
              <a:ext uri="{FF2B5EF4-FFF2-40B4-BE49-F238E27FC236}">
                <a16:creationId xmlns:a16="http://schemas.microsoft.com/office/drawing/2014/main" id="{D3697B08-C2A7-48ED-832E-2BF603855E9A}"/>
              </a:ext>
            </a:extLst>
          </p:cNvPr>
          <p:cNvSpPr>
            <a:spLocks noGrp="1"/>
          </p:cNvSpPr>
          <p:nvPr/>
        </p:nvSpPr>
        <p:spPr>
          <a:xfrm>
            <a:off x="9742170" y="3773710"/>
            <a:ext cx="2361969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kanály</a:t>
            </a:r>
          </a:p>
        </p:txBody>
      </p:sp>
      <p:sp>
        <p:nvSpPr>
          <p:cNvPr id="66" name="Text strana 60, řádek 64">
            <a:extLst>
              <a:ext uri="{FF2B5EF4-FFF2-40B4-BE49-F238E27FC236}">
                <a16:creationId xmlns:a16="http://schemas.microsoft.com/office/drawing/2014/main" id="{4F2AE387-DF6B-4449-BB22-B5E65BD7B0E4}"/>
              </a:ext>
            </a:extLst>
          </p:cNvPr>
          <p:cNvSpPr>
            <a:spLocks noGrp="1"/>
          </p:cNvSpPr>
          <p:nvPr/>
        </p:nvSpPr>
        <p:spPr>
          <a:xfrm>
            <a:off x="2640330" y="4168315"/>
            <a:ext cx="64516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Offline</a:t>
            </a:r>
          </a:p>
        </p:txBody>
      </p:sp>
      <p:sp>
        <p:nvSpPr>
          <p:cNvPr id="67" name="Text strana 60, řádek 65">
            <a:extLst>
              <a:ext uri="{FF2B5EF4-FFF2-40B4-BE49-F238E27FC236}">
                <a16:creationId xmlns:a16="http://schemas.microsoft.com/office/drawing/2014/main" id="{9D3350EB-D038-40C7-B470-C3770FFF8BA6}"/>
              </a:ext>
            </a:extLst>
          </p:cNvPr>
          <p:cNvSpPr>
            <a:spLocks noGrp="1"/>
          </p:cNvSpPr>
          <p:nvPr/>
        </p:nvSpPr>
        <p:spPr>
          <a:xfrm>
            <a:off x="4408170" y="4000421"/>
            <a:ext cx="1952870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68" name="Text strana 60, řádek 66">
            <a:extLst>
              <a:ext uri="{FF2B5EF4-FFF2-40B4-BE49-F238E27FC236}">
                <a16:creationId xmlns:a16="http://schemas.microsoft.com/office/drawing/2014/main" id="{6BBF3741-43D3-4D87-B987-8DC51E96364A}"/>
              </a:ext>
            </a:extLst>
          </p:cNvPr>
          <p:cNvSpPr>
            <a:spLocks noGrp="1"/>
          </p:cNvSpPr>
          <p:nvPr/>
        </p:nvSpPr>
        <p:spPr>
          <a:xfrm>
            <a:off x="4988814" y="4162727"/>
            <a:ext cx="615496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69" name="Text strana 60, řádek 67">
            <a:extLst>
              <a:ext uri="{FF2B5EF4-FFF2-40B4-BE49-F238E27FC236}">
                <a16:creationId xmlns:a16="http://schemas.microsoft.com/office/drawing/2014/main" id="{151CC14A-AB27-4ADF-B553-E575AE8F2C4D}"/>
              </a:ext>
            </a:extLst>
          </p:cNvPr>
          <p:cNvSpPr>
            <a:spLocks noGrp="1"/>
          </p:cNvSpPr>
          <p:nvPr/>
        </p:nvSpPr>
        <p:spPr>
          <a:xfrm>
            <a:off x="6215380" y="4000421"/>
            <a:ext cx="1950943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70" name="Text strana 60, řádek 68">
            <a:extLst>
              <a:ext uri="{FF2B5EF4-FFF2-40B4-BE49-F238E27FC236}">
                <a16:creationId xmlns:a16="http://schemas.microsoft.com/office/drawing/2014/main" id="{6FF98443-C3AE-40CF-8B06-07FEAF006B5E}"/>
              </a:ext>
            </a:extLst>
          </p:cNvPr>
          <p:cNvSpPr>
            <a:spLocks noGrp="1"/>
          </p:cNvSpPr>
          <p:nvPr/>
        </p:nvSpPr>
        <p:spPr>
          <a:xfrm>
            <a:off x="6796151" y="4162727"/>
            <a:ext cx="61517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71" name="Text strana 60, řádek 69">
            <a:extLst>
              <a:ext uri="{FF2B5EF4-FFF2-40B4-BE49-F238E27FC236}">
                <a16:creationId xmlns:a16="http://schemas.microsoft.com/office/drawing/2014/main" id="{9FC5A442-FD76-42CC-A1D2-81153690E008}"/>
              </a:ext>
            </a:extLst>
          </p:cNvPr>
          <p:cNvSpPr>
            <a:spLocks noGrp="1"/>
          </p:cNvSpPr>
          <p:nvPr/>
        </p:nvSpPr>
        <p:spPr>
          <a:xfrm>
            <a:off x="8022590" y="4000421"/>
            <a:ext cx="1950942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72" name="Text strana 60, řádek 70">
            <a:extLst>
              <a:ext uri="{FF2B5EF4-FFF2-40B4-BE49-F238E27FC236}">
                <a16:creationId xmlns:a16="http://schemas.microsoft.com/office/drawing/2014/main" id="{DA3ABC48-9A24-4887-9C49-77450397DEDC}"/>
              </a:ext>
            </a:extLst>
          </p:cNvPr>
          <p:cNvSpPr>
            <a:spLocks noGrp="1"/>
          </p:cNvSpPr>
          <p:nvPr/>
        </p:nvSpPr>
        <p:spPr>
          <a:xfrm>
            <a:off x="8603361" y="4162727"/>
            <a:ext cx="61517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73" name="Text strana 60, řádek 71">
            <a:extLst>
              <a:ext uri="{FF2B5EF4-FFF2-40B4-BE49-F238E27FC236}">
                <a16:creationId xmlns:a16="http://schemas.microsoft.com/office/drawing/2014/main" id="{960C5CEF-D6C7-4D7F-AE96-D2DE82F42690}"/>
              </a:ext>
            </a:extLst>
          </p:cNvPr>
          <p:cNvSpPr>
            <a:spLocks noGrp="1"/>
          </p:cNvSpPr>
          <p:nvPr/>
        </p:nvSpPr>
        <p:spPr>
          <a:xfrm>
            <a:off x="9742170" y="4168315"/>
            <a:ext cx="236278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kanály</a:t>
            </a:r>
          </a:p>
        </p:txBody>
      </p:sp>
      <p:sp>
        <p:nvSpPr>
          <p:cNvPr id="74" name="Text strana 60, řádek 72">
            <a:extLst>
              <a:ext uri="{FF2B5EF4-FFF2-40B4-BE49-F238E27FC236}">
                <a16:creationId xmlns:a16="http://schemas.microsoft.com/office/drawing/2014/main" id="{601BB86A-ECD8-4452-B14C-E9C3EAB345DB}"/>
              </a:ext>
            </a:extLst>
          </p:cNvPr>
          <p:cNvSpPr>
            <a:spLocks noGrp="1"/>
          </p:cNvSpPr>
          <p:nvPr/>
        </p:nvSpPr>
        <p:spPr>
          <a:xfrm>
            <a:off x="2640330" y="4563285"/>
            <a:ext cx="64099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Eventy</a:t>
            </a:r>
          </a:p>
        </p:txBody>
      </p:sp>
      <p:sp>
        <p:nvSpPr>
          <p:cNvPr id="75" name="Text strana 60, řádek 73">
            <a:extLst>
              <a:ext uri="{FF2B5EF4-FFF2-40B4-BE49-F238E27FC236}">
                <a16:creationId xmlns:a16="http://schemas.microsoft.com/office/drawing/2014/main" id="{4D846602-0501-4543-A324-20CA8F4E347A}"/>
              </a:ext>
            </a:extLst>
          </p:cNvPr>
          <p:cNvSpPr>
            <a:spLocks noGrp="1"/>
          </p:cNvSpPr>
          <p:nvPr/>
        </p:nvSpPr>
        <p:spPr>
          <a:xfrm>
            <a:off x="4408170" y="4395883"/>
            <a:ext cx="1953120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76" name="Text strana 60, řádek 74">
            <a:extLst>
              <a:ext uri="{FF2B5EF4-FFF2-40B4-BE49-F238E27FC236}">
                <a16:creationId xmlns:a16="http://schemas.microsoft.com/office/drawing/2014/main" id="{A56AD508-7AB3-40BA-9DBC-8FE6DB378550}"/>
              </a:ext>
            </a:extLst>
          </p:cNvPr>
          <p:cNvSpPr>
            <a:spLocks noGrp="1"/>
          </p:cNvSpPr>
          <p:nvPr/>
        </p:nvSpPr>
        <p:spPr>
          <a:xfrm>
            <a:off x="4988814" y="4557697"/>
            <a:ext cx="615496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77" name="Text strana 60, řádek 75">
            <a:extLst>
              <a:ext uri="{FF2B5EF4-FFF2-40B4-BE49-F238E27FC236}">
                <a16:creationId xmlns:a16="http://schemas.microsoft.com/office/drawing/2014/main" id="{0B1CE1B0-314F-4932-BC3C-E837E99F425B}"/>
              </a:ext>
            </a:extLst>
          </p:cNvPr>
          <p:cNvSpPr>
            <a:spLocks noGrp="1"/>
          </p:cNvSpPr>
          <p:nvPr/>
        </p:nvSpPr>
        <p:spPr>
          <a:xfrm>
            <a:off x="6215380" y="4395883"/>
            <a:ext cx="1951201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78" name="Text strana 60, řádek 76">
            <a:extLst>
              <a:ext uri="{FF2B5EF4-FFF2-40B4-BE49-F238E27FC236}">
                <a16:creationId xmlns:a16="http://schemas.microsoft.com/office/drawing/2014/main" id="{7C4EDCFF-8150-4BC3-AF23-24E5430C82DC}"/>
              </a:ext>
            </a:extLst>
          </p:cNvPr>
          <p:cNvSpPr>
            <a:spLocks noGrp="1"/>
          </p:cNvSpPr>
          <p:nvPr/>
        </p:nvSpPr>
        <p:spPr>
          <a:xfrm>
            <a:off x="6796151" y="4557697"/>
            <a:ext cx="61517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79" name="Text strana 60, řádek 77">
            <a:extLst>
              <a:ext uri="{FF2B5EF4-FFF2-40B4-BE49-F238E27FC236}">
                <a16:creationId xmlns:a16="http://schemas.microsoft.com/office/drawing/2014/main" id="{0E98301A-D911-4A50-8FF4-D1D88A37B4B2}"/>
              </a:ext>
            </a:extLst>
          </p:cNvPr>
          <p:cNvSpPr>
            <a:spLocks noGrp="1"/>
          </p:cNvSpPr>
          <p:nvPr/>
        </p:nvSpPr>
        <p:spPr>
          <a:xfrm>
            <a:off x="8022590" y="4395883"/>
            <a:ext cx="1951200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80" name="Text strana 60, řádek 78">
            <a:extLst>
              <a:ext uri="{FF2B5EF4-FFF2-40B4-BE49-F238E27FC236}">
                <a16:creationId xmlns:a16="http://schemas.microsoft.com/office/drawing/2014/main" id="{14B4B893-4C82-4158-81DD-6915B4D9FD90}"/>
              </a:ext>
            </a:extLst>
          </p:cNvPr>
          <p:cNvSpPr>
            <a:spLocks noGrp="1"/>
          </p:cNvSpPr>
          <p:nvPr/>
        </p:nvSpPr>
        <p:spPr>
          <a:xfrm>
            <a:off x="8603361" y="4557697"/>
            <a:ext cx="61517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81" name="Text strana 60, řádek 79">
            <a:extLst>
              <a:ext uri="{FF2B5EF4-FFF2-40B4-BE49-F238E27FC236}">
                <a16:creationId xmlns:a16="http://schemas.microsoft.com/office/drawing/2014/main" id="{6C5A8C81-AE03-46E6-B9E9-D9E094549ACB}"/>
              </a:ext>
            </a:extLst>
          </p:cNvPr>
          <p:cNvSpPr>
            <a:spLocks noGrp="1"/>
          </p:cNvSpPr>
          <p:nvPr/>
        </p:nvSpPr>
        <p:spPr>
          <a:xfrm>
            <a:off x="9742170" y="4563285"/>
            <a:ext cx="236278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kanály</a:t>
            </a:r>
          </a:p>
        </p:txBody>
      </p:sp>
      <p:sp>
        <p:nvSpPr>
          <p:cNvPr id="82" name="Text strana 60, řádek 80">
            <a:extLst>
              <a:ext uri="{FF2B5EF4-FFF2-40B4-BE49-F238E27FC236}">
                <a16:creationId xmlns:a16="http://schemas.microsoft.com/office/drawing/2014/main" id="{34CC4CCA-8032-40CF-8478-E5717CAD19C2}"/>
              </a:ext>
            </a:extLst>
          </p:cNvPr>
          <p:cNvSpPr>
            <a:spLocks noGrp="1"/>
          </p:cNvSpPr>
          <p:nvPr/>
        </p:nvSpPr>
        <p:spPr>
          <a:xfrm>
            <a:off x="2640330" y="4958636"/>
            <a:ext cx="859588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Face2Face</a:t>
            </a:r>
          </a:p>
        </p:txBody>
      </p:sp>
      <p:sp>
        <p:nvSpPr>
          <p:cNvPr id="83" name="Text strana 60, řádek 81">
            <a:extLst>
              <a:ext uri="{FF2B5EF4-FFF2-40B4-BE49-F238E27FC236}">
                <a16:creationId xmlns:a16="http://schemas.microsoft.com/office/drawing/2014/main" id="{0A33E030-D5C2-40EC-9CB2-141856FFA312}"/>
              </a:ext>
            </a:extLst>
          </p:cNvPr>
          <p:cNvSpPr>
            <a:spLocks noGrp="1"/>
          </p:cNvSpPr>
          <p:nvPr/>
        </p:nvSpPr>
        <p:spPr>
          <a:xfrm>
            <a:off x="4408170" y="4790742"/>
            <a:ext cx="1952870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84" name="Text strana 60, řádek 82">
            <a:extLst>
              <a:ext uri="{FF2B5EF4-FFF2-40B4-BE49-F238E27FC236}">
                <a16:creationId xmlns:a16="http://schemas.microsoft.com/office/drawing/2014/main" id="{F1131941-57AE-4430-963A-43008BF48DAA}"/>
              </a:ext>
            </a:extLst>
          </p:cNvPr>
          <p:cNvSpPr>
            <a:spLocks noGrp="1"/>
          </p:cNvSpPr>
          <p:nvPr/>
        </p:nvSpPr>
        <p:spPr>
          <a:xfrm>
            <a:off x="4988814" y="4952921"/>
            <a:ext cx="615496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85" name="Text strana 60, řádek 83">
            <a:extLst>
              <a:ext uri="{FF2B5EF4-FFF2-40B4-BE49-F238E27FC236}">
                <a16:creationId xmlns:a16="http://schemas.microsoft.com/office/drawing/2014/main" id="{684AF648-466B-471C-BD12-096E2BFEB28F}"/>
              </a:ext>
            </a:extLst>
          </p:cNvPr>
          <p:cNvSpPr>
            <a:spLocks noGrp="1"/>
          </p:cNvSpPr>
          <p:nvPr/>
        </p:nvSpPr>
        <p:spPr>
          <a:xfrm>
            <a:off x="6215380" y="4790742"/>
            <a:ext cx="1950943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86" name="Text strana 60, řádek 84">
            <a:extLst>
              <a:ext uri="{FF2B5EF4-FFF2-40B4-BE49-F238E27FC236}">
                <a16:creationId xmlns:a16="http://schemas.microsoft.com/office/drawing/2014/main" id="{B113154F-9344-4151-B76B-85283A3561CF}"/>
              </a:ext>
            </a:extLst>
          </p:cNvPr>
          <p:cNvSpPr>
            <a:spLocks noGrp="1"/>
          </p:cNvSpPr>
          <p:nvPr/>
        </p:nvSpPr>
        <p:spPr>
          <a:xfrm>
            <a:off x="6796151" y="4952921"/>
            <a:ext cx="61517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87" name="Text strana 60, řádek 85">
            <a:extLst>
              <a:ext uri="{FF2B5EF4-FFF2-40B4-BE49-F238E27FC236}">
                <a16:creationId xmlns:a16="http://schemas.microsoft.com/office/drawing/2014/main" id="{6D904254-0AB0-4FA8-86C8-91022B493CBE}"/>
              </a:ext>
            </a:extLst>
          </p:cNvPr>
          <p:cNvSpPr>
            <a:spLocks noGrp="1"/>
          </p:cNvSpPr>
          <p:nvPr/>
        </p:nvSpPr>
        <p:spPr>
          <a:xfrm>
            <a:off x="8022590" y="4790742"/>
            <a:ext cx="1950942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88" name="Text strana 60, řádek 86">
            <a:extLst>
              <a:ext uri="{FF2B5EF4-FFF2-40B4-BE49-F238E27FC236}">
                <a16:creationId xmlns:a16="http://schemas.microsoft.com/office/drawing/2014/main" id="{041B1E74-4E6E-4380-9C5C-770B5F19CCA8}"/>
              </a:ext>
            </a:extLst>
          </p:cNvPr>
          <p:cNvSpPr>
            <a:spLocks noGrp="1"/>
          </p:cNvSpPr>
          <p:nvPr/>
        </p:nvSpPr>
        <p:spPr>
          <a:xfrm>
            <a:off x="8603361" y="4952921"/>
            <a:ext cx="61517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89" name="Text strana 60, řádek 87">
            <a:extLst>
              <a:ext uri="{FF2B5EF4-FFF2-40B4-BE49-F238E27FC236}">
                <a16:creationId xmlns:a16="http://schemas.microsoft.com/office/drawing/2014/main" id="{62204EBB-60E6-48C9-B8E9-A24BE13FBDED}"/>
              </a:ext>
            </a:extLst>
          </p:cNvPr>
          <p:cNvSpPr>
            <a:spLocks noGrp="1"/>
          </p:cNvSpPr>
          <p:nvPr/>
        </p:nvSpPr>
        <p:spPr>
          <a:xfrm>
            <a:off x="9742170" y="4958636"/>
            <a:ext cx="236278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kanály</a:t>
            </a:r>
          </a:p>
        </p:txBody>
      </p:sp>
      <p:sp>
        <p:nvSpPr>
          <p:cNvPr id="90" name="Text strana 60, řádek 88">
            <a:extLst>
              <a:ext uri="{FF2B5EF4-FFF2-40B4-BE49-F238E27FC236}">
                <a16:creationId xmlns:a16="http://schemas.microsoft.com/office/drawing/2014/main" id="{C3AA6F1E-3E2F-42C2-9D20-832E719FB564}"/>
              </a:ext>
            </a:extLst>
          </p:cNvPr>
          <p:cNvSpPr>
            <a:spLocks noGrp="1"/>
          </p:cNvSpPr>
          <p:nvPr/>
        </p:nvSpPr>
        <p:spPr>
          <a:xfrm>
            <a:off x="2640330" y="5353606"/>
            <a:ext cx="1217546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Media relations</a:t>
            </a:r>
          </a:p>
        </p:txBody>
      </p:sp>
      <p:sp>
        <p:nvSpPr>
          <p:cNvPr id="91" name="Text strana 60, řádek 89">
            <a:extLst>
              <a:ext uri="{FF2B5EF4-FFF2-40B4-BE49-F238E27FC236}">
                <a16:creationId xmlns:a16="http://schemas.microsoft.com/office/drawing/2014/main" id="{B033F939-625F-43C3-99EE-94E8A37C0F76}"/>
              </a:ext>
            </a:extLst>
          </p:cNvPr>
          <p:cNvSpPr>
            <a:spLocks noGrp="1"/>
          </p:cNvSpPr>
          <p:nvPr/>
        </p:nvSpPr>
        <p:spPr>
          <a:xfrm>
            <a:off x="4408170" y="5186204"/>
            <a:ext cx="1953120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92" name="Text strana 60, řádek 90">
            <a:extLst>
              <a:ext uri="{FF2B5EF4-FFF2-40B4-BE49-F238E27FC236}">
                <a16:creationId xmlns:a16="http://schemas.microsoft.com/office/drawing/2014/main" id="{7BBB7679-5297-4BCF-B94C-B8660B61C326}"/>
              </a:ext>
            </a:extLst>
          </p:cNvPr>
          <p:cNvSpPr>
            <a:spLocks noGrp="1"/>
          </p:cNvSpPr>
          <p:nvPr/>
        </p:nvSpPr>
        <p:spPr>
          <a:xfrm>
            <a:off x="4988814" y="5347891"/>
            <a:ext cx="615496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93" name="Text strana 60, řádek 91">
            <a:extLst>
              <a:ext uri="{FF2B5EF4-FFF2-40B4-BE49-F238E27FC236}">
                <a16:creationId xmlns:a16="http://schemas.microsoft.com/office/drawing/2014/main" id="{5EC06280-1950-4C6A-9A51-74EE440733F5}"/>
              </a:ext>
            </a:extLst>
          </p:cNvPr>
          <p:cNvSpPr>
            <a:spLocks noGrp="1"/>
          </p:cNvSpPr>
          <p:nvPr/>
        </p:nvSpPr>
        <p:spPr>
          <a:xfrm>
            <a:off x="6215380" y="5186204"/>
            <a:ext cx="1951201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94" name="Text strana 60, řádek 92">
            <a:extLst>
              <a:ext uri="{FF2B5EF4-FFF2-40B4-BE49-F238E27FC236}">
                <a16:creationId xmlns:a16="http://schemas.microsoft.com/office/drawing/2014/main" id="{8D0D58CA-DA3D-44A4-B154-B9204D5E4CA1}"/>
              </a:ext>
            </a:extLst>
          </p:cNvPr>
          <p:cNvSpPr>
            <a:spLocks noGrp="1"/>
          </p:cNvSpPr>
          <p:nvPr/>
        </p:nvSpPr>
        <p:spPr>
          <a:xfrm>
            <a:off x="6796151" y="5347891"/>
            <a:ext cx="61517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95" name="Text strana 60, řádek 93">
            <a:extLst>
              <a:ext uri="{FF2B5EF4-FFF2-40B4-BE49-F238E27FC236}">
                <a16:creationId xmlns:a16="http://schemas.microsoft.com/office/drawing/2014/main" id="{0CD5B587-FABD-4FEE-982D-A2E4A50F704B}"/>
              </a:ext>
            </a:extLst>
          </p:cNvPr>
          <p:cNvSpPr>
            <a:spLocks noGrp="1"/>
          </p:cNvSpPr>
          <p:nvPr/>
        </p:nvSpPr>
        <p:spPr>
          <a:xfrm>
            <a:off x="8022590" y="5186204"/>
            <a:ext cx="1951200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</a:t>
            </a:r>
          </a:p>
        </p:txBody>
      </p:sp>
      <p:sp>
        <p:nvSpPr>
          <p:cNvPr id="96" name="Text strana 60, řádek 94">
            <a:extLst>
              <a:ext uri="{FF2B5EF4-FFF2-40B4-BE49-F238E27FC236}">
                <a16:creationId xmlns:a16="http://schemas.microsoft.com/office/drawing/2014/main" id="{BDB9AF1D-6B0C-47CD-88C2-28279346B7A5}"/>
              </a:ext>
            </a:extLst>
          </p:cNvPr>
          <p:cNvSpPr>
            <a:spLocks noGrp="1"/>
          </p:cNvSpPr>
          <p:nvPr/>
        </p:nvSpPr>
        <p:spPr>
          <a:xfrm>
            <a:off x="8603361" y="5347891"/>
            <a:ext cx="61517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kanály</a:t>
            </a:r>
          </a:p>
        </p:txBody>
      </p:sp>
      <p:sp>
        <p:nvSpPr>
          <p:cNvPr id="97" name="Text strana 60, řádek 95">
            <a:extLst>
              <a:ext uri="{FF2B5EF4-FFF2-40B4-BE49-F238E27FC236}">
                <a16:creationId xmlns:a16="http://schemas.microsoft.com/office/drawing/2014/main" id="{8A542462-3A43-4380-AF18-E250C8C52766}"/>
              </a:ext>
            </a:extLst>
          </p:cNvPr>
          <p:cNvSpPr>
            <a:spLocks noGrp="1"/>
          </p:cNvSpPr>
          <p:nvPr/>
        </p:nvSpPr>
        <p:spPr>
          <a:xfrm>
            <a:off x="9742170" y="5353606"/>
            <a:ext cx="236278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Prioritní nástroje/konkrétní kanály</a:t>
            </a:r>
          </a:p>
        </p:txBody>
      </p:sp>
      <p:sp>
        <p:nvSpPr>
          <p:cNvPr id="98" name="Text strana 60, řádek 96">
            <a:extLst>
              <a:ext uri="{FF2B5EF4-FFF2-40B4-BE49-F238E27FC236}">
                <a16:creationId xmlns:a16="http://schemas.microsoft.com/office/drawing/2014/main" id="{8C1CDBDD-1664-4496-A961-F1F6CB640290}"/>
              </a:ext>
            </a:extLst>
          </p:cNvPr>
          <p:cNvSpPr>
            <a:spLocks noGrp="1"/>
          </p:cNvSpPr>
          <p:nvPr/>
        </p:nvSpPr>
        <p:spPr>
          <a:xfrm>
            <a:off x="651193" y="5663486"/>
            <a:ext cx="667617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Měření</a:t>
            </a:r>
          </a:p>
        </p:txBody>
      </p:sp>
      <p:sp>
        <p:nvSpPr>
          <p:cNvPr id="99" name="Text strana 60, řádek 97">
            <a:extLst>
              <a:ext uri="{FF2B5EF4-FFF2-40B4-BE49-F238E27FC236}">
                <a16:creationId xmlns:a16="http://schemas.microsoft.com/office/drawing/2014/main" id="{0B599A7B-4407-461E-8C8F-BC127B8DFDC0}"/>
              </a:ext>
            </a:extLst>
          </p:cNvPr>
          <p:cNvSpPr>
            <a:spLocks noGrp="1"/>
          </p:cNvSpPr>
          <p:nvPr/>
        </p:nvSpPr>
        <p:spPr>
          <a:xfrm>
            <a:off x="2640330" y="5575856"/>
            <a:ext cx="704985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Metriky</a:t>
            </a:r>
          </a:p>
        </p:txBody>
      </p:sp>
      <p:sp>
        <p:nvSpPr>
          <p:cNvPr id="100" name="Text strana 60, řádek 98">
            <a:extLst>
              <a:ext uri="{FF2B5EF4-FFF2-40B4-BE49-F238E27FC236}">
                <a16:creationId xmlns:a16="http://schemas.microsoft.com/office/drawing/2014/main" id="{58B11A21-A0E7-414E-B70F-13DC3EC1C5F8}"/>
              </a:ext>
            </a:extLst>
          </p:cNvPr>
          <p:cNvSpPr>
            <a:spLocks noGrp="1"/>
          </p:cNvSpPr>
          <p:nvPr/>
        </p:nvSpPr>
        <p:spPr>
          <a:xfrm>
            <a:off x="4857115" y="5575856"/>
            <a:ext cx="903850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Jak změřím</a:t>
            </a:r>
          </a:p>
        </p:txBody>
      </p:sp>
      <p:sp>
        <p:nvSpPr>
          <p:cNvPr id="101" name="Text strana 60, řádek 99">
            <a:extLst>
              <a:ext uri="{FF2B5EF4-FFF2-40B4-BE49-F238E27FC236}">
                <a16:creationId xmlns:a16="http://schemas.microsoft.com/office/drawing/2014/main" id="{6E225380-92D0-4E97-B545-5ABE23F61D19}"/>
              </a:ext>
            </a:extLst>
          </p:cNvPr>
          <p:cNvSpPr>
            <a:spLocks noGrp="1"/>
          </p:cNvSpPr>
          <p:nvPr/>
        </p:nvSpPr>
        <p:spPr>
          <a:xfrm>
            <a:off x="6664325" y="5575856"/>
            <a:ext cx="903850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Jak změřím</a:t>
            </a:r>
          </a:p>
        </p:txBody>
      </p:sp>
      <p:sp>
        <p:nvSpPr>
          <p:cNvPr id="102" name="Text strana 60, řádek 100">
            <a:extLst>
              <a:ext uri="{FF2B5EF4-FFF2-40B4-BE49-F238E27FC236}">
                <a16:creationId xmlns:a16="http://schemas.microsoft.com/office/drawing/2014/main" id="{F272D35D-B84A-4070-9FA3-BEC7CF19CF1B}"/>
              </a:ext>
            </a:extLst>
          </p:cNvPr>
          <p:cNvSpPr>
            <a:spLocks noGrp="1"/>
          </p:cNvSpPr>
          <p:nvPr/>
        </p:nvSpPr>
        <p:spPr>
          <a:xfrm>
            <a:off x="8471535" y="5575856"/>
            <a:ext cx="903850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Jak změřím</a:t>
            </a:r>
          </a:p>
        </p:txBody>
      </p:sp>
      <p:sp>
        <p:nvSpPr>
          <p:cNvPr id="103" name="Text strana 60, řádek 101">
            <a:extLst>
              <a:ext uri="{FF2B5EF4-FFF2-40B4-BE49-F238E27FC236}">
                <a16:creationId xmlns:a16="http://schemas.microsoft.com/office/drawing/2014/main" id="{F0C2871F-4D73-4E4A-A522-9EBDFD55B0E2}"/>
              </a:ext>
            </a:extLst>
          </p:cNvPr>
          <p:cNvSpPr>
            <a:spLocks noGrp="1"/>
          </p:cNvSpPr>
          <p:nvPr/>
        </p:nvSpPr>
        <p:spPr>
          <a:xfrm>
            <a:off x="10392791" y="5575856"/>
            <a:ext cx="905134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Jak změřím</a:t>
            </a:r>
          </a:p>
        </p:txBody>
      </p:sp>
      <p:sp>
        <p:nvSpPr>
          <p:cNvPr id="104" name="Text strana 60, řádek 102">
            <a:extLst>
              <a:ext uri="{FF2B5EF4-FFF2-40B4-BE49-F238E27FC236}">
                <a16:creationId xmlns:a16="http://schemas.microsoft.com/office/drawing/2014/main" id="{C3F20B44-02DD-4E8B-BD37-67CC539C0D26}"/>
              </a:ext>
            </a:extLst>
          </p:cNvPr>
          <p:cNvSpPr>
            <a:spLocks noGrp="1"/>
          </p:cNvSpPr>
          <p:nvPr/>
        </p:nvSpPr>
        <p:spPr>
          <a:xfrm>
            <a:off x="2640330" y="5798344"/>
            <a:ext cx="531502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Zdroj</a:t>
            </a:r>
          </a:p>
        </p:txBody>
      </p:sp>
      <p:sp>
        <p:nvSpPr>
          <p:cNvPr id="105" name="Text strana 60, řádek 103">
            <a:extLst>
              <a:ext uri="{FF2B5EF4-FFF2-40B4-BE49-F238E27FC236}">
                <a16:creationId xmlns:a16="http://schemas.microsoft.com/office/drawing/2014/main" id="{180880E3-C3E3-4839-8EE6-C64BA6093409}"/>
              </a:ext>
            </a:extLst>
          </p:cNvPr>
          <p:cNvSpPr>
            <a:spLocks noGrp="1"/>
          </p:cNvSpPr>
          <p:nvPr/>
        </p:nvSpPr>
        <p:spPr>
          <a:xfrm>
            <a:off x="4747514" y="5798344"/>
            <a:ext cx="1147101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Kde najdu data</a:t>
            </a:r>
          </a:p>
        </p:txBody>
      </p:sp>
      <p:sp>
        <p:nvSpPr>
          <p:cNvPr id="106" name="Text strana 60, řádek 104">
            <a:extLst>
              <a:ext uri="{FF2B5EF4-FFF2-40B4-BE49-F238E27FC236}">
                <a16:creationId xmlns:a16="http://schemas.microsoft.com/office/drawing/2014/main" id="{C970DBE6-C64E-4FF7-8301-D4958D9F2C59}"/>
              </a:ext>
            </a:extLst>
          </p:cNvPr>
          <p:cNvSpPr>
            <a:spLocks noGrp="1"/>
          </p:cNvSpPr>
          <p:nvPr/>
        </p:nvSpPr>
        <p:spPr>
          <a:xfrm>
            <a:off x="6554851" y="5798344"/>
            <a:ext cx="1147096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Kde najdu data</a:t>
            </a:r>
          </a:p>
        </p:txBody>
      </p:sp>
      <p:sp>
        <p:nvSpPr>
          <p:cNvPr id="107" name="Text strana 60, řádek 105">
            <a:extLst>
              <a:ext uri="{FF2B5EF4-FFF2-40B4-BE49-F238E27FC236}">
                <a16:creationId xmlns:a16="http://schemas.microsoft.com/office/drawing/2014/main" id="{8E10B338-8BAA-4474-8B75-58C1D008E6B4}"/>
              </a:ext>
            </a:extLst>
          </p:cNvPr>
          <p:cNvSpPr>
            <a:spLocks noGrp="1"/>
          </p:cNvSpPr>
          <p:nvPr/>
        </p:nvSpPr>
        <p:spPr>
          <a:xfrm>
            <a:off x="8361934" y="5798344"/>
            <a:ext cx="1147096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Kde najdu data</a:t>
            </a:r>
          </a:p>
        </p:txBody>
      </p:sp>
      <p:sp>
        <p:nvSpPr>
          <p:cNvPr id="108" name="Text strana 60, řádek 106">
            <a:extLst>
              <a:ext uri="{FF2B5EF4-FFF2-40B4-BE49-F238E27FC236}">
                <a16:creationId xmlns:a16="http://schemas.microsoft.com/office/drawing/2014/main" id="{92022E29-C554-4DD4-A150-670D9D58F9D6}"/>
              </a:ext>
            </a:extLst>
          </p:cNvPr>
          <p:cNvSpPr>
            <a:spLocks noGrp="1"/>
          </p:cNvSpPr>
          <p:nvPr/>
        </p:nvSpPr>
        <p:spPr>
          <a:xfrm>
            <a:off x="10283190" y="5798344"/>
            <a:ext cx="1147096" cy="1414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Kde najdu data</a:t>
            </a:r>
          </a:p>
        </p:txBody>
      </p:sp>
      <p:sp>
        <p:nvSpPr>
          <p:cNvPr id="109" name="Text strana 60, řádek 107">
            <a:extLst>
              <a:ext uri="{FF2B5EF4-FFF2-40B4-BE49-F238E27FC236}">
                <a16:creationId xmlns:a16="http://schemas.microsoft.com/office/drawing/2014/main" id="{FD7C4E2C-2B76-427D-8844-1E379F53D1D9}"/>
              </a:ext>
            </a:extLst>
          </p:cNvPr>
          <p:cNvSpPr>
            <a:spLocks noGrp="1"/>
          </p:cNvSpPr>
          <p:nvPr/>
        </p:nvSpPr>
        <p:spPr>
          <a:xfrm>
            <a:off x="10607421" y="6212126"/>
            <a:ext cx="1435016" cy="141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©JIC, Michal Veselý</a:t>
            </a:r>
          </a:p>
        </p:txBody>
      </p:sp>
      <p:sp>
        <p:nvSpPr>
          <p:cNvPr id="111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MKT Strategy Canavas_STDC</a:t>
            </a:r>
            <a:endParaRPr lang="cs-CZ" sz="3150"/>
          </a:p>
        </p:txBody>
      </p:sp>
    </p:spTree>
    <p:extLst>
      <p:ext uri="{BB962C8B-B14F-4D97-AF65-F5344CB8AC3E}">
        <p14:creationId xmlns:p14="http://schemas.microsoft.com/office/powerpoint/2010/main" val="18505404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42A34B75-2DC6-427A-A1B1-A9A020526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68761" y="0"/>
            <a:ext cx="7968752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CAFC3595-5D90-47A9-8E68-BAA52E7839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15175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04C354A4-B400-4754-A820-93C4F6B1A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394487"/>
            <a:ext cx="12192000" cy="6069027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CDD13D98-88FE-4073-8FB5-DABD610F99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25775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rkysová horní linka">
            <a:extLst>
              <a:ext uri="{FF2B5EF4-FFF2-40B4-BE49-F238E27FC236}">
                <a16:creationId xmlns:a16="http://schemas.microsoft.com/office/drawing/2014/main" id="{85E66ACF-7DEF-4892-A1E6-58AA1F3777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6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7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8" name="Hlavní sdělení"/>
          <p:cNvSpPr txBox="1"/>
          <p:nvPr/>
        </p:nvSpPr>
        <p:spPr>
          <a:xfrm>
            <a:off x="722376" y="1783080"/>
            <a:ext cx="722376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40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Komunikační strategie</a:t>
            </a:r>
            <a:endParaRPr lang="cs-CZ" sz="4000"/>
          </a:p>
        </p:txBody>
      </p:sp>
    </p:spTree>
    <p:extLst>
      <p:ext uri="{BB962C8B-B14F-4D97-AF65-F5344CB8AC3E}">
        <p14:creationId xmlns:p14="http://schemas.microsoft.com/office/powerpoint/2010/main" val="20517407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rkysová horní linka">
            <a:extLst>
              <a:ext uri="{FF2B5EF4-FFF2-40B4-BE49-F238E27FC236}">
                <a16:creationId xmlns:a16="http://schemas.microsoft.com/office/drawing/2014/main" id="{6642327E-FCEE-49C7-A6B8-B31B9B30E1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7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8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9" name="Hlavní sdělení"/>
          <p:cNvSpPr txBox="1"/>
          <p:nvPr/>
        </p:nvSpPr>
        <p:spPr>
          <a:xfrm>
            <a:off x="722376" y="1783080"/>
            <a:ext cx="722376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40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Podporujeme lidi v rozvoji podnikání, které může měnit svět.</a:t>
            </a:r>
            <a:endParaRPr lang="cs-CZ" sz="4000"/>
          </a:p>
        </p:txBody>
      </p:sp>
    </p:spTree>
    <p:extLst>
      <p:ext uri="{BB962C8B-B14F-4D97-AF65-F5344CB8AC3E}">
        <p14:creationId xmlns:p14="http://schemas.microsoft.com/office/powerpoint/2010/main" val="12410024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fický objekt 38">
            <a:extLst>
              <a:ext uri="{FF2B5EF4-FFF2-40B4-BE49-F238E27FC236}">
                <a16:creationId xmlns:a16="http://schemas.microsoft.com/office/drawing/2014/main" id="{1450B9F8-60F9-4D73-B258-97760CEC9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964F2CF4-AB0E-494D-A72F-4964C5B948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0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TG podle brandu</a:t>
            </a:r>
            <a:endParaRPr lang="cs-CZ" sz="3150"/>
          </a:p>
        </p:txBody>
      </p:sp>
      <p:sp>
        <p:nvSpPr>
          <p:cNvPr id="41" name="Text"/>
          <p:cNvSpPr txBox="1"/>
          <p:nvPr/>
        </p:nvSpPr>
        <p:spPr>
          <a:xfrm>
            <a:off x="722376" y="1554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everymen</a:t>
            </a:r>
            <a:endParaRPr lang="cs-CZ" sz="1800"/>
          </a:p>
        </p:txBody>
      </p:sp>
      <p:sp>
        <p:nvSpPr>
          <p:cNvPr id="42" name="Text"/>
          <p:cNvSpPr txBox="1"/>
          <p:nvPr/>
        </p:nvSpPr>
        <p:spPr>
          <a:xfrm>
            <a:off x="722376" y="196596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Lidi s touhou podnikat, lidi s podnikatelským projektem a ty, kteří chtějí zjistit, co všechno podnikání obnáší.</a:t>
            </a:r>
            <a:endParaRPr lang="cs-CZ" sz="1800"/>
          </a:p>
        </p:txBody>
      </p:sp>
      <p:sp>
        <p:nvSpPr>
          <p:cNvPr id="43" name="Text"/>
          <p:cNvSpPr txBox="1"/>
          <p:nvPr/>
        </p:nvSpPr>
        <p:spPr>
          <a:xfrm>
            <a:off x="722376" y="53949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1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Value proposition</a:t>
            </a:r>
            <a:endParaRPr lang="cs-CZ" sz="1100"/>
          </a:p>
        </p:txBody>
      </p:sp>
      <p:sp>
        <p:nvSpPr>
          <p:cNvPr id="44" name="Text"/>
          <p:cNvSpPr txBox="1"/>
          <p:nvPr/>
        </p:nvSpPr>
        <p:spPr>
          <a:xfrm>
            <a:off x="722376" y="562356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Pojď něco dělat. Staň se tvůrcem svého života.</a:t>
            </a:r>
            <a:endParaRPr lang="cs-CZ" sz="1400"/>
          </a:p>
        </p:txBody>
      </p:sp>
      <p:sp>
        <p:nvSpPr>
          <p:cNvPr id="45" name="Text"/>
          <p:cNvSpPr txBox="1"/>
          <p:nvPr/>
        </p:nvSpPr>
        <p:spPr>
          <a:xfrm>
            <a:off x="722376" y="621792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1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segmentace</a:t>
            </a:r>
            <a:endParaRPr lang="cs-CZ" sz="1100"/>
          </a:p>
        </p:txBody>
      </p:sp>
      <p:sp>
        <p:nvSpPr>
          <p:cNvPr id="46" name="Text"/>
          <p:cNvSpPr txBox="1"/>
          <p:nvPr/>
        </p:nvSpPr>
        <p:spPr>
          <a:xfrm>
            <a:off x="1773936" y="6217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studenti</a:t>
            </a:r>
            <a:r>
              <a:rPr lang="cs-CZ" sz="14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, </a:t>
            </a: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začínající</a:t>
            </a:r>
            <a:endParaRPr lang="cs-CZ" sz="1400"/>
          </a:p>
        </p:txBody>
      </p:sp>
      <p:sp>
        <p:nvSpPr>
          <p:cNvPr id="47" name="Text"/>
          <p:cNvSpPr txBox="1"/>
          <p:nvPr/>
        </p:nvSpPr>
        <p:spPr>
          <a:xfrm>
            <a:off x="4480560" y="1554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hero</a:t>
            </a:r>
            <a:endParaRPr lang="cs-CZ" sz="1800"/>
          </a:p>
        </p:txBody>
      </p:sp>
      <p:sp>
        <p:nvSpPr>
          <p:cNvPr id="48" name="Text"/>
          <p:cNvSpPr txBox="1"/>
          <p:nvPr/>
        </p:nvSpPr>
        <p:spPr>
          <a:xfrm>
            <a:off x="4480560" y="196596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Pro firmy a startupy, které se chtějí rozvíjet, růst a expandovat do zahraničí.</a:t>
            </a:r>
            <a:endParaRPr lang="cs-CZ" sz="1800"/>
          </a:p>
        </p:txBody>
      </p:sp>
      <p:sp>
        <p:nvSpPr>
          <p:cNvPr id="49" name="Text"/>
          <p:cNvSpPr txBox="1"/>
          <p:nvPr/>
        </p:nvSpPr>
        <p:spPr>
          <a:xfrm>
            <a:off x="4480560" y="53949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1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Value proposition</a:t>
            </a:r>
            <a:endParaRPr lang="cs-CZ" sz="1100"/>
          </a:p>
        </p:txBody>
      </p:sp>
      <p:sp>
        <p:nvSpPr>
          <p:cNvPr id="50" name="Text"/>
          <p:cNvSpPr txBox="1"/>
          <p:nvPr/>
        </p:nvSpPr>
        <p:spPr>
          <a:xfrm>
            <a:off x="4480560" y="562356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Jdeme s tebou do neznáma a podporujeme tě.</a:t>
            </a:r>
            <a:endParaRPr lang="cs-CZ" sz="1400"/>
          </a:p>
        </p:txBody>
      </p:sp>
      <p:sp>
        <p:nvSpPr>
          <p:cNvPr id="51" name="Text"/>
          <p:cNvSpPr txBox="1"/>
          <p:nvPr/>
        </p:nvSpPr>
        <p:spPr>
          <a:xfrm>
            <a:off x="4480560" y="621792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1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segmentace</a:t>
            </a:r>
            <a:endParaRPr lang="cs-CZ" sz="1100"/>
          </a:p>
        </p:txBody>
      </p:sp>
      <p:sp>
        <p:nvSpPr>
          <p:cNvPr id="52" name="Text"/>
          <p:cNvSpPr txBox="1"/>
          <p:nvPr/>
        </p:nvSpPr>
        <p:spPr>
          <a:xfrm>
            <a:off x="5532120" y="6217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zavedení</a:t>
            </a:r>
            <a:endParaRPr lang="cs-CZ" sz="1400"/>
          </a:p>
        </p:txBody>
      </p:sp>
      <p:sp>
        <p:nvSpPr>
          <p:cNvPr id="53" name="Text"/>
          <p:cNvSpPr txBox="1"/>
          <p:nvPr/>
        </p:nvSpPr>
        <p:spPr>
          <a:xfrm>
            <a:off x="8046720" y="1554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sage</a:t>
            </a:r>
            <a:endParaRPr lang="cs-CZ" sz="1800"/>
          </a:p>
        </p:txBody>
      </p:sp>
      <p:sp>
        <p:nvSpPr>
          <p:cNvPr id="54" name="Text"/>
          <p:cNvSpPr txBox="1"/>
          <p:nvPr/>
        </p:nvSpPr>
        <p:spPr>
          <a:xfrm>
            <a:off x="8046720" y="196596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Lidi, kteří hledají smysl v podnikání, majitele firem, kteří řeší efektivitu, výkonnost,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,</a:t>
            </a:r>
            <a:r>
              <a:rPr lang="cs-CZ" sz="18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ziskovost nebo řízení finančních zdrojů.</a:t>
            </a:r>
            <a:endParaRPr lang="cs-CZ" sz="1800"/>
          </a:p>
        </p:txBody>
      </p:sp>
      <p:sp>
        <p:nvSpPr>
          <p:cNvPr id="55" name="Text"/>
          <p:cNvSpPr txBox="1"/>
          <p:nvPr/>
        </p:nvSpPr>
        <p:spPr>
          <a:xfrm>
            <a:off x="8046720" y="53949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1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Value proposition</a:t>
            </a:r>
            <a:endParaRPr lang="cs-CZ" sz="1100"/>
          </a:p>
        </p:txBody>
      </p:sp>
      <p:sp>
        <p:nvSpPr>
          <p:cNvPr id="56" name="Text"/>
          <p:cNvSpPr txBox="1"/>
          <p:nvPr/>
        </p:nvSpPr>
        <p:spPr>
          <a:xfrm>
            <a:off x="8046720" y="562356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Společně jdeme do hloubky a hledáme příčinu problému a jeho řešení.</a:t>
            </a:r>
            <a:endParaRPr lang="cs-CZ" sz="1400"/>
          </a:p>
        </p:txBody>
      </p:sp>
      <p:sp>
        <p:nvSpPr>
          <p:cNvPr id="57" name="Text"/>
          <p:cNvSpPr txBox="1"/>
          <p:nvPr/>
        </p:nvSpPr>
        <p:spPr>
          <a:xfrm>
            <a:off x="8046720" y="621792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100" b="1" i="0" dirty="0">
                <a:solidFill>
                  <a:srgbClr val="168F92"/>
                </a:solidFill>
                <a:latin typeface="Arial"/>
                <a:ea typeface="Arial"/>
                <a:cs typeface="Arial"/>
              </a:rPr>
              <a:t>segmentace</a:t>
            </a:r>
            <a:endParaRPr lang="cs-CZ" sz="1100"/>
          </a:p>
        </p:txBody>
      </p:sp>
      <p:sp>
        <p:nvSpPr>
          <p:cNvPr id="58" name="Text"/>
          <p:cNvSpPr txBox="1"/>
          <p:nvPr/>
        </p:nvSpPr>
        <p:spPr>
          <a:xfrm>
            <a:off x="9098280" y="6217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4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šampioni</a:t>
            </a:r>
            <a:endParaRPr lang="cs-CZ" sz="1400"/>
          </a:p>
        </p:txBody>
      </p:sp>
    </p:spTree>
    <p:extLst>
      <p:ext uri="{BB962C8B-B14F-4D97-AF65-F5344CB8AC3E}">
        <p14:creationId xmlns:p14="http://schemas.microsoft.com/office/powerpoint/2010/main" val="6768133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cký objekt 26">
            <a:extLst>
              <a:ext uri="{FF2B5EF4-FFF2-40B4-BE49-F238E27FC236}">
                <a16:creationId xmlns:a16="http://schemas.microsoft.com/office/drawing/2014/main" id="{E3055095-9664-431B-8F26-6594A533C6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E06CA089-00AF-4577-AD6C-A75DB6848C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strana 66, řádek 1">
            <a:extLst>
              <a:ext uri="{FF2B5EF4-FFF2-40B4-BE49-F238E27FC236}">
                <a16:creationId xmlns:a16="http://schemas.microsoft.com/office/drawing/2014/main" id="{D7454B41-524B-44D3-9FC9-97148F597937}"/>
              </a:ext>
            </a:extLst>
          </p:cNvPr>
          <p:cNvSpPr>
            <a:spLocks noGrp="1"/>
          </p:cNvSpPr>
          <p:nvPr/>
        </p:nvSpPr>
        <p:spPr>
          <a:xfrm>
            <a:off x="155258" y="358789"/>
            <a:ext cx="1424239" cy="2583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Archetyp</a:t>
            </a:r>
          </a:p>
        </p:txBody>
      </p:sp>
      <p:sp>
        <p:nvSpPr>
          <p:cNvPr id="4" name="Text strana 66, řádek 2">
            <a:extLst>
              <a:ext uri="{FF2B5EF4-FFF2-40B4-BE49-F238E27FC236}">
                <a16:creationId xmlns:a16="http://schemas.microsoft.com/office/drawing/2014/main" id="{EE4994AE-C6EF-47D6-B5D0-84276D39B990}"/>
              </a:ext>
            </a:extLst>
          </p:cNvPr>
          <p:cNvSpPr>
            <a:spLocks noGrp="1"/>
          </p:cNvSpPr>
          <p:nvPr/>
        </p:nvSpPr>
        <p:spPr>
          <a:xfrm>
            <a:off x="2421636" y="358789"/>
            <a:ext cx="2263832" cy="2583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Tržní segmenty</a:t>
            </a:r>
          </a:p>
        </p:txBody>
      </p:sp>
      <p:sp>
        <p:nvSpPr>
          <p:cNvPr id="5" name="Text strana 66, řádek 3">
            <a:extLst>
              <a:ext uri="{FF2B5EF4-FFF2-40B4-BE49-F238E27FC236}">
                <a16:creationId xmlns:a16="http://schemas.microsoft.com/office/drawing/2014/main" id="{0F1B8AFF-DFEE-4914-846C-444CD8F4C7B6}"/>
              </a:ext>
            </a:extLst>
          </p:cNvPr>
          <p:cNvSpPr>
            <a:spLocks noGrp="1"/>
          </p:cNvSpPr>
          <p:nvPr/>
        </p:nvSpPr>
        <p:spPr>
          <a:xfrm>
            <a:off x="8238490" y="358789"/>
            <a:ext cx="1321570" cy="2583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Persony</a:t>
            </a:r>
          </a:p>
        </p:txBody>
      </p:sp>
      <p:sp>
        <p:nvSpPr>
          <p:cNvPr id="6" name="Text strana 66, řádek 4">
            <a:extLst>
              <a:ext uri="{FF2B5EF4-FFF2-40B4-BE49-F238E27FC236}">
                <a16:creationId xmlns:a16="http://schemas.microsoft.com/office/drawing/2014/main" id="{957713E4-115D-4C51-99CD-B41254BE77A5}"/>
              </a:ext>
            </a:extLst>
          </p:cNvPr>
          <p:cNvSpPr>
            <a:spLocks noGrp="1"/>
          </p:cNvSpPr>
          <p:nvPr/>
        </p:nvSpPr>
        <p:spPr>
          <a:xfrm>
            <a:off x="528638" y="1491373"/>
            <a:ext cx="589692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Sage</a:t>
            </a:r>
          </a:p>
        </p:txBody>
      </p:sp>
      <p:sp>
        <p:nvSpPr>
          <p:cNvPr id="7" name="Text strana 66, řádek 5">
            <a:extLst>
              <a:ext uri="{FF2B5EF4-FFF2-40B4-BE49-F238E27FC236}">
                <a16:creationId xmlns:a16="http://schemas.microsoft.com/office/drawing/2014/main" id="{B188BB7A-1819-4633-BEB9-BBEC7899F95A}"/>
              </a:ext>
            </a:extLst>
          </p:cNvPr>
          <p:cNvSpPr>
            <a:spLocks noGrp="1"/>
          </p:cNvSpPr>
          <p:nvPr/>
        </p:nvSpPr>
        <p:spPr>
          <a:xfrm>
            <a:off x="2933446" y="1398454"/>
            <a:ext cx="1115858" cy="1996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2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Šampioni</a:t>
            </a:r>
          </a:p>
        </p:txBody>
      </p:sp>
      <p:sp>
        <p:nvSpPr>
          <p:cNvPr id="8" name="Text strana 66, řádek 6">
            <a:extLst>
              <a:ext uri="{FF2B5EF4-FFF2-40B4-BE49-F238E27FC236}">
                <a16:creationId xmlns:a16="http://schemas.microsoft.com/office/drawing/2014/main" id="{74E9B8E9-C359-4316-9869-30E6B64C1C24}"/>
              </a:ext>
            </a:extLst>
          </p:cNvPr>
          <p:cNvSpPr>
            <a:spLocks noGrp="1"/>
          </p:cNvSpPr>
          <p:nvPr/>
        </p:nvSpPr>
        <p:spPr>
          <a:xfrm>
            <a:off x="8403590" y="1270250"/>
            <a:ext cx="995845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Václav</a:t>
            </a:r>
            <a:r>
              <a:rPr sz="1109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9" name="Text strana 66, řádek 7">
            <a:extLst>
              <a:ext uri="{FF2B5EF4-FFF2-40B4-BE49-F238E27FC236}">
                <a16:creationId xmlns:a16="http://schemas.microsoft.com/office/drawing/2014/main" id="{DA23F391-6304-4AE0-B4E8-4F2B16AD5040}"/>
              </a:ext>
            </a:extLst>
          </p:cNvPr>
          <p:cNvSpPr>
            <a:spLocks noGrp="1"/>
          </p:cNvSpPr>
          <p:nvPr/>
        </p:nvSpPr>
        <p:spPr>
          <a:xfrm>
            <a:off x="7520305" y="1541821"/>
            <a:ext cx="2922791" cy="180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(šéf firmy s globálními ambicemi)</a:t>
            </a:r>
          </a:p>
        </p:txBody>
      </p:sp>
      <p:sp>
        <p:nvSpPr>
          <p:cNvPr id="10" name="Text strana 66, řádek 8">
            <a:extLst>
              <a:ext uri="{FF2B5EF4-FFF2-40B4-BE49-F238E27FC236}">
                <a16:creationId xmlns:a16="http://schemas.microsoft.com/office/drawing/2014/main" id="{770B16E8-9C0C-40E7-B366-A23F55141C50}"/>
              </a:ext>
            </a:extLst>
          </p:cNvPr>
          <p:cNvSpPr>
            <a:spLocks noGrp="1"/>
          </p:cNvSpPr>
          <p:nvPr/>
        </p:nvSpPr>
        <p:spPr>
          <a:xfrm>
            <a:off x="2624201" y="2802439"/>
            <a:ext cx="1044055" cy="1996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2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Rostoucí</a:t>
            </a:r>
          </a:p>
        </p:txBody>
      </p:sp>
      <p:sp>
        <p:nvSpPr>
          <p:cNvPr id="11" name="Text strana 66, řádek 9">
            <a:extLst>
              <a:ext uri="{FF2B5EF4-FFF2-40B4-BE49-F238E27FC236}">
                <a16:creationId xmlns:a16="http://schemas.microsoft.com/office/drawing/2014/main" id="{ACEE48AC-C274-40BE-895A-90711E2F2BE6}"/>
              </a:ext>
            </a:extLst>
          </p:cNvPr>
          <p:cNvSpPr>
            <a:spLocks noGrp="1"/>
          </p:cNvSpPr>
          <p:nvPr/>
        </p:nvSpPr>
        <p:spPr>
          <a:xfrm>
            <a:off x="4824450" y="3996690"/>
            <a:ext cx="438499" cy="7938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18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Fast track</a:t>
            </a:r>
          </a:p>
        </p:txBody>
      </p:sp>
      <p:sp>
        <p:nvSpPr>
          <p:cNvPr id="12" name="Text strana 66, řádek 10">
            <a:extLst>
              <a:ext uri="{FF2B5EF4-FFF2-40B4-BE49-F238E27FC236}">
                <a16:creationId xmlns:a16="http://schemas.microsoft.com/office/drawing/2014/main" id="{5BF65DB6-F63B-41FB-A99F-E4DEDF59D1C1}"/>
              </a:ext>
            </a:extLst>
          </p:cNvPr>
          <p:cNvSpPr>
            <a:spLocks noGrp="1"/>
          </p:cNvSpPr>
          <p:nvPr/>
        </p:nvSpPr>
        <p:spPr>
          <a:xfrm>
            <a:off x="8435340" y="2172839"/>
            <a:ext cx="877107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Luboš</a:t>
            </a:r>
          </a:p>
        </p:txBody>
      </p:sp>
      <p:sp>
        <p:nvSpPr>
          <p:cNvPr id="13" name="Text strana 66, řádek 11">
            <a:extLst>
              <a:ext uri="{FF2B5EF4-FFF2-40B4-BE49-F238E27FC236}">
                <a16:creationId xmlns:a16="http://schemas.microsoft.com/office/drawing/2014/main" id="{DD2C2AA7-7CC8-45D7-BBF3-B5B93FF785A8}"/>
              </a:ext>
            </a:extLst>
          </p:cNvPr>
          <p:cNvSpPr>
            <a:spLocks noGrp="1"/>
          </p:cNvSpPr>
          <p:nvPr/>
        </p:nvSpPr>
        <p:spPr>
          <a:xfrm>
            <a:off x="7526020" y="2444128"/>
            <a:ext cx="2912151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(50 let, zakladatel firmy, vizionář)</a:t>
            </a:r>
          </a:p>
        </p:txBody>
      </p:sp>
      <p:sp>
        <p:nvSpPr>
          <p:cNvPr id="14" name="Text strana 66, řádek 12">
            <a:extLst>
              <a:ext uri="{FF2B5EF4-FFF2-40B4-BE49-F238E27FC236}">
                <a16:creationId xmlns:a16="http://schemas.microsoft.com/office/drawing/2014/main" id="{B242913C-A1DF-48A0-BC49-39A6C9CD55AA}"/>
              </a:ext>
            </a:extLst>
          </p:cNvPr>
          <p:cNvSpPr>
            <a:spLocks noGrp="1"/>
          </p:cNvSpPr>
          <p:nvPr/>
        </p:nvSpPr>
        <p:spPr>
          <a:xfrm>
            <a:off x="379730" y="3438445"/>
            <a:ext cx="926590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Hero</a:t>
            </a:r>
          </a:p>
        </p:txBody>
      </p:sp>
      <p:sp>
        <p:nvSpPr>
          <p:cNvPr id="15" name="Text strana 66, řádek 13">
            <a:extLst>
              <a:ext uri="{FF2B5EF4-FFF2-40B4-BE49-F238E27FC236}">
                <a16:creationId xmlns:a16="http://schemas.microsoft.com/office/drawing/2014/main" id="{1209DCFA-966C-413D-AF6E-36AEAB1D4005}"/>
              </a:ext>
            </a:extLst>
          </p:cNvPr>
          <p:cNvSpPr>
            <a:spLocks noGrp="1"/>
          </p:cNvSpPr>
          <p:nvPr/>
        </p:nvSpPr>
        <p:spPr>
          <a:xfrm>
            <a:off x="8397240" y="3075556"/>
            <a:ext cx="955304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Michal</a:t>
            </a:r>
          </a:p>
        </p:txBody>
      </p:sp>
      <p:sp>
        <p:nvSpPr>
          <p:cNvPr id="16" name="Text strana 66, řádek 14">
            <a:extLst>
              <a:ext uri="{FF2B5EF4-FFF2-40B4-BE49-F238E27FC236}">
                <a16:creationId xmlns:a16="http://schemas.microsoft.com/office/drawing/2014/main" id="{BFFA3718-BFE6-4253-AC19-4CCD953C0E14}"/>
              </a:ext>
            </a:extLst>
          </p:cNvPr>
          <p:cNvSpPr>
            <a:spLocks noGrp="1"/>
          </p:cNvSpPr>
          <p:nvPr/>
        </p:nvSpPr>
        <p:spPr>
          <a:xfrm>
            <a:off x="6780784" y="3346843"/>
            <a:ext cx="4584996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(30-45 let, zakladatel firmy nebo C-level management)</a:t>
            </a:r>
          </a:p>
        </p:txBody>
      </p:sp>
      <p:sp>
        <p:nvSpPr>
          <p:cNvPr id="17" name="Text strana 66, řádek 15">
            <a:extLst>
              <a:ext uri="{FF2B5EF4-FFF2-40B4-BE49-F238E27FC236}">
                <a16:creationId xmlns:a16="http://schemas.microsoft.com/office/drawing/2014/main" id="{FDAD76CF-112B-454D-8244-619B1C90C743}"/>
              </a:ext>
            </a:extLst>
          </p:cNvPr>
          <p:cNvSpPr>
            <a:spLocks noGrp="1"/>
          </p:cNvSpPr>
          <p:nvPr/>
        </p:nvSpPr>
        <p:spPr>
          <a:xfrm>
            <a:off x="1637665" y="5234263"/>
            <a:ext cx="956676" cy="1992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18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Nadějní</a:t>
            </a:r>
          </a:p>
        </p:txBody>
      </p:sp>
      <p:sp>
        <p:nvSpPr>
          <p:cNvPr id="18" name="Text strana 66, řádek 16">
            <a:extLst>
              <a:ext uri="{FF2B5EF4-FFF2-40B4-BE49-F238E27FC236}">
                <a16:creationId xmlns:a16="http://schemas.microsoft.com/office/drawing/2014/main" id="{8A8DD326-CA4D-4F1F-B9BD-20C489F07901}"/>
              </a:ext>
            </a:extLst>
          </p:cNvPr>
          <p:cNvSpPr>
            <a:spLocks noGrp="1"/>
          </p:cNvSpPr>
          <p:nvPr/>
        </p:nvSpPr>
        <p:spPr>
          <a:xfrm>
            <a:off x="3136265" y="4448769"/>
            <a:ext cx="1169279" cy="1992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18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Začínající</a:t>
            </a:r>
          </a:p>
        </p:txBody>
      </p:sp>
      <p:sp>
        <p:nvSpPr>
          <p:cNvPr id="19" name="Text strana 66, řádek 17">
            <a:extLst>
              <a:ext uri="{FF2B5EF4-FFF2-40B4-BE49-F238E27FC236}">
                <a16:creationId xmlns:a16="http://schemas.microsoft.com/office/drawing/2014/main" id="{3F3D55B6-7293-462C-B015-D7223E187E31}"/>
              </a:ext>
            </a:extLst>
          </p:cNvPr>
          <p:cNvSpPr>
            <a:spLocks noGrp="1"/>
          </p:cNvSpPr>
          <p:nvPr/>
        </p:nvSpPr>
        <p:spPr>
          <a:xfrm>
            <a:off x="8530590" y="4182233"/>
            <a:ext cx="711080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Petr</a:t>
            </a:r>
            <a:r>
              <a:rPr sz="1109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20" name="Text strana 66, řádek 18">
            <a:extLst>
              <a:ext uri="{FF2B5EF4-FFF2-40B4-BE49-F238E27FC236}">
                <a16:creationId xmlns:a16="http://schemas.microsoft.com/office/drawing/2014/main" id="{67B7EDA7-4370-4CDA-8F90-B0B787E44A75}"/>
              </a:ext>
            </a:extLst>
          </p:cNvPr>
          <p:cNvSpPr>
            <a:spLocks noGrp="1"/>
          </p:cNvSpPr>
          <p:nvPr/>
        </p:nvSpPr>
        <p:spPr>
          <a:xfrm>
            <a:off x="6440805" y="4453648"/>
            <a:ext cx="5343480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(27 let, zajímají ho technologie, chce být úspěšným startupistou)</a:t>
            </a:r>
          </a:p>
        </p:txBody>
      </p:sp>
      <p:sp>
        <p:nvSpPr>
          <p:cNvPr id="21" name="Text strana 66, řádek 19">
            <a:extLst>
              <a:ext uri="{FF2B5EF4-FFF2-40B4-BE49-F238E27FC236}">
                <a16:creationId xmlns:a16="http://schemas.microsoft.com/office/drawing/2014/main" id="{C7B3B63A-F01D-4FB1-AB0B-37AD9C4C256C}"/>
              </a:ext>
            </a:extLst>
          </p:cNvPr>
          <p:cNvSpPr>
            <a:spLocks noGrp="1"/>
          </p:cNvSpPr>
          <p:nvPr/>
        </p:nvSpPr>
        <p:spPr>
          <a:xfrm>
            <a:off x="311150" y="5852553"/>
            <a:ext cx="1081473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Everyman</a:t>
            </a:r>
          </a:p>
        </p:txBody>
      </p:sp>
      <p:sp>
        <p:nvSpPr>
          <p:cNvPr id="22" name="Text strana 66, řádek 20">
            <a:extLst>
              <a:ext uri="{FF2B5EF4-FFF2-40B4-BE49-F238E27FC236}">
                <a16:creationId xmlns:a16="http://schemas.microsoft.com/office/drawing/2014/main" id="{09A8AE7D-F6D8-463E-9272-2E300162FD3F}"/>
              </a:ext>
            </a:extLst>
          </p:cNvPr>
          <p:cNvSpPr>
            <a:spLocks noGrp="1"/>
          </p:cNvSpPr>
          <p:nvPr/>
        </p:nvSpPr>
        <p:spPr>
          <a:xfrm>
            <a:off x="8363966" y="5209663"/>
            <a:ext cx="1032734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Vlaďka</a:t>
            </a:r>
          </a:p>
        </p:txBody>
      </p:sp>
      <p:sp>
        <p:nvSpPr>
          <p:cNvPr id="23" name="Text strana 66, řádek 21">
            <a:extLst>
              <a:ext uri="{FF2B5EF4-FFF2-40B4-BE49-F238E27FC236}">
                <a16:creationId xmlns:a16="http://schemas.microsoft.com/office/drawing/2014/main" id="{E0787342-64B9-42A5-A364-BF39638F87EF}"/>
              </a:ext>
            </a:extLst>
          </p:cNvPr>
          <p:cNvSpPr>
            <a:spLocks noGrp="1"/>
          </p:cNvSpPr>
          <p:nvPr/>
        </p:nvSpPr>
        <p:spPr>
          <a:xfrm>
            <a:off x="6699885" y="5481078"/>
            <a:ext cx="4756634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(aktivní studentka s podnikatelským nápadem, 23 let VŠ)</a:t>
            </a:r>
          </a:p>
        </p:txBody>
      </p:sp>
      <p:sp>
        <p:nvSpPr>
          <p:cNvPr id="24" name="Text strana 66, řádek 22">
            <a:extLst>
              <a:ext uri="{FF2B5EF4-FFF2-40B4-BE49-F238E27FC236}">
                <a16:creationId xmlns:a16="http://schemas.microsoft.com/office/drawing/2014/main" id="{6D7E5C69-2396-45DF-9F13-6578E751522F}"/>
              </a:ext>
            </a:extLst>
          </p:cNvPr>
          <p:cNvSpPr>
            <a:spLocks noGrp="1"/>
          </p:cNvSpPr>
          <p:nvPr/>
        </p:nvSpPr>
        <p:spPr>
          <a:xfrm>
            <a:off x="3204591" y="5967342"/>
            <a:ext cx="1011296" cy="1996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2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Studenti</a:t>
            </a:r>
          </a:p>
        </p:txBody>
      </p:sp>
      <p:sp>
        <p:nvSpPr>
          <p:cNvPr id="25" name="Text strana 66, řádek 23">
            <a:extLst>
              <a:ext uri="{FF2B5EF4-FFF2-40B4-BE49-F238E27FC236}">
                <a16:creationId xmlns:a16="http://schemas.microsoft.com/office/drawing/2014/main" id="{7FB9526D-2431-4517-ABB5-19E7E487B26B}"/>
              </a:ext>
            </a:extLst>
          </p:cNvPr>
          <p:cNvSpPr>
            <a:spLocks noGrp="1"/>
          </p:cNvSpPr>
          <p:nvPr/>
        </p:nvSpPr>
        <p:spPr>
          <a:xfrm>
            <a:off x="8530590" y="6026019"/>
            <a:ext cx="710991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Petr</a:t>
            </a:r>
            <a:r>
              <a:rPr sz="1107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26" name="Text strana 66, řádek 24">
            <a:extLst>
              <a:ext uri="{FF2B5EF4-FFF2-40B4-BE49-F238E27FC236}">
                <a16:creationId xmlns:a16="http://schemas.microsoft.com/office/drawing/2014/main" id="{60D4D573-6D2C-4DF3-A84F-3803C2D5DA85}"/>
              </a:ext>
            </a:extLst>
          </p:cNvPr>
          <p:cNvSpPr>
            <a:spLocks noGrp="1"/>
          </p:cNvSpPr>
          <p:nvPr/>
        </p:nvSpPr>
        <p:spPr>
          <a:xfrm>
            <a:off x="8001635" y="6297371"/>
            <a:ext cx="1846151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(18 let na gymnáziu)</a:t>
            </a:r>
          </a:p>
        </p:txBody>
      </p:sp>
    </p:spTree>
    <p:extLst>
      <p:ext uri="{BB962C8B-B14F-4D97-AF65-F5344CB8AC3E}">
        <p14:creationId xmlns:p14="http://schemas.microsoft.com/office/powerpoint/2010/main" val="2409584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rafický objekt 107">
            <a:extLst>
              <a:ext uri="{FF2B5EF4-FFF2-40B4-BE49-F238E27FC236}">
                <a16:creationId xmlns:a16="http://schemas.microsoft.com/office/drawing/2014/main" id="{38143BA6-37E1-4DFD-ABD5-94DA3E265E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86621C9F-5FFA-4421-8E7C-9E29AB5257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strana 67, řádek 1">
            <a:extLst>
              <a:ext uri="{FF2B5EF4-FFF2-40B4-BE49-F238E27FC236}">
                <a16:creationId xmlns:a16="http://schemas.microsoft.com/office/drawing/2014/main" id="{3B47AB4A-C265-4FE1-ADD8-57FE374590D0}"/>
              </a:ext>
            </a:extLst>
          </p:cNvPr>
          <p:cNvSpPr>
            <a:spLocks noGrp="1"/>
          </p:cNvSpPr>
          <p:nvPr/>
        </p:nvSpPr>
        <p:spPr>
          <a:xfrm>
            <a:off x="421640" y="340914"/>
            <a:ext cx="1169486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2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Archetyp</a:t>
            </a:r>
          </a:p>
        </p:txBody>
      </p:sp>
      <p:sp>
        <p:nvSpPr>
          <p:cNvPr id="4" name="Text strana 67, řádek 2">
            <a:extLst>
              <a:ext uri="{FF2B5EF4-FFF2-40B4-BE49-F238E27FC236}">
                <a16:creationId xmlns:a16="http://schemas.microsoft.com/office/drawing/2014/main" id="{7129F716-1979-4439-8792-D29B16191955}"/>
              </a:ext>
            </a:extLst>
          </p:cNvPr>
          <p:cNvSpPr>
            <a:spLocks noGrp="1"/>
          </p:cNvSpPr>
          <p:nvPr/>
        </p:nvSpPr>
        <p:spPr>
          <a:xfrm>
            <a:off x="1819021" y="218994"/>
            <a:ext cx="1149516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2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Segment</a:t>
            </a:r>
          </a:p>
        </p:txBody>
      </p:sp>
      <p:sp>
        <p:nvSpPr>
          <p:cNvPr id="5" name="Text strana 67, řádek 3">
            <a:extLst>
              <a:ext uri="{FF2B5EF4-FFF2-40B4-BE49-F238E27FC236}">
                <a16:creationId xmlns:a16="http://schemas.microsoft.com/office/drawing/2014/main" id="{ED9E3A4D-C841-4C0C-A186-4C9727802A61}"/>
              </a:ext>
            </a:extLst>
          </p:cNvPr>
          <p:cNvSpPr>
            <a:spLocks noGrp="1"/>
          </p:cNvSpPr>
          <p:nvPr/>
        </p:nvSpPr>
        <p:spPr>
          <a:xfrm>
            <a:off x="5010531" y="318864"/>
            <a:ext cx="1686266" cy="229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Sociální sítě</a:t>
            </a:r>
          </a:p>
        </p:txBody>
      </p:sp>
      <p:sp>
        <p:nvSpPr>
          <p:cNvPr id="6" name="Text strana 67, řádek 4">
            <a:extLst>
              <a:ext uri="{FF2B5EF4-FFF2-40B4-BE49-F238E27FC236}">
                <a16:creationId xmlns:a16="http://schemas.microsoft.com/office/drawing/2014/main" id="{34EF8D4C-9946-4F94-89A0-DD5D54A3D6FE}"/>
              </a:ext>
            </a:extLst>
          </p:cNvPr>
          <p:cNvSpPr>
            <a:spLocks noGrp="1"/>
          </p:cNvSpPr>
          <p:nvPr/>
        </p:nvSpPr>
        <p:spPr>
          <a:xfrm>
            <a:off x="8862695" y="318864"/>
            <a:ext cx="2051615" cy="229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Media relations</a:t>
            </a:r>
          </a:p>
        </p:txBody>
      </p:sp>
      <p:sp>
        <p:nvSpPr>
          <p:cNvPr id="7" name="Text strana 67, řádek 5">
            <a:extLst>
              <a:ext uri="{FF2B5EF4-FFF2-40B4-BE49-F238E27FC236}">
                <a16:creationId xmlns:a16="http://schemas.microsoft.com/office/drawing/2014/main" id="{81D23DED-04D4-4674-BF32-2F82569DDC57}"/>
              </a:ext>
            </a:extLst>
          </p:cNvPr>
          <p:cNvSpPr>
            <a:spLocks noGrp="1"/>
          </p:cNvSpPr>
          <p:nvPr/>
        </p:nvSpPr>
        <p:spPr>
          <a:xfrm>
            <a:off x="10834751" y="53212"/>
            <a:ext cx="475976" cy="7067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Newsle</a:t>
            </a:r>
          </a:p>
        </p:txBody>
      </p:sp>
      <p:sp>
        <p:nvSpPr>
          <p:cNvPr id="8" name="Text strana 67, řádek 6">
            <a:extLst>
              <a:ext uri="{FF2B5EF4-FFF2-40B4-BE49-F238E27FC236}">
                <a16:creationId xmlns:a16="http://schemas.microsoft.com/office/drawing/2014/main" id="{337F1659-C226-4486-BFED-5FDE266896E2}"/>
              </a:ext>
            </a:extLst>
          </p:cNvPr>
          <p:cNvSpPr>
            <a:spLocks noGrp="1"/>
          </p:cNvSpPr>
          <p:nvPr/>
        </p:nvSpPr>
        <p:spPr>
          <a:xfrm>
            <a:off x="11110816" y="263069"/>
            <a:ext cx="476373" cy="329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tter</a:t>
            </a:r>
          </a:p>
        </p:txBody>
      </p:sp>
      <p:sp>
        <p:nvSpPr>
          <p:cNvPr id="9" name="Text strana 67, řádek 7">
            <a:extLst>
              <a:ext uri="{FF2B5EF4-FFF2-40B4-BE49-F238E27FC236}">
                <a16:creationId xmlns:a16="http://schemas.microsoft.com/office/drawing/2014/main" id="{1BDB8AC4-5F18-4AC9-B9D8-60707B973066}"/>
              </a:ext>
            </a:extLst>
          </p:cNvPr>
          <p:cNvSpPr>
            <a:spLocks noGrp="1"/>
          </p:cNvSpPr>
          <p:nvPr/>
        </p:nvSpPr>
        <p:spPr>
          <a:xfrm>
            <a:off x="11679301" y="318864"/>
            <a:ext cx="446888" cy="229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0" name="Text strana 67, řádek 8">
            <a:extLst>
              <a:ext uri="{FF2B5EF4-FFF2-40B4-BE49-F238E27FC236}">
                <a16:creationId xmlns:a16="http://schemas.microsoft.com/office/drawing/2014/main" id="{830AA87C-7E96-4238-98FA-BFC0505B41DC}"/>
              </a:ext>
            </a:extLst>
          </p:cNvPr>
          <p:cNvSpPr>
            <a:spLocks noGrp="1"/>
          </p:cNvSpPr>
          <p:nvPr/>
        </p:nvSpPr>
        <p:spPr>
          <a:xfrm>
            <a:off x="3144266" y="966975"/>
            <a:ext cx="513036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Síť</a:t>
            </a:r>
          </a:p>
        </p:txBody>
      </p:sp>
      <p:sp>
        <p:nvSpPr>
          <p:cNvPr id="11" name="Text strana 67, řádek 9">
            <a:extLst>
              <a:ext uri="{FF2B5EF4-FFF2-40B4-BE49-F238E27FC236}">
                <a16:creationId xmlns:a16="http://schemas.microsoft.com/office/drawing/2014/main" id="{F725D2F7-7726-49B2-B269-D7D865892DDE}"/>
              </a:ext>
            </a:extLst>
          </p:cNvPr>
          <p:cNvSpPr>
            <a:spLocks noGrp="1"/>
          </p:cNvSpPr>
          <p:nvPr/>
        </p:nvSpPr>
        <p:spPr>
          <a:xfrm>
            <a:off x="4731004" y="966975"/>
            <a:ext cx="841469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Obsah</a:t>
            </a:r>
          </a:p>
        </p:txBody>
      </p:sp>
      <p:sp>
        <p:nvSpPr>
          <p:cNvPr id="12" name="Text strana 67, řádek 10">
            <a:extLst>
              <a:ext uri="{FF2B5EF4-FFF2-40B4-BE49-F238E27FC236}">
                <a16:creationId xmlns:a16="http://schemas.microsoft.com/office/drawing/2014/main" id="{181EA4DF-6CCF-43D6-ADDD-2382E275AA1A}"/>
              </a:ext>
            </a:extLst>
          </p:cNvPr>
          <p:cNvSpPr>
            <a:spLocks noGrp="1"/>
          </p:cNvSpPr>
          <p:nvPr/>
        </p:nvSpPr>
        <p:spPr>
          <a:xfrm>
            <a:off x="7113651" y="966975"/>
            <a:ext cx="859415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Forma</a:t>
            </a:r>
          </a:p>
        </p:txBody>
      </p:sp>
      <p:sp>
        <p:nvSpPr>
          <p:cNvPr id="13" name="Text strana 67, řádek 11">
            <a:extLst>
              <a:ext uri="{FF2B5EF4-FFF2-40B4-BE49-F238E27FC236}">
                <a16:creationId xmlns:a16="http://schemas.microsoft.com/office/drawing/2014/main" id="{52F741ED-E97D-47D7-99AD-FE882EA1C4C5}"/>
              </a:ext>
            </a:extLst>
          </p:cNvPr>
          <p:cNvSpPr>
            <a:spLocks noGrp="1"/>
          </p:cNvSpPr>
          <p:nvPr/>
        </p:nvSpPr>
        <p:spPr>
          <a:xfrm>
            <a:off x="8858631" y="966975"/>
            <a:ext cx="849160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Média</a:t>
            </a:r>
          </a:p>
        </p:txBody>
      </p:sp>
      <p:sp>
        <p:nvSpPr>
          <p:cNvPr id="14" name="Text strana 67, řádek 12">
            <a:extLst>
              <a:ext uri="{FF2B5EF4-FFF2-40B4-BE49-F238E27FC236}">
                <a16:creationId xmlns:a16="http://schemas.microsoft.com/office/drawing/2014/main" id="{190A6174-E34B-4563-8206-48B20CF83558}"/>
              </a:ext>
            </a:extLst>
          </p:cNvPr>
          <p:cNvSpPr>
            <a:spLocks noGrp="1"/>
          </p:cNvSpPr>
          <p:nvPr/>
        </p:nvSpPr>
        <p:spPr>
          <a:xfrm>
            <a:off x="9971405" y="966975"/>
            <a:ext cx="840955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Obsah</a:t>
            </a:r>
          </a:p>
        </p:txBody>
      </p:sp>
      <p:sp>
        <p:nvSpPr>
          <p:cNvPr id="15" name="Text strana 67, řádek 13">
            <a:extLst>
              <a:ext uri="{FF2B5EF4-FFF2-40B4-BE49-F238E27FC236}">
                <a16:creationId xmlns:a16="http://schemas.microsoft.com/office/drawing/2014/main" id="{1DCD381D-B55F-4395-B19A-D061E2EF40F1}"/>
              </a:ext>
            </a:extLst>
          </p:cNvPr>
          <p:cNvSpPr>
            <a:spLocks noGrp="1"/>
          </p:cNvSpPr>
          <p:nvPr/>
        </p:nvSpPr>
        <p:spPr>
          <a:xfrm>
            <a:off x="10982325" y="966975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6" name="Text strana 67, řádek 14">
            <a:extLst>
              <a:ext uri="{FF2B5EF4-FFF2-40B4-BE49-F238E27FC236}">
                <a16:creationId xmlns:a16="http://schemas.microsoft.com/office/drawing/2014/main" id="{8BC54A02-4695-4D12-AE56-7ABC093F4AFD}"/>
              </a:ext>
            </a:extLst>
          </p:cNvPr>
          <p:cNvSpPr>
            <a:spLocks noGrp="1"/>
          </p:cNvSpPr>
          <p:nvPr/>
        </p:nvSpPr>
        <p:spPr>
          <a:xfrm>
            <a:off x="11679301" y="966975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7" name="Text strana 67, řádek 15">
            <a:extLst>
              <a:ext uri="{FF2B5EF4-FFF2-40B4-BE49-F238E27FC236}">
                <a16:creationId xmlns:a16="http://schemas.microsoft.com/office/drawing/2014/main" id="{3ECF6E8F-14D2-41F0-B389-698FA6993B5A}"/>
              </a:ext>
            </a:extLst>
          </p:cNvPr>
          <p:cNvSpPr>
            <a:spLocks noGrp="1"/>
          </p:cNvSpPr>
          <p:nvPr/>
        </p:nvSpPr>
        <p:spPr>
          <a:xfrm>
            <a:off x="725805" y="1537922"/>
            <a:ext cx="496138" cy="142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Sage</a:t>
            </a:r>
          </a:p>
        </p:txBody>
      </p:sp>
      <p:sp>
        <p:nvSpPr>
          <p:cNvPr id="18" name="Text strana 67, řádek 16">
            <a:extLst>
              <a:ext uri="{FF2B5EF4-FFF2-40B4-BE49-F238E27FC236}">
                <a16:creationId xmlns:a16="http://schemas.microsoft.com/office/drawing/2014/main" id="{2AF3087C-78D2-4B3F-9A35-D876F06CCF1D}"/>
              </a:ext>
            </a:extLst>
          </p:cNvPr>
          <p:cNvSpPr>
            <a:spLocks noGrp="1"/>
          </p:cNvSpPr>
          <p:nvPr/>
        </p:nvSpPr>
        <p:spPr>
          <a:xfrm>
            <a:off x="1954911" y="1531058"/>
            <a:ext cx="846110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Šampioni</a:t>
            </a:r>
          </a:p>
        </p:txBody>
      </p:sp>
      <p:sp>
        <p:nvSpPr>
          <p:cNvPr id="19" name="Text strana 67, řádek 17">
            <a:extLst>
              <a:ext uri="{FF2B5EF4-FFF2-40B4-BE49-F238E27FC236}">
                <a16:creationId xmlns:a16="http://schemas.microsoft.com/office/drawing/2014/main" id="{D7BB0662-76EA-4CCC-8A0B-47C3DBFF1B65}"/>
              </a:ext>
            </a:extLst>
          </p:cNvPr>
          <p:cNvSpPr>
            <a:spLocks noGrp="1"/>
          </p:cNvSpPr>
          <p:nvPr/>
        </p:nvSpPr>
        <p:spPr>
          <a:xfrm>
            <a:off x="3174365" y="1493644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0" name="Text strana 67, řádek 18">
            <a:extLst>
              <a:ext uri="{FF2B5EF4-FFF2-40B4-BE49-F238E27FC236}">
                <a16:creationId xmlns:a16="http://schemas.microsoft.com/office/drawing/2014/main" id="{1A5F1539-4D54-425C-B57C-71F9A40D478B}"/>
              </a:ext>
            </a:extLst>
          </p:cNvPr>
          <p:cNvSpPr>
            <a:spLocks noGrp="1"/>
          </p:cNvSpPr>
          <p:nvPr/>
        </p:nvSpPr>
        <p:spPr>
          <a:xfrm>
            <a:off x="4909185" y="1493644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1" name="Text strana 67, řádek 19">
            <a:extLst>
              <a:ext uri="{FF2B5EF4-FFF2-40B4-BE49-F238E27FC236}">
                <a16:creationId xmlns:a16="http://schemas.microsoft.com/office/drawing/2014/main" id="{5FE1F604-BE65-4513-AB4E-B493A2B84DBE}"/>
              </a:ext>
            </a:extLst>
          </p:cNvPr>
          <p:cNvSpPr>
            <a:spLocks noGrp="1"/>
          </p:cNvSpPr>
          <p:nvPr/>
        </p:nvSpPr>
        <p:spPr>
          <a:xfrm>
            <a:off x="7298055" y="1493644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2" name="Text strana 67, řádek 20">
            <a:extLst>
              <a:ext uri="{FF2B5EF4-FFF2-40B4-BE49-F238E27FC236}">
                <a16:creationId xmlns:a16="http://schemas.microsoft.com/office/drawing/2014/main" id="{4E32C454-F8A6-4226-969F-814345E933A5}"/>
              </a:ext>
            </a:extLst>
          </p:cNvPr>
          <p:cNvSpPr>
            <a:spLocks noGrp="1"/>
          </p:cNvSpPr>
          <p:nvPr/>
        </p:nvSpPr>
        <p:spPr>
          <a:xfrm>
            <a:off x="9036685" y="1493644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3" name="Text strana 67, řádek 21">
            <a:extLst>
              <a:ext uri="{FF2B5EF4-FFF2-40B4-BE49-F238E27FC236}">
                <a16:creationId xmlns:a16="http://schemas.microsoft.com/office/drawing/2014/main" id="{99B5F729-41D0-424F-A20C-3A4C05474B17}"/>
              </a:ext>
            </a:extLst>
          </p:cNvPr>
          <p:cNvSpPr>
            <a:spLocks noGrp="1"/>
          </p:cNvSpPr>
          <p:nvPr/>
        </p:nvSpPr>
        <p:spPr>
          <a:xfrm>
            <a:off x="10149205" y="1493644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4" name="Text strana 67, řádek 22">
            <a:extLst>
              <a:ext uri="{FF2B5EF4-FFF2-40B4-BE49-F238E27FC236}">
                <a16:creationId xmlns:a16="http://schemas.microsoft.com/office/drawing/2014/main" id="{CD417237-51DE-4D54-A2D1-969385871650}"/>
              </a:ext>
            </a:extLst>
          </p:cNvPr>
          <p:cNvSpPr>
            <a:spLocks noGrp="1"/>
          </p:cNvSpPr>
          <p:nvPr/>
        </p:nvSpPr>
        <p:spPr>
          <a:xfrm>
            <a:off x="704215" y="2680639"/>
            <a:ext cx="505317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Hero</a:t>
            </a:r>
          </a:p>
        </p:txBody>
      </p:sp>
      <p:sp>
        <p:nvSpPr>
          <p:cNvPr id="25" name="Text strana 67, řádek 23">
            <a:extLst>
              <a:ext uri="{FF2B5EF4-FFF2-40B4-BE49-F238E27FC236}">
                <a16:creationId xmlns:a16="http://schemas.microsoft.com/office/drawing/2014/main" id="{D3ECDC8A-483A-4C51-9B20-99E5029E481E}"/>
              </a:ext>
            </a:extLst>
          </p:cNvPr>
          <p:cNvSpPr>
            <a:spLocks noGrp="1"/>
          </p:cNvSpPr>
          <p:nvPr/>
        </p:nvSpPr>
        <p:spPr>
          <a:xfrm>
            <a:off x="1976120" y="2091411"/>
            <a:ext cx="803099" cy="151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Rostoucí</a:t>
            </a:r>
          </a:p>
        </p:txBody>
      </p:sp>
      <p:sp>
        <p:nvSpPr>
          <p:cNvPr id="26" name="Text strana 67, řádek 24">
            <a:extLst>
              <a:ext uri="{FF2B5EF4-FFF2-40B4-BE49-F238E27FC236}">
                <a16:creationId xmlns:a16="http://schemas.microsoft.com/office/drawing/2014/main" id="{02EDA090-7FFC-4137-9EBA-CA1B7FC30879}"/>
              </a:ext>
            </a:extLst>
          </p:cNvPr>
          <p:cNvSpPr>
            <a:spLocks noGrp="1"/>
          </p:cNvSpPr>
          <p:nvPr/>
        </p:nvSpPr>
        <p:spPr>
          <a:xfrm>
            <a:off x="3027426" y="2271436"/>
            <a:ext cx="781955" cy="180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Spotify</a:t>
            </a:r>
          </a:p>
        </p:txBody>
      </p:sp>
      <p:sp>
        <p:nvSpPr>
          <p:cNvPr id="27" name="Text strana 67, řádek 25">
            <a:extLst>
              <a:ext uri="{FF2B5EF4-FFF2-40B4-BE49-F238E27FC236}">
                <a16:creationId xmlns:a16="http://schemas.microsoft.com/office/drawing/2014/main" id="{72CCF25A-86CF-406C-8B71-B9DC9E4603C3}"/>
              </a:ext>
            </a:extLst>
          </p:cNvPr>
          <p:cNvSpPr>
            <a:spLocks noGrp="1"/>
          </p:cNvSpPr>
          <p:nvPr/>
        </p:nvSpPr>
        <p:spPr>
          <a:xfrm>
            <a:off x="3896360" y="2189447"/>
            <a:ext cx="2302405" cy="1540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Rozhovory s inspirativními </a:t>
            </a:r>
          </a:p>
        </p:txBody>
      </p:sp>
      <p:sp>
        <p:nvSpPr>
          <p:cNvPr id="28" name="Text strana 67, řádek 26">
            <a:extLst>
              <a:ext uri="{FF2B5EF4-FFF2-40B4-BE49-F238E27FC236}">
                <a16:creationId xmlns:a16="http://schemas.microsoft.com/office/drawing/2014/main" id="{82031D3D-72CD-4695-806B-185D1F6C5DAD}"/>
              </a:ext>
            </a:extLst>
          </p:cNvPr>
          <p:cNvSpPr>
            <a:spLocks noGrp="1"/>
          </p:cNvSpPr>
          <p:nvPr/>
        </p:nvSpPr>
        <p:spPr>
          <a:xfrm>
            <a:off x="4068191" y="2382338"/>
            <a:ext cx="1274063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klienty </a:t>
            </a:r>
            <a:r>
              <a:rPr sz="1082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JICtalk</a:t>
            </a:r>
          </a:p>
        </p:txBody>
      </p:sp>
      <p:sp>
        <p:nvSpPr>
          <p:cNvPr id="29" name="Text strana 67, řádek 27">
            <a:extLst>
              <a:ext uri="{FF2B5EF4-FFF2-40B4-BE49-F238E27FC236}">
                <a16:creationId xmlns:a16="http://schemas.microsoft.com/office/drawing/2014/main" id="{ED89C929-AF45-4210-BEFA-175BB4117980}"/>
              </a:ext>
            </a:extLst>
          </p:cNvPr>
          <p:cNvSpPr>
            <a:spLocks noGrp="1"/>
          </p:cNvSpPr>
          <p:nvPr/>
        </p:nvSpPr>
        <p:spPr>
          <a:xfrm>
            <a:off x="6333490" y="2281428"/>
            <a:ext cx="912000" cy="153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Podcast</a:t>
            </a:r>
          </a:p>
        </p:txBody>
      </p:sp>
      <p:sp>
        <p:nvSpPr>
          <p:cNvPr id="30" name="Text strana 67, řádek 28">
            <a:extLst>
              <a:ext uri="{FF2B5EF4-FFF2-40B4-BE49-F238E27FC236}">
                <a16:creationId xmlns:a16="http://schemas.microsoft.com/office/drawing/2014/main" id="{20A248A6-AA2B-455E-8CB8-74695AC0690A}"/>
              </a:ext>
            </a:extLst>
          </p:cNvPr>
          <p:cNvSpPr>
            <a:spLocks noGrp="1"/>
          </p:cNvSpPr>
          <p:nvPr/>
        </p:nvSpPr>
        <p:spPr>
          <a:xfrm>
            <a:off x="9036685" y="2053713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1" name="Text strana 67, řádek 29">
            <a:extLst>
              <a:ext uri="{FF2B5EF4-FFF2-40B4-BE49-F238E27FC236}">
                <a16:creationId xmlns:a16="http://schemas.microsoft.com/office/drawing/2014/main" id="{73BF6534-BA33-4FA6-B755-FDE69DBC81F3}"/>
              </a:ext>
            </a:extLst>
          </p:cNvPr>
          <p:cNvSpPr>
            <a:spLocks noGrp="1"/>
          </p:cNvSpPr>
          <p:nvPr/>
        </p:nvSpPr>
        <p:spPr>
          <a:xfrm>
            <a:off x="10149205" y="2053713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2" name="Text strana 67, řádek 30">
            <a:extLst>
              <a:ext uri="{FF2B5EF4-FFF2-40B4-BE49-F238E27FC236}">
                <a16:creationId xmlns:a16="http://schemas.microsoft.com/office/drawing/2014/main" id="{1B430672-6228-4577-BCC0-0A870973F6E8}"/>
              </a:ext>
            </a:extLst>
          </p:cNvPr>
          <p:cNvSpPr>
            <a:spLocks noGrp="1"/>
          </p:cNvSpPr>
          <p:nvPr/>
        </p:nvSpPr>
        <p:spPr>
          <a:xfrm>
            <a:off x="10965332" y="2400935"/>
            <a:ext cx="473928" cy="8330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Advanced</a:t>
            </a:r>
          </a:p>
        </p:txBody>
      </p:sp>
      <p:sp>
        <p:nvSpPr>
          <p:cNvPr id="33" name="Text strana 67, řádek 31">
            <a:extLst>
              <a:ext uri="{FF2B5EF4-FFF2-40B4-BE49-F238E27FC236}">
                <a16:creationId xmlns:a16="http://schemas.microsoft.com/office/drawing/2014/main" id="{271FC2F1-8BEF-4572-A1EB-27DAFA5BE3B4}"/>
              </a:ext>
            </a:extLst>
          </p:cNvPr>
          <p:cNvSpPr>
            <a:spLocks noGrp="1"/>
          </p:cNvSpPr>
          <p:nvPr/>
        </p:nvSpPr>
        <p:spPr>
          <a:xfrm>
            <a:off x="2380259" y="2977515"/>
            <a:ext cx="414880" cy="6878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3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Začínající</a:t>
            </a:r>
          </a:p>
        </p:txBody>
      </p:sp>
      <p:sp>
        <p:nvSpPr>
          <p:cNvPr id="34" name="Text strana 67, řádek 32">
            <a:extLst>
              <a:ext uri="{FF2B5EF4-FFF2-40B4-BE49-F238E27FC236}">
                <a16:creationId xmlns:a16="http://schemas.microsoft.com/office/drawing/2014/main" id="{FA0DDD8D-D21C-4221-947E-0887D27DBCBF}"/>
              </a:ext>
            </a:extLst>
          </p:cNvPr>
          <p:cNvSpPr>
            <a:spLocks noGrp="1"/>
          </p:cNvSpPr>
          <p:nvPr/>
        </p:nvSpPr>
        <p:spPr>
          <a:xfrm>
            <a:off x="2376145" y="5563870"/>
            <a:ext cx="438499" cy="6578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18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Studenti</a:t>
            </a:r>
          </a:p>
        </p:txBody>
      </p:sp>
      <p:sp>
        <p:nvSpPr>
          <p:cNvPr id="35" name="Text strana 67, řádek 33">
            <a:extLst>
              <a:ext uri="{FF2B5EF4-FFF2-40B4-BE49-F238E27FC236}">
                <a16:creationId xmlns:a16="http://schemas.microsoft.com/office/drawing/2014/main" id="{C17456AF-19A6-46B6-A793-21AB56251A40}"/>
              </a:ext>
            </a:extLst>
          </p:cNvPr>
          <p:cNvSpPr>
            <a:spLocks noGrp="1"/>
          </p:cNvSpPr>
          <p:nvPr/>
        </p:nvSpPr>
        <p:spPr>
          <a:xfrm>
            <a:off x="8674100" y="2880217"/>
            <a:ext cx="246507" cy="14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6" name="Text strana 67, řádek 34">
            <a:extLst>
              <a:ext uri="{FF2B5EF4-FFF2-40B4-BE49-F238E27FC236}">
                <a16:creationId xmlns:a16="http://schemas.microsoft.com/office/drawing/2014/main" id="{E1273B0F-80C9-4B19-8B4E-DFE61BF022CD}"/>
              </a:ext>
            </a:extLst>
          </p:cNvPr>
          <p:cNvSpPr>
            <a:spLocks noGrp="1"/>
          </p:cNvSpPr>
          <p:nvPr/>
        </p:nvSpPr>
        <p:spPr>
          <a:xfrm>
            <a:off x="8845931" y="2882217"/>
            <a:ext cx="1048686" cy="142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CzechCrunch</a:t>
            </a:r>
          </a:p>
        </p:txBody>
      </p:sp>
      <p:sp>
        <p:nvSpPr>
          <p:cNvPr id="37" name="Text strana 67, řádek 35">
            <a:extLst>
              <a:ext uri="{FF2B5EF4-FFF2-40B4-BE49-F238E27FC236}">
                <a16:creationId xmlns:a16="http://schemas.microsoft.com/office/drawing/2014/main" id="{87F30AA8-BF49-454C-B0AB-2784461FE492}"/>
              </a:ext>
            </a:extLst>
          </p:cNvPr>
          <p:cNvSpPr>
            <a:spLocks noGrp="1"/>
          </p:cNvSpPr>
          <p:nvPr/>
        </p:nvSpPr>
        <p:spPr>
          <a:xfrm>
            <a:off x="8674100" y="3051380"/>
            <a:ext cx="246631" cy="143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8" name="Text strana 67, řádek 36">
            <a:extLst>
              <a:ext uri="{FF2B5EF4-FFF2-40B4-BE49-F238E27FC236}">
                <a16:creationId xmlns:a16="http://schemas.microsoft.com/office/drawing/2014/main" id="{FA994D1A-B3F0-411F-92F3-72A38B8115F0}"/>
              </a:ext>
            </a:extLst>
          </p:cNvPr>
          <p:cNvSpPr>
            <a:spLocks noGrp="1"/>
          </p:cNvSpPr>
          <p:nvPr/>
        </p:nvSpPr>
        <p:spPr>
          <a:xfrm>
            <a:off x="8845931" y="3053385"/>
            <a:ext cx="730645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Ihned.cz</a:t>
            </a:r>
          </a:p>
        </p:txBody>
      </p:sp>
      <p:sp>
        <p:nvSpPr>
          <p:cNvPr id="39" name="Text strana 67, řádek 37">
            <a:extLst>
              <a:ext uri="{FF2B5EF4-FFF2-40B4-BE49-F238E27FC236}">
                <a16:creationId xmlns:a16="http://schemas.microsoft.com/office/drawing/2014/main" id="{FDA80D18-5101-4B1A-9E88-1168C3B38F90}"/>
              </a:ext>
            </a:extLst>
          </p:cNvPr>
          <p:cNvSpPr>
            <a:spLocks noGrp="1"/>
          </p:cNvSpPr>
          <p:nvPr/>
        </p:nvSpPr>
        <p:spPr>
          <a:xfrm>
            <a:off x="8674100" y="3213686"/>
            <a:ext cx="246631" cy="1436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0" name="Text strana 67, řádek 38">
            <a:extLst>
              <a:ext uri="{FF2B5EF4-FFF2-40B4-BE49-F238E27FC236}">
                <a16:creationId xmlns:a16="http://schemas.microsoft.com/office/drawing/2014/main" id="{D42B0153-EC3D-4CFA-9879-3220B57D2B58}"/>
              </a:ext>
            </a:extLst>
          </p:cNvPr>
          <p:cNvSpPr>
            <a:spLocks noGrp="1"/>
          </p:cNvSpPr>
          <p:nvPr/>
        </p:nvSpPr>
        <p:spPr>
          <a:xfrm>
            <a:off x="8845931" y="3215691"/>
            <a:ext cx="774589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Oborová </a:t>
            </a:r>
          </a:p>
        </p:txBody>
      </p:sp>
      <p:sp>
        <p:nvSpPr>
          <p:cNvPr id="41" name="Text strana 67, řádek 39">
            <a:extLst>
              <a:ext uri="{FF2B5EF4-FFF2-40B4-BE49-F238E27FC236}">
                <a16:creationId xmlns:a16="http://schemas.microsoft.com/office/drawing/2014/main" id="{EC58D5B3-2656-434C-9627-7FACB960349D}"/>
              </a:ext>
            </a:extLst>
          </p:cNvPr>
          <p:cNvSpPr>
            <a:spLocks noGrp="1"/>
          </p:cNvSpPr>
          <p:nvPr/>
        </p:nvSpPr>
        <p:spPr>
          <a:xfrm>
            <a:off x="8845931" y="3387394"/>
            <a:ext cx="571071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média</a:t>
            </a:r>
          </a:p>
        </p:txBody>
      </p:sp>
      <p:sp>
        <p:nvSpPr>
          <p:cNvPr id="42" name="Text strana 67, řádek 40">
            <a:extLst>
              <a:ext uri="{FF2B5EF4-FFF2-40B4-BE49-F238E27FC236}">
                <a16:creationId xmlns:a16="http://schemas.microsoft.com/office/drawing/2014/main" id="{5EF74AC4-ACEC-4AE9-8AD5-CA15AFDE294D}"/>
              </a:ext>
            </a:extLst>
          </p:cNvPr>
          <p:cNvSpPr>
            <a:spLocks noGrp="1"/>
          </p:cNvSpPr>
          <p:nvPr/>
        </p:nvSpPr>
        <p:spPr>
          <a:xfrm>
            <a:off x="8674100" y="3557508"/>
            <a:ext cx="246507" cy="14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3" name="Text strana 67, řádek 41">
            <a:extLst>
              <a:ext uri="{FF2B5EF4-FFF2-40B4-BE49-F238E27FC236}">
                <a16:creationId xmlns:a16="http://schemas.microsoft.com/office/drawing/2014/main" id="{E9564295-C9F8-4944-BBA7-EE3E7DC810D3}"/>
              </a:ext>
            </a:extLst>
          </p:cNvPr>
          <p:cNvSpPr>
            <a:spLocks noGrp="1"/>
          </p:cNvSpPr>
          <p:nvPr/>
        </p:nvSpPr>
        <p:spPr>
          <a:xfrm>
            <a:off x="8845931" y="3559508"/>
            <a:ext cx="635994" cy="142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Mladý </a:t>
            </a:r>
          </a:p>
        </p:txBody>
      </p:sp>
      <p:sp>
        <p:nvSpPr>
          <p:cNvPr id="44" name="Text strana 67, řádek 42">
            <a:extLst>
              <a:ext uri="{FF2B5EF4-FFF2-40B4-BE49-F238E27FC236}">
                <a16:creationId xmlns:a16="http://schemas.microsoft.com/office/drawing/2014/main" id="{62E73C24-E3DA-40CA-9390-7BC36A83BB14}"/>
              </a:ext>
            </a:extLst>
          </p:cNvPr>
          <p:cNvSpPr>
            <a:spLocks noGrp="1"/>
          </p:cNvSpPr>
          <p:nvPr/>
        </p:nvSpPr>
        <p:spPr>
          <a:xfrm>
            <a:off x="8845931" y="3721150"/>
            <a:ext cx="853493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podnikatel</a:t>
            </a:r>
          </a:p>
        </p:txBody>
      </p:sp>
      <p:sp>
        <p:nvSpPr>
          <p:cNvPr id="45" name="Text strana 67, řádek 43">
            <a:extLst>
              <a:ext uri="{FF2B5EF4-FFF2-40B4-BE49-F238E27FC236}">
                <a16:creationId xmlns:a16="http://schemas.microsoft.com/office/drawing/2014/main" id="{41FFE026-8604-43EE-B942-331E30B8FC27}"/>
              </a:ext>
            </a:extLst>
          </p:cNvPr>
          <p:cNvSpPr>
            <a:spLocks noGrp="1"/>
          </p:cNvSpPr>
          <p:nvPr/>
        </p:nvSpPr>
        <p:spPr>
          <a:xfrm>
            <a:off x="8674100" y="3890850"/>
            <a:ext cx="246631" cy="143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6" name="Text strana 67, řádek 44">
            <a:extLst>
              <a:ext uri="{FF2B5EF4-FFF2-40B4-BE49-F238E27FC236}">
                <a16:creationId xmlns:a16="http://schemas.microsoft.com/office/drawing/2014/main" id="{D36012C1-35FA-4639-AB81-F67E81F9BE3C}"/>
              </a:ext>
            </a:extLst>
          </p:cNvPr>
          <p:cNvSpPr>
            <a:spLocks noGrp="1"/>
          </p:cNvSpPr>
          <p:nvPr/>
        </p:nvSpPr>
        <p:spPr>
          <a:xfrm>
            <a:off x="8845931" y="3892855"/>
            <a:ext cx="885409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Czechsight</a:t>
            </a:r>
          </a:p>
        </p:txBody>
      </p:sp>
      <p:sp>
        <p:nvSpPr>
          <p:cNvPr id="47" name="Text strana 67, řádek 45">
            <a:extLst>
              <a:ext uri="{FF2B5EF4-FFF2-40B4-BE49-F238E27FC236}">
                <a16:creationId xmlns:a16="http://schemas.microsoft.com/office/drawing/2014/main" id="{3B220F3E-A4FE-4C64-8A4A-37E0EE249474}"/>
              </a:ext>
            </a:extLst>
          </p:cNvPr>
          <p:cNvSpPr>
            <a:spLocks noGrp="1"/>
          </p:cNvSpPr>
          <p:nvPr/>
        </p:nvSpPr>
        <p:spPr>
          <a:xfrm>
            <a:off x="8674100" y="5064076"/>
            <a:ext cx="246631" cy="143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8" name="Text strana 67, řádek 46">
            <a:extLst>
              <a:ext uri="{FF2B5EF4-FFF2-40B4-BE49-F238E27FC236}">
                <a16:creationId xmlns:a16="http://schemas.microsoft.com/office/drawing/2014/main" id="{60926989-16F0-44AB-A2AB-85BA4EFBB7B8}"/>
              </a:ext>
            </a:extLst>
          </p:cNvPr>
          <p:cNvSpPr>
            <a:spLocks noGrp="1"/>
          </p:cNvSpPr>
          <p:nvPr/>
        </p:nvSpPr>
        <p:spPr>
          <a:xfrm>
            <a:off x="8845931" y="5066081"/>
            <a:ext cx="608439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ZVUT</a:t>
            </a:r>
          </a:p>
        </p:txBody>
      </p:sp>
      <p:sp>
        <p:nvSpPr>
          <p:cNvPr id="49" name="Text strana 67, řádek 47">
            <a:extLst>
              <a:ext uri="{FF2B5EF4-FFF2-40B4-BE49-F238E27FC236}">
                <a16:creationId xmlns:a16="http://schemas.microsoft.com/office/drawing/2014/main" id="{F90AB218-42FA-4304-BB68-AC97C71DB6F6}"/>
              </a:ext>
            </a:extLst>
          </p:cNvPr>
          <p:cNvSpPr>
            <a:spLocks noGrp="1"/>
          </p:cNvSpPr>
          <p:nvPr/>
        </p:nvSpPr>
        <p:spPr>
          <a:xfrm>
            <a:off x="8674100" y="5235780"/>
            <a:ext cx="246631" cy="143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0" name="Text strana 67, řádek 48">
            <a:extLst>
              <a:ext uri="{FF2B5EF4-FFF2-40B4-BE49-F238E27FC236}">
                <a16:creationId xmlns:a16="http://schemas.microsoft.com/office/drawing/2014/main" id="{F84D822A-44E8-4451-894F-D6DFC381E385}"/>
              </a:ext>
            </a:extLst>
          </p:cNvPr>
          <p:cNvSpPr>
            <a:spLocks noGrp="1"/>
          </p:cNvSpPr>
          <p:nvPr/>
        </p:nvSpPr>
        <p:spPr>
          <a:xfrm>
            <a:off x="8845931" y="5237785"/>
            <a:ext cx="919567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Magazín M</a:t>
            </a:r>
          </a:p>
        </p:txBody>
      </p:sp>
      <p:sp>
        <p:nvSpPr>
          <p:cNvPr id="51" name="Text strana 67, řádek 49">
            <a:extLst>
              <a:ext uri="{FF2B5EF4-FFF2-40B4-BE49-F238E27FC236}">
                <a16:creationId xmlns:a16="http://schemas.microsoft.com/office/drawing/2014/main" id="{0FD36E23-A1AC-4BCE-8F7E-D3B629C55610}"/>
              </a:ext>
            </a:extLst>
          </p:cNvPr>
          <p:cNvSpPr>
            <a:spLocks noGrp="1"/>
          </p:cNvSpPr>
          <p:nvPr/>
        </p:nvSpPr>
        <p:spPr>
          <a:xfrm>
            <a:off x="8674100" y="5398373"/>
            <a:ext cx="246507" cy="14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2" name="Text strana 67, řádek 50">
            <a:extLst>
              <a:ext uri="{FF2B5EF4-FFF2-40B4-BE49-F238E27FC236}">
                <a16:creationId xmlns:a16="http://schemas.microsoft.com/office/drawing/2014/main" id="{87D0BDC0-E182-40A8-B574-CE133C0234CB}"/>
              </a:ext>
            </a:extLst>
          </p:cNvPr>
          <p:cNvSpPr>
            <a:spLocks noGrp="1"/>
          </p:cNvSpPr>
          <p:nvPr/>
        </p:nvSpPr>
        <p:spPr>
          <a:xfrm>
            <a:off x="8845931" y="5400373"/>
            <a:ext cx="750568" cy="142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Mendelu</a:t>
            </a:r>
          </a:p>
        </p:txBody>
      </p:sp>
      <p:sp>
        <p:nvSpPr>
          <p:cNvPr id="53" name="Text strana 67, řádek 51">
            <a:extLst>
              <a:ext uri="{FF2B5EF4-FFF2-40B4-BE49-F238E27FC236}">
                <a16:creationId xmlns:a16="http://schemas.microsoft.com/office/drawing/2014/main" id="{A343A07E-D016-4089-9B26-44B00676C0A4}"/>
              </a:ext>
            </a:extLst>
          </p:cNvPr>
          <p:cNvSpPr>
            <a:spLocks noGrp="1"/>
          </p:cNvSpPr>
          <p:nvPr/>
        </p:nvSpPr>
        <p:spPr>
          <a:xfrm>
            <a:off x="8674100" y="5569536"/>
            <a:ext cx="246631" cy="143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4" name="Text strana 67, řádek 52">
            <a:extLst>
              <a:ext uri="{FF2B5EF4-FFF2-40B4-BE49-F238E27FC236}">
                <a16:creationId xmlns:a16="http://schemas.microsoft.com/office/drawing/2014/main" id="{CB7A4754-D901-496C-91F9-6FBFF99AC371}"/>
              </a:ext>
            </a:extLst>
          </p:cNvPr>
          <p:cNvSpPr>
            <a:spLocks noGrp="1"/>
          </p:cNvSpPr>
          <p:nvPr/>
        </p:nvSpPr>
        <p:spPr>
          <a:xfrm>
            <a:off x="8845931" y="5571541"/>
            <a:ext cx="508846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VFU</a:t>
            </a:r>
          </a:p>
        </p:txBody>
      </p:sp>
      <p:sp>
        <p:nvSpPr>
          <p:cNvPr id="55" name="Text strana 67, řádek 53">
            <a:extLst>
              <a:ext uri="{FF2B5EF4-FFF2-40B4-BE49-F238E27FC236}">
                <a16:creationId xmlns:a16="http://schemas.microsoft.com/office/drawing/2014/main" id="{0683BC8B-196C-44EC-A18B-6D005C22739C}"/>
              </a:ext>
            </a:extLst>
          </p:cNvPr>
          <p:cNvSpPr>
            <a:spLocks noGrp="1"/>
          </p:cNvSpPr>
          <p:nvPr/>
        </p:nvSpPr>
        <p:spPr>
          <a:xfrm>
            <a:off x="8674100" y="5731778"/>
            <a:ext cx="246631" cy="143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6" name="Text strana 67, řádek 54">
            <a:extLst>
              <a:ext uri="{FF2B5EF4-FFF2-40B4-BE49-F238E27FC236}">
                <a16:creationId xmlns:a16="http://schemas.microsoft.com/office/drawing/2014/main" id="{8A81FC78-D8CF-4D5C-A8DE-E8AE35FCB57B}"/>
              </a:ext>
            </a:extLst>
          </p:cNvPr>
          <p:cNvSpPr>
            <a:spLocks noGrp="1"/>
          </p:cNvSpPr>
          <p:nvPr/>
        </p:nvSpPr>
        <p:spPr>
          <a:xfrm>
            <a:off x="8845931" y="5733783"/>
            <a:ext cx="885409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Czechsight</a:t>
            </a:r>
          </a:p>
        </p:txBody>
      </p:sp>
      <p:sp>
        <p:nvSpPr>
          <p:cNvPr id="57" name="Text strana 67, řádek 55">
            <a:extLst>
              <a:ext uri="{FF2B5EF4-FFF2-40B4-BE49-F238E27FC236}">
                <a16:creationId xmlns:a16="http://schemas.microsoft.com/office/drawing/2014/main" id="{138065CF-2D5C-4955-8D18-40A4785368B2}"/>
              </a:ext>
            </a:extLst>
          </p:cNvPr>
          <p:cNvSpPr>
            <a:spLocks noGrp="1"/>
          </p:cNvSpPr>
          <p:nvPr/>
        </p:nvSpPr>
        <p:spPr>
          <a:xfrm>
            <a:off x="9810750" y="3301857"/>
            <a:ext cx="246507" cy="14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8" name="Text strana 67, řádek 56">
            <a:extLst>
              <a:ext uri="{FF2B5EF4-FFF2-40B4-BE49-F238E27FC236}">
                <a16:creationId xmlns:a16="http://schemas.microsoft.com/office/drawing/2014/main" id="{D346D104-0FA1-47B3-8556-66EFB282F0BB}"/>
              </a:ext>
            </a:extLst>
          </p:cNvPr>
          <p:cNvSpPr>
            <a:spLocks noGrp="1"/>
          </p:cNvSpPr>
          <p:nvPr/>
        </p:nvSpPr>
        <p:spPr>
          <a:xfrm>
            <a:off x="9982581" y="3303858"/>
            <a:ext cx="699361" cy="142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success </a:t>
            </a:r>
          </a:p>
        </p:txBody>
      </p:sp>
      <p:sp>
        <p:nvSpPr>
          <p:cNvPr id="59" name="Text strana 67, řádek 57">
            <a:extLst>
              <a:ext uri="{FF2B5EF4-FFF2-40B4-BE49-F238E27FC236}">
                <a16:creationId xmlns:a16="http://schemas.microsoft.com/office/drawing/2014/main" id="{B4551122-476C-4073-9597-ADAF2D96163D}"/>
              </a:ext>
            </a:extLst>
          </p:cNvPr>
          <p:cNvSpPr>
            <a:spLocks noGrp="1"/>
          </p:cNvSpPr>
          <p:nvPr/>
        </p:nvSpPr>
        <p:spPr>
          <a:xfrm>
            <a:off x="9982581" y="3475025"/>
            <a:ext cx="635703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stories </a:t>
            </a:r>
          </a:p>
        </p:txBody>
      </p:sp>
      <p:sp>
        <p:nvSpPr>
          <p:cNvPr id="60" name="Text strana 67, řádek 58">
            <a:extLst>
              <a:ext uri="{FF2B5EF4-FFF2-40B4-BE49-F238E27FC236}">
                <a16:creationId xmlns:a16="http://schemas.microsoft.com/office/drawing/2014/main" id="{0FA0E635-F651-41C4-81BA-6D2BC2B02DCB}"/>
              </a:ext>
            </a:extLst>
          </p:cNvPr>
          <p:cNvSpPr>
            <a:spLocks noGrp="1"/>
          </p:cNvSpPr>
          <p:nvPr/>
        </p:nvSpPr>
        <p:spPr>
          <a:xfrm>
            <a:off x="9982581" y="3637331"/>
            <a:ext cx="966397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podnikatelů </a:t>
            </a:r>
          </a:p>
        </p:txBody>
      </p:sp>
      <p:sp>
        <p:nvSpPr>
          <p:cNvPr id="61" name="Text strana 67, řádek 59">
            <a:extLst>
              <a:ext uri="{FF2B5EF4-FFF2-40B4-BE49-F238E27FC236}">
                <a16:creationId xmlns:a16="http://schemas.microsoft.com/office/drawing/2014/main" id="{AD126674-82BE-46FF-89C5-6349AD9DDC53}"/>
              </a:ext>
            </a:extLst>
          </p:cNvPr>
          <p:cNvSpPr>
            <a:spLocks noGrp="1"/>
          </p:cNvSpPr>
          <p:nvPr/>
        </p:nvSpPr>
        <p:spPr>
          <a:xfrm>
            <a:off x="9982581" y="3809317"/>
            <a:ext cx="952832" cy="142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 startupistů</a:t>
            </a:r>
          </a:p>
        </p:txBody>
      </p:sp>
      <p:sp>
        <p:nvSpPr>
          <p:cNvPr id="62" name="Text strana 67, řádek 60">
            <a:extLst>
              <a:ext uri="{FF2B5EF4-FFF2-40B4-BE49-F238E27FC236}">
                <a16:creationId xmlns:a16="http://schemas.microsoft.com/office/drawing/2014/main" id="{5AB5BD06-C238-4883-8938-6B0F6D7FE7E7}"/>
              </a:ext>
            </a:extLst>
          </p:cNvPr>
          <p:cNvSpPr>
            <a:spLocks noGrp="1"/>
          </p:cNvSpPr>
          <p:nvPr/>
        </p:nvSpPr>
        <p:spPr>
          <a:xfrm>
            <a:off x="9810750" y="4646245"/>
            <a:ext cx="246631" cy="143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3" name="Text strana 67, řádek 61">
            <a:extLst>
              <a:ext uri="{FF2B5EF4-FFF2-40B4-BE49-F238E27FC236}">
                <a16:creationId xmlns:a16="http://schemas.microsoft.com/office/drawing/2014/main" id="{82DE6A61-66A7-4530-9835-577B021583C7}"/>
              </a:ext>
            </a:extLst>
          </p:cNvPr>
          <p:cNvSpPr>
            <a:spLocks noGrp="1"/>
          </p:cNvSpPr>
          <p:nvPr/>
        </p:nvSpPr>
        <p:spPr>
          <a:xfrm>
            <a:off x="9982581" y="4648250"/>
            <a:ext cx="795758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výsledky </a:t>
            </a:r>
          </a:p>
        </p:txBody>
      </p:sp>
      <p:sp>
        <p:nvSpPr>
          <p:cNvPr id="64" name="Text strana 67, řádek 62">
            <a:extLst>
              <a:ext uri="{FF2B5EF4-FFF2-40B4-BE49-F238E27FC236}">
                <a16:creationId xmlns:a16="http://schemas.microsoft.com/office/drawing/2014/main" id="{4AA3D5A7-96F9-493E-95C0-85D2AC385914}"/>
              </a:ext>
            </a:extLst>
          </p:cNvPr>
          <p:cNvSpPr>
            <a:spLocks noGrp="1"/>
          </p:cNvSpPr>
          <p:nvPr/>
        </p:nvSpPr>
        <p:spPr>
          <a:xfrm>
            <a:off x="9982581" y="4810557"/>
            <a:ext cx="629609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soutěží</a:t>
            </a:r>
          </a:p>
        </p:txBody>
      </p:sp>
      <p:sp>
        <p:nvSpPr>
          <p:cNvPr id="65" name="Text strana 67, řádek 63">
            <a:extLst>
              <a:ext uri="{FF2B5EF4-FFF2-40B4-BE49-F238E27FC236}">
                <a16:creationId xmlns:a16="http://schemas.microsoft.com/office/drawing/2014/main" id="{D58E6023-6245-4BF6-855B-30532C85E85B}"/>
              </a:ext>
            </a:extLst>
          </p:cNvPr>
          <p:cNvSpPr>
            <a:spLocks noGrp="1"/>
          </p:cNvSpPr>
          <p:nvPr/>
        </p:nvSpPr>
        <p:spPr>
          <a:xfrm>
            <a:off x="9810750" y="4980543"/>
            <a:ext cx="246507" cy="14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6" name="Text strana 67, řádek 64">
            <a:extLst>
              <a:ext uri="{FF2B5EF4-FFF2-40B4-BE49-F238E27FC236}">
                <a16:creationId xmlns:a16="http://schemas.microsoft.com/office/drawing/2014/main" id="{B3389AD5-AC49-4353-912A-EA5F759516A7}"/>
              </a:ext>
            </a:extLst>
          </p:cNvPr>
          <p:cNvSpPr>
            <a:spLocks noGrp="1"/>
          </p:cNvSpPr>
          <p:nvPr/>
        </p:nvSpPr>
        <p:spPr>
          <a:xfrm>
            <a:off x="9982581" y="4982544"/>
            <a:ext cx="582548" cy="142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mladí </a:t>
            </a:r>
          </a:p>
        </p:txBody>
      </p:sp>
      <p:sp>
        <p:nvSpPr>
          <p:cNvPr id="67" name="Text strana 67, řádek 65">
            <a:extLst>
              <a:ext uri="{FF2B5EF4-FFF2-40B4-BE49-F238E27FC236}">
                <a16:creationId xmlns:a16="http://schemas.microsoft.com/office/drawing/2014/main" id="{7DDD535C-C1E9-4CC8-A7E7-FEB8B4B3C113}"/>
              </a:ext>
            </a:extLst>
          </p:cNvPr>
          <p:cNvSpPr>
            <a:spLocks noGrp="1"/>
          </p:cNvSpPr>
          <p:nvPr/>
        </p:nvSpPr>
        <p:spPr>
          <a:xfrm>
            <a:off x="9982581" y="5154375"/>
            <a:ext cx="885305" cy="142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podnikavci</a:t>
            </a:r>
          </a:p>
        </p:txBody>
      </p:sp>
      <p:sp>
        <p:nvSpPr>
          <p:cNvPr id="68" name="Text strana 67, řádek 66">
            <a:extLst>
              <a:ext uri="{FF2B5EF4-FFF2-40B4-BE49-F238E27FC236}">
                <a16:creationId xmlns:a16="http://schemas.microsoft.com/office/drawing/2014/main" id="{95CD7AD4-0B07-4342-AF5B-6D092674BEB1}"/>
              </a:ext>
            </a:extLst>
          </p:cNvPr>
          <p:cNvSpPr>
            <a:spLocks noGrp="1"/>
          </p:cNvSpPr>
          <p:nvPr/>
        </p:nvSpPr>
        <p:spPr>
          <a:xfrm>
            <a:off x="9810750" y="5314012"/>
            <a:ext cx="246631" cy="143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9" name="Text strana 67, řádek 67">
            <a:extLst>
              <a:ext uri="{FF2B5EF4-FFF2-40B4-BE49-F238E27FC236}">
                <a16:creationId xmlns:a16="http://schemas.microsoft.com/office/drawing/2014/main" id="{B05B9B82-205D-4BBE-AEC2-C40CD423373F}"/>
              </a:ext>
            </a:extLst>
          </p:cNvPr>
          <p:cNvSpPr>
            <a:spLocks noGrp="1"/>
          </p:cNvSpPr>
          <p:nvPr/>
        </p:nvSpPr>
        <p:spPr>
          <a:xfrm>
            <a:off x="9982581" y="5316017"/>
            <a:ext cx="675957" cy="142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1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FabLab</a:t>
            </a:r>
          </a:p>
        </p:txBody>
      </p:sp>
      <p:sp>
        <p:nvSpPr>
          <p:cNvPr id="70" name="Text strana 67, řádek 68">
            <a:extLst>
              <a:ext uri="{FF2B5EF4-FFF2-40B4-BE49-F238E27FC236}">
                <a16:creationId xmlns:a16="http://schemas.microsoft.com/office/drawing/2014/main" id="{14FE7363-20D9-417A-BA05-834FFDE25A36}"/>
              </a:ext>
            </a:extLst>
          </p:cNvPr>
          <p:cNvSpPr>
            <a:spLocks noGrp="1"/>
          </p:cNvSpPr>
          <p:nvPr/>
        </p:nvSpPr>
        <p:spPr>
          <a:xfrm>
            <a:off x="11679301" y="2479925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71" name="Text strana 67, řádek 69">
            <a:extLst>
              <a:ext uri="{FF2B5EF4-FFF2-40B4-BE49-F238E27FC236}">
                <a16:creationId xmlns:a16="http://schemas.microsoft.com/office/drawing/2014/main" id="{F99F1BC4-28DB-45EF-AED9-5DB98BC1472B}"/>
              </a:ext>
            </a:extLst>
          </p:cNvPr>
          <p:cNvSpPr>
            <a:spLocks noGrp="1"/>
          </p:cNvSpPr>
          <p:nvPr/>
        </p:nvSpPr>
        <p:spPr>
          <a:xfrm>
            <a:off x="2942336" y="3299218"/>
            <a:ext cx="964315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Facebook</a:t>
            </a:r>
          </a:p>
        </p:txBody>
      </p:sp>
      <p:sp>
        <p:nvSpPr>
          <p:cNvPr id="72" name="Text strana 67, řádek 70">
            <a:extLst>
              <a:ext uri="{FF2B5EF4-FFF2-40B4-BE49-F238E27FC236}">
                <a16:creationId xmlns:a16="http://schemas.microsoft.com/office/drawing/2014/main" id="{A881A38C-75C0-40C7-82BB-770C1BCE5525}"/>
              </a:ext>
            </a:extLst>
          </p:cNvPr>
          <p:cNvSpPr>
            <a:spLocks noGrp="1"/>
          </p:cNvSpPr>
          <p:nvPr/>
        </p:nvSpPr>
        <p:spPr>
          <a:xfrm>
            <a:off x="3896360" y="3034919"/>
            <a:ext cx="841418" cy="153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eventy</a:t>
            </a:r>
          </a:p>
        </p:txBody>
      </p:sp>
      <p:sp>
        <p:nvSpPr>
          <p:cNvPr id="73" name="Text strana 67, řádek 71">
            <a:extLst>
              <a:ext uri="{FF2B5EF4-FFF2-40B4-BE49-F238E27FC236}">
                <a16:creationId xmlns:a16="http://schemas.microsoft.com/office/drawing/2014/main" id="{C8FFDB2C-AF4D-44D1-AAC6-9CBCBCC108BD}"/>
              </a:ext>
            </a:extLst>
          </p:cNvPr>
          <p:cNvSpPr>
            <a:spLocks noGrp="1"/>
          </p:cNvSpPr>
          <p:nvPr/>
        </p:nvSpPr>
        <p:spPr>
          <a:xfrm>
            <a:off x="3896360" y="3225673"/>
            <a:ext cx="2337498" cy="153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naši klienti (rituály startupů)</a:t>
            </a:r>
          </a:p>
        </p:txBody>
      </p:sp>
      <p:sp>
        <p:nvSpPr>
          <p:cNvPr id="74" name="Text strana 67, řádek 72">
            <a:extLst>
              <a:ext uri="{FF2B5EF4-FFF2-40B4-BE49-F238E27FC236}">
                <a16:creationId xmlns:a16="http://schemas.microsoft.com/office/drawing/2014/main" id="{CE8FDECF-975B-4105-B03A-32082E34EF80}"/>
              </a:ext>
            </a:extLst>
          </p:cNvPr>
          <p:cNvSpPr>
            <a:spLocks noGrp="1"/>
          </p:cNvSpPr>
          <p:nvPr/>
        </p:nvSpPr>
        <p:spPr>
          <a:xfrm>
            <a:off x="3896360" y="3406361"/>
            <a:ext cx="2008895" cy="1540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aktuálně z podnikavosti</a:t>
            </a:r>
          </a:p>
        </p:txBody>
      </p:sp>
      <p:sp>
        <p:nvSpPr>
          <p:cNvPr id="75" name="Text strana 67, řádek 73">
            <a:extLst>
              <a:ext uri="{FF2B5EF4-FFF2-40B4-BE49-F238E27FC236}">
                <a16:creationId xmlns:a16="http://schemas.microsoft.com/office/drawing/2014/main" id="{7A42E1D3-D3F0-44A6-B9D2-28B4C91AEF54}"/>
              </a:ext>
            </a:extLst>
          </p:cNvPr>
          <p:cNvSpPr>
            <a:spLocks noGrp="1"/>
          </p:cNvSpPr>
          <p:nvPr/>
        </p:nvSpPr>
        <p:spPr>
          <a:xfrm>
            <a:off x="3896360" y="3587590"/>
            <a:ext cx="1616937" cy="1540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teaser na </a:t>
            </a:r>
            <a:r>
              <a:rPr sz="1082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JICblog</a:t>
            </a:r>
          </a:p>
        </p:txBody>
      </p:sp>
      <p:sp>
        <p:nvSpPr>
          <p:cNvPr id="76" name="Text strana 67, řádek 74">
            <a:extLst>
              <a:ext uri="{FF2B5EF4-FFF2-40B4-BE49-F238E27FC236}">
                <a16:creationId xmlns:a16="http://schemas.microsoft.com/office/drawing/2014/main" id="{ACA94820-FFC4-469F-A843-19D493E5012D}"/>
              </a:ext>
            </a:extLst>
          </p:cNvPr>
          <p:cNvSpPr>
            <a:spLocks noGrp="1"/>
          </p:cNvSpPr>
          <p:nvPr/>
        </p:nvSpPr>
        <p:spPr>
          <a:xfrm>
            <a:off x="6333490" y="3125944"/>
            <a:ext cx="2458649" cy="1540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eventy #startuji, #mámnápad, </a:t>
            </a:r>
          </a:p>
        </p:txBody>
      </p:sp>
      <p:sp>
        <p:nvSpPr>
          <p:cNvPr id="77" name="Text strana 67, řádek 75">
            <a:extLst>
              <a:ext uri="{FF2B5EF4-FFF2-40B4-BE49-F238E27FC236}">
                <a16:creationId xmlns:a16="http://schemas.microsoft.com/office/drawing/2014/main" id="{9C6B4A80-2593-4A19-8958-6710E5CBD5EC}"/>
              </a:ext>
            </a:extLst>
          </p:cNvPr>
          <p:cNvSpPr>
            <a:spLocks noGrp="1"/>
          </p:cNvSpPr>
          <p:nvPr/>
        </p:nvSpPr>
        <p:spPr>
          <a:xfrm>
            <a:off x="6504940" y="3318964"/>
            <a:ext cx="1169727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#chcipodnikat</a:t>
            </a:r>
          </a:p>
        </p:txBody>
      </p:sp>
      <p:sp>
        <p:nvSpPr>
          <p:cNvPr id="78" name="Text strana 67, řádek 76">
            <a:extLst>
              <a:ext uri="{FF2B5EF4-FFF2-40B4-BE49-F238E27FC236}">
                <a16:creationId xmlns:a16="http://schemas.microsoft.com/office/drawing/2014/main" id="{F3894D19-8254-4C42-9912-8FCCAE9204B7}"/>
              </a:ext>
            </a:extLst>
          </p:cNvPr>
          <p:cNvSpPr>
            <a:spLocks noGrp="1"/>
          </p:cNvSpPr>
          <p:nvPr/>
        </p:nvSpPr>
        <p:spPr>
          <a:xfrm>
            <a:off x="6333490" y="3498182"/>
            <a:ext cx="1734457" cy="1540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mikrosucces stories</a:t>
            </a:r>
          </a:p>
        </p:txBody>
      </p:sp>
      <p:sp>
        <p:nvSpPr>
          <p:cNvPr id="79" name="Text strana 67, řádek 77">
            <a:extLst>
              <a:ext uri="{FF2B5EF4-FFF2-40B4-BE49-F238E27FC236}">
                <a16:creationId xmlns:a16="http://schemas.microsoft.com/office/drawing/2014/main" id="{B8354B09-3936-4495-948A-6E7909AB4E30}"/>
              </a:ext>
            </a:extLst>
          </p:cNvPr>
          <p:cNvSpPr>
            <a:spLocks noGrp="1"/>
          </p:cNvSpPr>
          <p:nvPr/>
        </p:nvSpPr>
        <p:spPr>
          <a:xfrm>
            <a:off x="11679301" y="2968875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80" name="Text strana 67, řádek 78">
            <a:extLst>
              <a:ext uri="{FF2B5EF4-FFF2-40B4-BE49-F238E27FC236}">
                <a16:creationId xmlns:a16="http://schemas.microsoft.com/office/drawing/2014/main" id="{61B3052E-AA64-442D-A2FE-61CC1D18BEBD}"/>
              </a:ext>
            </a:extLst>
          </p:cNvPr>
          <p:cNvSpPr>
            <a:spLocks noGrp="1"/>
          </p:cNvSpPr>
          <p:nvPr/>
        </p:nvSpPr>
        <p:spPr>
          <a:xfrm>
            <a:off x="11679301" y="3466080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81" name="Text strana 67, řádek 79">
            <a:extLst>
              <a:ext uri="{FF2B5EF4-FFF2-40B4-BE49-F238E27FC236}">
                <a16:creationId xmlns:a16="http://schemas.microsoft.com/office/drawing/2014/main" id="{9D96AEC8-AC2A-41B5-8614-9EAB4C44CACF}"/>
              </a:ext>
            </a:extLst>
          </p:cNvPr>
          <p:cNvSpPr>
            <a:spLocks noGrp="1"/>
          </p:cNvSpPr>
          <p:nvPr/>
        </p:nvSpPr>
        <p:spPr>
          <a:xfrm>
            <a:off x="496253" y="5125380"/>
            <a:ext cx="1006133" cy="180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Everyman</a:t>
            </a:r>
          </a:p>
        </p:txBody>
      </p:sp>
      <p:sp>
        <p:nvSpPr>
          <p:cNvPr id="82" name="Text strana 67, řádek 80">
            <a:extLst>
              <a:ext uri="{FF2B5EF4-FFF2-40B4-BE49-F238E27FC236}">
                <a16:creationId xmlns:a16="http://schemas.microsoft.com/office/drawing/2014/main" id="{483CC595-E88B-43D3-A73B-C1E99200F9A7}"/>
              </a:ext>
            </a:extLst>
          </p:cNvPr>
          <p:cNvSpPr>
            <a:spLocks noGrp="1"/>
          </p:cNvSpPr>
          <p:nvPr/>
        </p:nvSpPr>
        <p:spPr>
          <a:xfrm>
            <a:off x="10965332" y="5067300"/>
            <a:ext cx="473928" cy="4719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zaJIC</a:t>
            </a:r>
          </a:p>
        </p:txBody>
      </p:sp>
      <p:sp>
        <p:nvSpPr>
          <p:cNvPr id="83" name="Text strana 67, řádek 81">
            <a:extLst>
              <a:ext uri="{FF2B5EF4-FFF2-40B4-BE49-F238E27FC236}">
                <a16:creationId xmlns:a16="http://schemas.microsoft.com/office/drawing/2014/main" id="{73848FE1-BD9A-4B2A-9945-F26D3488992A}"/>
              </a:ext>
            </a:extLst>
          </p:cNvPr>
          <p:cNvSpPr>
            <a:spLocks noGrp="1"/>
          </p:cNvSpPr>
          <p:nvPr/>
        </p:nvSpPr>
        <p:spPr>
          <a:xfrm>
            <a:off x="2964815" y="4383446"/>
            <a:ext cx="920597" cy="180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YouTube</a:t>
            </a:r>
          </a:p>
        </p:txBody>
      </p:sp>
      <p:sp>
        <p:nvSpPr>
          <p:cNvPr id="84" name="Text strana 67, řádek 82">
            <a:extLst>
              <a:ext uri="{FF2B5EF4-FFF2-40B4-BE49-F238E27FC236}">
                <a16:creationId xmlns:a16="http://schemas.microsoft.com/office/drawing/2014/main" id="{8C60E3A2-E23C-4577-84D7-73E216DAB474}"/>
              </a:ext>
            </a:extLst>
          </p:cNvPr>
          <p:cNvSpPr>
            <a:spLocks noGrp="1"/>
          </p:cNvSpPr>
          <p:nvPr/>
        </p:nvSpPr>
        <p:spPr>
          <a:xfrm>
            <a:off x="3896360" y="4118196"/>
            <a:ext cx="2409649" cy="1540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success stories (rozhovory se </a:t>
            </a:r>
          </a:p>
        </p:txBody>
      </p:sp>
      <p:sp>
        <p:nvSpPr>
          <p:cNvPr id="85" name="Text strana 67, řádek 83">
            <a:extLst>
              <a:ext uri="{FF2B5EF4-FFF2-40B4-BE49-F238E27FC236}">
                <a16:creationId xmlns:a16="http://schemas.microsoft.com/office/drawing/2014/main" id="{9EF6C8EA-AF1C-4211-A999-E5D9C6495764}"/>
              </a:ext>
            </a:extLst>
          </p:cNvPr>
          <p:cNvSpPr>
            <a:spLocks noGrp="1"/>
          </p:cNvSpPr>
          <p:nvPr/>
        </p:nvSpPr>
        <p:spPr>
          <a:xfrm>
            <a:off x="4068191" y="4311088"/>
            <a:ext cx="2433227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startupisty a podnikavými lidmi)</a:t>
            </a:r>
          </a:p>
        </p:txBody>
      </p:sp>
      <p:sp>
        <p:nvSpPr>
          <p:cNvPr id="86" name="Text strana 67, řádek 84">
            <a:extLst>
              <a:ext uri="{FF2B5EF4-FFF2-40B4-BE49-F238E27FC236}">
                <a16:creationId xmlns:a16="http://schemas.microsoft.com/office/drawing/2014/main" id="{553EAA87-B49A-4526-9EEA-4D5982EBD0B9}"/>
              </a:ext>
            </a:extLst>
          </p:cNvPr>
          <p:cNvSpPr>
            <a:spLocks noGrp="1"/>
          </p:cNvSpPr>
          <p:nvPr/>
        </p:nvSpPr>
        <p:spPr>
          <a:xfrm>
            <a:off x="3896360" y="4490306"/>
            <a:ext cx="2708122" cy="1540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rady pro podnikavce a startupisty </a:t>
            </a:r>
          </a:p>
        </p:txBody>
      </p:sp>
      <p:sp>
        <p:nvSpPr>
          <p:cNvPr id="87" name="Text strana 67, řádek 85">
            <a:extLst>
              <a:ext uri="{FF2B5EF4-FFF2-40B4-BE49-F238E27FC236}">
                <a16:creationId xmlns:a16="http://schemas.microsoft.com/office/drawing/2014/main" id="{596564D3-B65C-4D87-89A0-83D424D3492A}"/>
              </a:ext>
            </a:extLst>
          </p:cNvPr>
          <p:cNvSpPr>
            <a:spLocks noGrp="1"/>
          </p:cNvSpPr>
          <p:nvPr/>
        </p:nvSpPr>
        <p:spPr>
          <a:xfrm>
            <a:off x="4068191" y="4674083"/>
            <a:ext cx="2102716" cy="151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(s týmem Podnikavosti JIC)</a:t>
            </a:r>
          </a:p>
        </p:txBody>
      </p:sp>
      <p:sp>
        <p:nvSpPr>
          <p:cNvPr id="88" name="Text strana 67, řádek 86">
            <a:extLst>
              <a:ext uri="{FF2B5EF4-FFF2-40B4-BE49-F238E27FC236}">
                <a16:creationId xmlns:a16="http://schemas.microsoft.com/office/drawing/2014/main" id="{04E669DB-880C-417D-BA59-5F2BC3E8E961}"/>
              </a:ext>
            </a:extLst>
          </p:cNvPr>
          <p:cNvSpPr>
            <a:spLocks noGrp="1"/>
          </p:cNvSpPr>
          <p:nvPr/>
        </p:nvSpPr>
        <p:spPr>
          <a:xfrm>
            <a:off x="6333490" y="4210177"/>
            <a:ext cx="2458006" cy="153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youtube kanál – seznam videí </a:t>
            </a:r>
          </a:p>
        </p:txBody>
      </p:sp>
      <p:sp>
        <p:nvSpPr>
          <p:cNvPr id="89" name="Text strana 67, řádek 87">
            <a:extLst>
              <a:ext uri="{FF2B5EF4-FFF2-40B4-BE49-F238E27FC236}">
                <a16:creationId xmlns:a16="http://schemas.microsoft.com/office/drawing/2014/main" id="{2A5AAAD4-87E6-4309-8C20-FB2FC1E25E12}"/>
              </a:ext>
            </a:extLst>
          </p:cNvPr>
          <p:cNvSpPr>
            <a:spLocks noGrp="1"/>
          </p:cNvSpPr>
          <p:nvPr/>
        </p:nvSpPr>
        <p:spPr>
          <a:xfrm>
            <a:off x="6504940" y="4403192"/>
            <a:ext cx="1059985" cy="151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JICfluencer</a:t>
            </a:r>
          </a:p>
        </p:txBody>
      </p:sp>
      <p:sp>
        <p:nvSpPr>
          <p:cNvPr id="90" name="Text strana 67, řádek 88">
            <a:extLst>
              <a:ext uri="{FF2B5EF4-FFF2-40B4-BE49-F238E27FC236}">
                <a16:creationId xmlns:a16="http://schemas.microsoft.com/office/drawing/2014/main" id="{2122EF0A-EED4-4398-999F-262CAA3D3ACD}"/>
              </a:ext>
            </a:extLst>
          </p:cNvPr>
          <p:cNvSpPr>
            <a:spLocks noGrp="1"/>
          </p:cNvSpPr>
          <p:nvPr/>
        </p:nvSpPr>
        <p:spPr>
          <a:xfrm>
            <a:off x="6333490" y="4581746"/>
            <a:ext cx="1796031" cy="1540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záznamy z webinářů</a:t>
            </a:r>
          </a:p>
        </p:txBody>
      </p:sp>
      <p:sp>
        <p:nvSpPr>
          <p:cNvPr id="91" name="Text strana 67, řádek 89">
            <a:extLst>
              <a:ext uri="{FF2B5EF4-FFF2-40B4-BE49-F238E27FC236}">
                <a16:creationId xmlns:a16="http://schemas.microsoft.com/office/drawing/2014/main" id="{6AB43E27-2D6C-4ED6-968D-68DFB8F1E7B9}"/>
              </a:ext>
            </a:extLst>
          </p:cNvPr>
          <p:cNvSpPr>
            <a:spLocks noGrp="1"/>
          </p:cNvSpPr>
          <p:nvPr/>
        </p:nvSpPr>
        <p:spPr>
          <a:xfrm>
            <a:off x="2870835" y="5710948"/>
            <a:ext cx="1178936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Instagram a </a:t>
            </a:r>
          </a:p>
        </p:txBody>
      </p:sp>
      <p:sp>
        <p:nvSpPr>
          <p:cNvPr id="92" name="Text strana 67, řádek 90">
            <a:extLst>
              <a:ext uri="{FF2B5EF4-FFF2-40B4-BE49-F238E27FC236}">
                <a16:creationId xmlns:a16="http://schemas.microsoft.com/office/drawing/2014/main" id="{0285BB2C-F570-44FB-A3A5-B9A4D0657C01}"/>
              </a:ext>
            </a:extLst>
          </p:cNvPr>
          <p:cNvSpPr>
            <a:spLocks noGrp="1"/>
          </p:cNvSpPr>
          <p:nvPr/>
        </p:nvSpPr>
        <p:spPr>
          <a:xfrm>
            <a:off x="2882900" y="5920816"/>
            <a:ext cx="1100762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Instastories</a:t>
            </a:r>
          </a:p>
        </p:txBody>
      </p:sp>
      <p:sp>
        <p:nvSpPr>
          <p:cNvPr id="93" name="Text strana 67, řádek 91">
            <a:extLst>
              <a:ext uri="{FF2B5EF4-FFF2-40B4-BE49-F238E27FC236}">
                <a16:creationId xmlns:a16="http://schemas.microsoft.com/office/drawing/2014/main" id="{990B4A1E-2B38-4469-9BEB-711206436447}"/>
              </a:ext>
            </a:extLst>
          </p:cNvPr>
          <p:cNvSpPr>
            <a:spLocks noGrp="1"/>
          </p:cNvSpPr>
          <p:nvPr/>
        </p:nvSpPr>
        <p:spPr>
          <a:xfrm>
            <a:off x="3896360" y="5187188"/>
            <a:ext cx="2163738" cy="153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z našich akcí pro studenty</a:t>
            </a:r>
          </a:p>
        </p:txBody>
      </p:sp>
      <p:sp>
        <p:nvSpPr>
          <p:cNvPr id="94" name="Text strana 67, řádek 92">
            <a:extLst>
              <a:ext uri="{FF2B5EF4-FFF2-40B4-BE49-F238E27FC236}">
                <a16:creationId xmlns:a16="http://schemas.microsoft.com/office/drawing/2014/main" id="{CACBABEB-D310-4293-BAB4-17AE2AD9EBB7}"/>
              </a:ext>
            </a:extLst>
          </p:cNvPr>
          <p:cNvSpPr>
            <a:spLocks noGrp="1"/>
          </p:cNvSpPr>
          <p:nvPr/>
        </p:nvSpPr>
        <p:spPr>
          <a:xfrm>
            <a:off x="3896360" y="5377400"/>
            <a:ext cx="1930385" cy="1540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publikace, které čteme</a:t>
            </a:r>
          </a:p>
        </p:txBody>
      </p:sp>
      <p:sp>
        <p:nvSpPr>
          <p:cNvPr id="95" name="Text strana 67, řádek 93">
            <a:extLst>
              <a:ext uri="{FF2B5EF4-FFF2-40B4-BE49-F238E27FC236}">
                <a16:creationId xmlns:a16="http://schemas.microsoft.com/office/drawing/2014/main" id="{2475AEBB-9FAA-4125-8455-776EF1F1E4A9}"/>
              </a:ext>
            </a:extLst>
          </p:cNvPr>
          <p:cNvSpPr>
            <a:spLocks noGrp="1"/>
          </p:cNvSpPr>
          <p:nvPr/>
        </p:nvSpPr>
        <p:spPr>
          <a:xfrm>
            <a:off x="3896360" y="5558693"/>
            <a:ext cx="2643295" cy="1540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inspirativní startupisti s krátkým </a:t>
            </a:r>
          </a:p>
        </p:txBody>
      </p:sp>
      <p:sp>
        <p:nvSpPr>
          <p:cNvPr id="96" name="Text strana 67, řádek 94">
            <a:extLst>
              <a:ext uri="{FF2B5EF4-FFF2-40B4-BE49-F238E27FC236}">
                <a16:creationId xmlns:a16="http://schemas.microsoft.com/office/drawing/2014/main" id="{D71AD1A0-18A1-42C7-83ED-448B62DF93D1}"/>
              </a:ext>
            </a:extLst>
          </p:cNvPr>
          <p:cNvSpPr>
            <a:spLocks noGrp="1"/>
          </p:cNvSpPr>
          <p:nvPr/>
        </p:nvSpPr>
        <p:spPr>
          <a:xfrm>
            <a:off x="4068191" y="5742124"/>
            <a:ext cx="2206423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příběhem v popisu (teaser na </a:t>
            </a:r>
          </a:p>
        </p:txBody>
      </p:sp>
      <p:sp>
        <p:nvSpPr>
          <p:cNvPr id="97" name="Text strana 67, řádek 95">
            <a:extLst>
              <a:ext uri="{FF2B5EF4-FFF2-40B4-BE49-F238E27FC236}">
                <a16:creationId xmlns:a16="http://schemas.microsoft.com/office/drawing/2014/main" id="{48F8606C-9C2A-498C-9F2C-3CC470291769}"/>
              </a:ext>
            </a:extLst>
          </p:cNvPr>
          <p:cNvSpPr>
            <a:spLocks noGrp="1"/>
          </p:cNvSpPr>
          <p:nvPr/>
        </p:nvSpPr>
        <p:spPr>
          <a:xfrm>
            <a:off x="4068191" y="5923699"/>
            <a:ext cx="1206321" cy="151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JICfluencera</a:t>
            </a:r>
            <a:r>
              <a:rPr sz="108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98" name="Text strana 67, řádek 96">
            <a:extLst>
              <a:ext uri="{FF2B5EF4-FFF2-40B4-BE49-F238E27FC236}">
                <a16:creationId xmlns:a16="http://schemas.microsoft.com/office/drawing/2014/main" id="{7D55BEE7-2D75-483D-8CFC-F3E9E21F21FE}"/>
              </a:ext>
            </a:extLst>
          </p:cNvPr>
          <p:cNvSpPr>
            <a:spLocks noGrp="1"/>
          </p:cNvSpPr>
          <p:nvPr/>
        </p:nvSpPr>
        <p:spPr>
          <a:xfrm>
            <a:off x="3896360" y="6102858"/>
            <a:ext cx="2728372" cy="153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teasery pro začínající podnikatele </a:t>
            </a:r>
          </a:p>
        </p:txBody>
      </p:sp>
      <p:sp>
        <p:nvSpPr>
          <p:cNvPr id="99" name="Text strana 67, řádek 97">
            <a:extLst>
              <a:ext uri="{FF2B5EF4-FFF2-40B4-BE49-F238E27FC236}">
                <a16:creationId xmlns:a16="http://schemas.microsoft.com/office/drawing/2014/main" id="{007EE27F-7235-4BC9-960C-C8529F0089DC}"/>
              </a:ext>
            </a:extLst>
          </p:cNvPr>
          <p:cNvSpPr>
            <a:spLocks noGrp="1"/>
          </p:cNvSpPr>
          <p:nvPr/>
        </p:nvSpPr>
        <p:spPr>
          <a:xfrm>
            <a:off x="4068191" y="6295209"/>
            <a:ext cx="2483002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(jak začít podnikat, jak najít svůj </a:t>
            </a:r>
          </a:p>
        </p:txBody>
      </p:sp>
      <p:sp>
        <p:nvSpPr>
          <p:cNvPr id="100" name="Text strana 67, řádek 98">
            <a:extLst>
              <a:ext uri="{FF2B5EF4-FFF2-40B4-BE49-F238E27FC236}">
                <a16:creationId xmlns:a16="http://schemas.microsoft.com/office/drawing/2014/main" id="{FE6AFB62-27A3-47A0-AC98-F0873587BF46}"/>
              </a:ext>
            </a:extLst>
          </p:cNvPr>
          <p:cNvSpPr>
            <a:spLocks noGrp="1"/>
          </p:cNvSpPr>
          <p:nvPr/>
        </p:nvSpPr>
        <p:spPr>
          <a:xfrm>
            <a:off x="4068191" y="6476501"/>
            <a:ext cx="1505999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talent, lean canvas)</a:t>
            </a:r>
          </a:p>
        </p:txBody>
      </p:sp>
      <p:sp>
        <p:nvSpPr>
          <p:cNvPr id="101" name="Text strana 67, řádek 99">
            <a:extLst>
              <a:ext uri="{FF2B5EF4-FFF2-40B4-BE49-F238E27FC236}">
                <a16:creationId xmlns:a16="http://schemas.microsoft.com/office/drawing/2014/main" id="{C06296EC-4B61-494F-9D01-652C56F7978F}"/>
              </a:ext>
            </a:extLst>
          </p:cNvPr>
          <p:cNvSpPr>
            <a:spLocks noGrp="1"/>
          </p:cNvSpPr>
          <p:nvPr/>
        </p:nvSpPr>
        <p:spPr>
          <a:xfrm>
            <a:off x="6333490" y="5369781"/>
            <a:ext cx="2598057" cy="1540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video: imagová videa (listování </a:t>
            </a:r>
          </a:p>
        </p:txBody>
      </p:sp>
      <p:sp>
        <p:nvSpPr>
          <p:cNvPr id="102" name="Text strana 67, řádek 100">
            <a:extLst>
              <a:ext uri="{FF2B5EF4-FFF2-40B4-BE49-F238E27FC236}">
                <a16:creationId xmlns:a16="http://schemas.microsoft.com/office/drawing/2014/main" id="{C968F1D5-B4B9-4C8E-B83F-88D784779E4F}"/>
              </a:ext>
            </a:extLst>
          </p:cNvPr>
          <p:cNvSpPr>
            <a:spLocks noGrp="1"/>
          </p:cNvSpPr>
          <p:nvPr/>
        </p:nvSpPr>
        <p:spPr>
          <a:xfrm>
            <a:off x="6504940" y="5562736"/>
            <a:ext cx="2321193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knihou, vyplněný lean canvas, </a:t>
            </a:r>
          </a:p>
        </p:txBody>
      </p:sp>
      <p:sp>
        <p:nvSpPr>
          <p:cNvPr id="103" name="Text strana 67, řádek 101">
            <a:extLst>
              <a:ext uri="{FF2B5EF4-FFF2-40B4-BE49-F238E27FC236}">
                <a16:creationId xmlns:a16="http://schemas.microsoft.com/office/drawing/2014/main" id="{E44670DC-CE7B-4A4D-BD0C-E0F9F0ECEB45}"/>
              </a:ext>
            </a:extLst>
          </p:cNvPr>
          <p:cNvSpPr>
            <a:spLocks noGrp="1"/>
          </p:cNvSpPr>
          <p:nvPr/>
        </p:nvSpPr>
        <p:spPr>
          <a:xfrm>
            <a:off x="6504940" y="5744029"/>
            <a:ext cx="2014342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atraktivní pasáž naší akce)</a:t>
            </a:r>
          </a:p>
        </p:txBody>
      </p:sp>
      <p:sp>
        <p:nvSpPr>
          <p:cNvPr id="104" name="Text strana 67, řádek 102">
            <a:extLst>
              <a:ext uri="{FF2B5EF4-FFF2-40B4-BE49-F238E27FC236}">
                <a16:creationId xmlns:a16="http://schemas.microsoft.com/office/drawing/2014/main" id="{6188140E-A445-4F7F-BF76-7FC68235E98E}"/>
              </a:ext>
            </a:extLst>
          </p:cNvPr>
          <p:cNvSpPr>
            <a:spLocks noGrp="1"/>
          </p:cNvSpPr>
          <p:nvPr/>
        </p:nvSpPr>
        <p:spPr>
          <a:xfrm>
            <a:off x="6333490" y="5923471"/>
            <a:ext cx="2460310" cy="153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• fotky: detailní záběry (obálka </a:t>
            </a:r>
          </a:p>
        </p:txBody>
      </p:sp>
      <p:sp>
        <p:nvSpPr>
          <p:cNvPr id="105" name="Text strana 67, řádek 103">
            <a:extLst>
              <a:ext uri="{FF2B5EF4-FFF2-40B4-BE49-F238E27FC236}">
                <a16:creationId xmlns:a16="http://schemas.microsoft.com/office/drawing/2014/main" id="{AD4A655C-B7E5-4E04-AE92-D72100043C38}"/>
              </a:ext>
            </a:extLst>
          </p:cNvPr>
          <p:cNvSpPr>
            <a:spLocks noGrp="1"/>
          </p:cNvSpPr>
          <p:nvPr/>
        </p:nvSpPr>
        <p:spPr>
          <a:xfrm>
            <a:off x="6504940" y="6106897"/>
            <a:ext cx="2352948" cy="151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knihy, část leancanvasu), fotky </a:t>
            </a:r>
          </a:p>
        </p:txBody>
      </p:sp>
      <p:sp>
        <p:nvSpPr>
          <p:cNvPr id="106" name="Text strana 67, řádek 104">
            <a:extLst>
              <a:ext uri="{FF2B5EF4-FFF2-40B4-BE49-F238E27FC236}">
                <a16:creationId xmlns:a16="http://schemas.microsoft.com/office/drawing/2014/main" id="{8B145E4D-5F1F-4D8C-893E-342BB6A24A60}"/>
              </a:ext>
            </a:extLst>
          </p:cNvPr>
          <p:cNvSpPr>
            <a:spLocks noGrp="1"/>
          </p:cNvSpPr>
          <p:nvPr/>
        </p:nvSpPr>
        <p:spPr>
          <a:xfrm>
            <a:off x="6504940" y="6287589"/>
            <a:ext cx="1480000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 cest a konferencí</a:t>
            </a:r>
          </a:p>
        </p:txBody>
      </p:sp>
      <p:sp>
        <p:nvSpPr>
          <p:cNvPr id="107" name="Text strana 67, řádek 105">
            <a:extLst>
              <a:ext uri="{FF2B5EF4-FFF2-40B4-BE49-F238E27FC236}">
                <a16:creationId xmlns:a16="http://schemas.microsoft.com/office/drawing/2014/main" id="{1FE464F5-06B3-4CAB-A6EF-DE3EF9C22904}"/>
              </a:ext>
            </a:extLst>
          </p:cNvPr>
          <p:cNvSpPr>
            <a:spLocks noGrp="1"/>
          </p:cNvSpPr>
          <p:nvPr/>
        </p:nvSpPr>
        <p:spPr>
          <a:xfrm>
            <a:off x="1932262" y="4350385"/>
            <a:ext cx="415274" cy="542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Nadějní</a:t>
            </a:r>
          </a:p>
        </p:txBody>
      </p:sp>
    </p:spTree>
    <p:extLst>
      <p:ext uri="{BB962C8B-B14F-4D97-AF65-F5344CB8AC3E}">
        <p14:creationId xmlns:p14="http://schemas.microsoft.com/office/powerpoint/2010/main" val="15634495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rafický objekt 32">
            <a:extLst>
              <a:ext uri="{FF2B5EF4-FFF2-40B4-BE49-F238E27FC236}">
                <a16:creationId xmlns:a16="http://schemas.microsoft.com/office/drawing/2014/main" id="{A0612CD9-0E63-410D-AB0C-ECE3836129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2E207062-693C-4132-A839-CDBAAF2EA3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strana 68, řádek 1">
            <a:extLst>
              <a:ext uri="{FF2B5EF4-FFF2-40B4-BE49-F238E27FC236}">
                <a16:creationId xmlns:a16="http://schemas.microsoft.com/office/drawing/2014/main" id="{D7255807-4FD1-472D-BB82-732563F85294}"/>
              </a:ext>
            </a:extLst>
          </p:cNvPr>
          <p:cNvSpPr>
            <a:spLocks noGrp="1"/>
          </p:cNvSpPr>
          <p:nvPr/>
        </p:nvSpPr>
        <p:spPr>
          <a:xfrm>
            <a:off x="160655" y="337231"/>
            <a:ext cx="1211894" cy="201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2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Segment </a:t>
            </a:r>
          </a:p>
        </p:txBody>
      </p:sp>
      <p:sp>
        <p:nvSpPr>
          <p:cNvPr id="4" name="Text strana 68, řádek 2">
            <a:extLst>
              <a:ext uri="{FF2B5EF4-FFF2-40B4-BE49-F238E27FC236}">
                <a16:creationId xmlns:a16="http://schemas.microsoft.com/office/drawing/2014/main" id="{369FA642-5E2A-4BF5-8CB4-0EC7A1178DD1}"/>
              </a:ext>
            </a:extLst>
          </p:cNvPr>
          <p:cNvSpPr>
            <a:spLocks noGrp="1"/>
          </p:cNvSpPr>
          <p:nvPr/>
        </p:nvSpPr>
        <p:spPr>
          <a:xfrm>
            <a:off x="1388999" y="315054"/>
            <a:ext cx="1296043" cy="229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Archetyp</a:t>
            </a:r>
          </a:p>
        </p:txBody>
      </p:sp>
      <p:sp>
        <p:nvSpPr>
          <p:cNvPr id="5" name="Text strana 68, řádek 3">
            <a:extLst>
              <a:ext uri="{FF2B5EF4-FFF2-40B4-BE49-F238E27FC236}">
                <a16:creationId xmlns:a16="http://schemas.microsoft.com/office/drawing/2014/main" id="{87F199B8-2509-4CD9-BDC2-F272D00F351C}"/>
              </a:ext>
            </a:extLst>
          </p:cNvPr>
          <p:cNvSpPr>
            <a:spLocks noGrp="1"/>
          </p:cNvSpPr>
          <p:nvPr/>
        </p:nvSpPr>
        <p:spPr>
          <a:xfrm>
            <a:off x="3676904" y="315054"/>
            <a:ext cx="1196822" cy="229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Persony</a:t>
            </a:r>
          </a:p>
        </p:txBody>
      </p:sp>
      <p:sp>
        <p:nvSpPr>
          <p:cNvPr id="6" name="Text strana 68, řádek 4">
            <a:extLst>
              <a:ext uri="{FF2B5EF4-FFF2-40B4-BE49-F238E27FC236}">
                <a16:creationId xmlns:a16="http://schemas.microsoft.com/office/drawing/2014/main" id="{8C6092AC-7260-4147-B81F-060B936F7D6F}"/>
              </a:ext>
            </a:extLst>
          </p:cNvPr>
          <p:cNvSpPr>
            <a:spLocks noGrp="1"/>
          </p:cNvSpPr>
          <p:nvPr/>
        </p:nvSpPr>
        <p:spPr>
          <a:xfrm>
            <a:off x="6077585" y="315054"/>
            <a:ext cx="3889145" cy="229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Naše eventy a vzdělávací akce</a:t>
            </a:r>
          </a:p>
        </p:txBody>
      </p:sp>
      <p:sp>
        <p:nvSpPr>
          <p:cNvPr id="7" name="Text strana 68, řádek 5">
            <a:extLst>
              <a:ext uri="{FF2B5EF4-FFF2-40B4-BE49-F238E27FC236}">
                <a16:creationId xmlns:a16="http://schemas.microsoft.com/office/drawing/2014/main" id="{83734603-84AA-439B-862B-0A03E54A9E7D}"/>
              </a:ext>
            </a:extLst>
          </p:cNvPr>
          <p:cNvSpPr>
            <a:spLocks noGrp="1"/>
          </p:cNvSpPr>
          <p:nvPr/>
        </p:nvSpPr>
        <p:spPr>
          <a:xfrm>
            <a:off x="9841230" y="315054"/>
            <a:ext cx="2350770" cy="229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Individuální podpora</a:t>
            </a:r>
          </a:p>
        </p:txBody>
      </p:sp>
      <p:sp>
        <p:nvSpPr>
          <p:cNvPr id="8" name="Text strana 68, řádek 6">
            <a:extLst>
              <a:ext uri="{FF2B5EF4-FFF2-40B4-BE49-F238E27FC236}">
                <a16:creationId xmlns:a16="http://schemas.microsoft.com/office/drawing/2014/main" id="{C159568A-03D7-455A-BC9C-CE8E0C854A54}"/>
              </a:ext>
            </a:extLst>
          </p:cNvPr>
          <p:cNvSpPr>
            <a:spLocks noGrp="1"/>
          </p:cNvSpPr>
          <p:nvPr/>
        </p:nvSpPr>
        <p:spPr>
          <a:xfrm>
            <a:off x="296228" y="1119324"/>
            <a:ext cx="847992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Šampioni</a:t>
            </a:r>
          </a:p>
        </p:txBody>
      </p:sp>
      <p:sp>
        <p:nvSpPr>
          <p:cNvPr id="9" name="Text strana 68, řádek 7">
            <a:extLst>
              <a:ext uri="{FF2B5EF4-FFF2-40B4-BE49-F238E27FC236}">
                <a16:creationId xmlns:a16="http://schemas.microsoft.com/office/drawing/2014/main" id="{8FD635D5-F97C-4209-8733-9DCD993095DE}"/>
              </a:ext>
            </a:extLst>
          </p:cNvPr>
          <p:cNvSpPr>
            <a:spLocks noGrp="1"/>
          </p:cNvSpPr>
          <p:nvPr/>
        </p:nvSpPr>
        <p:spPr>
          <a:xfrm>
            <a:off x="7615555" y="1081910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0" name="Text strana 68, řádek 8">
            <a:extLst>
              <a:ext uri="{FF2B5EF4-FFF2-40B4-BE49-F238E27FC236}">
                <a16:creationId xmlns:a16="http://schemas.microsoft.com/office/drawing/2014/main" id="{B95CED12-E535-475A-8099-7125BEF02992}"/>
              </a:ext>
            </a:extLst>
          </p:cNvPr>
          <p:cNvSpPr>
            <a:spLocks noGrp="1"/>
          </p:cNvSpPr>
          <p:nvPr/>
        </p:nvSpPr>
        <p:spPr>
          <a:xfrm>
            <a:off x="10851515" y="1081910"/>
            <a:ext cx="446888" cy="22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" name="Text strana 68, řádek 9">
            <a:extLst>
              <a:ext uri="{FF2B5EF4-FFF2-40B4-BE49-F238E27FC236}">
                <a16:creationId xmlns:a16="http://schemas.microsoft.com/office/drawing/2014/main" id="{1D5FBB52-8C71-49B5-8D2C-257CBDE83250}"/>
              </a:ext>
            </a:extLst>
          </p:cNvPr>
          <p:cNvSpPr>
            <a:spLocks noGrp="1"/>
          </p:cNvSpPr>
          <p:nvPr/>
        </p:nvSpPr>
        <p:spPr>
          <a:xfrm>
            <a:off x="317817" y="1674694"/>
            <a:ext cx="803007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Rostoucí</a:t>
            </a:r>
          </a:p>
        </p:txBody>
      </p:sp>
      <p:sp>
        <p:nvSpPr>
          <p:cNvPr id="12" name="Text strana 68, řádek 10">
            <a:extLst>
              <a:ext uri="{FF2B5EF4-FFF2-40B4-BE49-F238E27FC236}">
                <a16:creationId xmlns:a16="http://schemas.microsoft.com/office/drawing/2014/main" id="{3CCDEFDB-A742-4096-9BD4-4515CC0A2711}"/>
              </a:ext>
            </a:extLst>
          </p:cNvPr>
          <p:cNvSpPr>
            <a:spLocks noGrp="1"/>
          </p:cNvSpPr>
          <p:nvPr/>
        </p:nvSpPr>
        <p:spPr>
          <a:xfrm>
            <a:off x="1706880" y="2811284"/>
            <a:ext cx="590504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Hero</a:t>
            </a:r>
          </a:p>
        </p:txBody>
      </p:sp>
      <p:sp>
        <p:nvSpPr>
          <p:cNvPr id="13" name="Text strana 68, řádek 11">
            <a:extLst>
              <a:ext uri="{FF2B5EF4-FFF2-40B4-BE49-F238E27FC236}">
                <a16:creationId xmlns:a16="http://schemas.microsoft.com/office/drawing/2014/main" id="{D1B072CE-0465-48BF-BD0E-DC143F4117C0}"/>
              </a:ext>
            </a:extLst>
          </p:cNvPr>
          <p:cNvSpPr>
            <a:spLocks noGrp="1"/>
          </p:cNvSpPr>
          <p:nvPr/>
        </p:nvSpPr>
        <p:spPr>
          <a:xfrm>
            <a:off x="7386066" y="1674694"/>
            <a:ext cx="958531" cy="1521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082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#podnikám</a:t>
            </a:r>
          </a:p>
        </p:txBody>
      </p:sp>
      <p:sp>
        <p:nvSpPr>
          <p:cNvPr id="14" name="Text strana 68, řádek 12">
            <a:extLst>
              <a:ext uri="{FF2B5EF4-FFF2-40B4-BE49-F238E27FC236}">
                <a16:creationId xmlns:a16="http://schemas.microsoft.com/office/drawing/2014/main" id="{EBDB296A-67C9-47E7-A4F0-350C1733F55B}"/>
              </a:ext>
            </a:extLst>
          </p:cNvPr>
          <p:cNvSpPr>
            <a:spLocks noGrp="1"/>
          </p:cNvSpPr>
          <p:nvPr/>
        </p:nvSpPr>
        <p:spPr>
          <a:xfrm>
            <a:off x="721957" y="2768346"/>
            <a:ext cx="414880" cy="6878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3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Začínající</a:t>
            </a:r>
          </a:p>
        </p:txBody>
      </p:sp>
      <p:sp>
        <p:nvSpPr>
          <p:cNvPr id="15" name="Text strana 68, řádek 13">
            <a:extLst>
              <a:ext uri="{FF2B5EF4-FFF2-40B4-BE49-F238E27FC236}">
                <a16:creationId xmlns:a16="http://schemas.microsoft.com/office/drawing/2014/main" id="{BC85D17A-BA8C-4014-8B52-45DF4E07276E}"/>
              </a:ext>
            </a:extLst>
          </p:cNvPr>
          <p:cNvSpPr>
            <a:spLocks noGrp="1"/>
          </p:cNvSpPr>
          <p:nvPr/>
        </p:nvSpPr>
        <p:spPr>
          <a:xfrm>
            <a:off x="717842" y="5354701"/>
            <a:ext cx="438499" cy="6578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18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Studenti</a:t>
            </a:r>
          </a:p>
        </p:txBody>
      </p:sp>
      <p:sp>
        <p:nvSpPr>
          <p:cNvPr id="16" name="Text strana 68, řádek 14">
            <a:extLst>
              <a:ext uri="{FF2B5EF4-FFF2-40B4-BE49-F238E27FC236}">
                <a16:creationId xmlns:a16="http://schemas.microsoft.com/office/drawing/2014/main" id="{162BD4B8-324C-4ED5-B3A6-C7A7EBB2C09E}"/>
              </a:ext>
            </a:extLst>
          </p:cNvPr>
          <p:cNvSpPr>
            <a:spLocks noGrp="1"/>
          </p:cNvSpPr>
          <p:nvPr/>
        </p:nvSpPr>
        <p:spPr>
          <a:xfrm>
            <a:off x="2809494" y="2898534"/>
            <a:ext cx="3257942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chci podnikat a mám jasný záměr (ale </a:t>
            </a:r>
          </a:p>
        </p:txBody>
      </p:sp>
      <p:sp>
        <p:nvSpPr>
          <p:cNvPr id="17" name="Text strana 68, řádek 15">
            <a:extLst>
              <a:ext uri="{FF2B5EF4-FFF2-40B4-BE49-F238E27FC236}">
                <a16:creationId xmlns:a16="http://schemas.microsoft.com/office/drawing/2014/main" id="{B9F1608A-4D09-4331-AEBE-4C2529444728}"/>
              </a:ext>
            </a:extLst>
          </p:cNvPr>
          <p:cNvSpPr>
            <a:spLocks noGrp="1"/>
          </p:cNvSpPr>
          <p:nvPr/>
        </p:nvSpPr>
        <p:spPr>
          <a:xfrm>
            <a:off x="3952621" y="3108465"/>
            <a:ext cx="652636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early)</a:t>
            </a:r>
          </a:p>
        </p:txBody>
      </p:sp>
      <p:sp>
        <p:nvSpPr>
          <p:cNvPr id="18" name="Text strana 68, řádek 16">
            <a:extLst>
              <a:ext uri="{FF2B5EF4-FFF2-40B4-BE49-F238E27FC236}">
                <a16:creationId xmlns:a16="http://schemas.microsoft.com/office/drawing/2014/main" id="{1348F753-2B50-4559-9AD3-3F2681C02B20}"/>
              </a:ext>
            </a:extLst>
          </p:cNvPr>
          <p:cNvSpPr>
            <a:spLocks noGrp="1"/>
          </p:cNvSpPr>
          <p:nvPr/>
        </p:nvSpPr>
        <p:spPr>
          <a:xfrm>
            <a:off x="7294626" y="2408313"/>
            <a:ext cx="1172310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#mámnápad</a:t>
            </a:r>
          </a:p>
        </p:txBody>
      </p:sp>
      <p:sp>
        <p:nvSpPr>
          <p:cNvPr id="19" name="Text strana 68, řádek 17">
            <a:extLst>
              <a:ext uri="{FF2B5EF4-FFF2-40B4-BE49-F238E27FC236}">
                <a16:creationId xmlns:a16="http://schemas.microsoft.com/office/drawing/2014/main" id="{A3343D4C-5A57-4E91-827B-220A5A1103B2}"/>
              </a:ext>
            </a:extLst>
          </p:cNvPr>
          <p:cNvSpPr>
            <a:spLocks noGrp="1"/>
          </p:cNvSpPr>
          <p:nvPr/>
        </p:nvSpPr>
        <p:spPr>
          <a:xfrm>
            <a:off x="10275570" y="4332617"/>
            <a:ext cx="1746861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Mentorská hodinka</a:t>
            </a:r>
          </a:p>
        </p:txBody>
      </p:sp>
      <p:sp>
        <p:nvSpPr>
          <p:cNvPr id="20" name="Text strana 68, řádek 18">
            <a:extLst>
              <a:ext uri="{FF2B5EF4-FFF2-40B4-BE49-F238E27FC236}">
                <a16:creationId xmlns:a16="http://schemas.microsoft.com/office/drawing/2014/main" id="{066490DA-4C84-4035-BFFC-D1ECB6E3B530}"/>
              </a:ext>
            </a:extLst>
          </p:cNvPr>
          <p:cNvSpPr>
            <a:spLocks noGrp="1"/>
          </p:cNvSpPr>
          <p:nvPr/>
        </p:nvSpPr>
        <p:spPr>
          <a:xfrm>
            <a:off x="7225665" y="3518928"/>
            <a:ext cx="1323708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#chcipodnikat</a:t>
            </a:r>
          </a:p>
        </p:txBody>
      </p:sp>
      <p:sp>
        <p:nvSpPr>
          <p:cNvPr id="21" name="Text strana 68, řádek 19">
            <a:extLst>
              <a:ext uri="{FF2B5EF4-FFF2-40B4-BE49-F238E27FC236}">
                <a16:creationId xmlns:a16="http://schemas.microsoft.com/office/drawing/2014/main" id="{C991DDEE-6A8E-4A1D-8CD5-4E9F1793573C}"/>
              </a:ext>
            </a:extLst>
          </p:cNvPr>
          <p:cNvSpPr>
            <a:spLocks noGrp="1"/>
          </p:cNvSpPr>
          <p:nvPr/>
        </p:nvSpPr>
        <p:spPr>
          <a:xfrm>
            <a:off x="2760345" y="4391799"/>
            <a:ext cx="3374854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chci podnikat, ale nevím s čím (chybí </a:t>
            </a:r>
          </a:p>
        </p:txBody>
      </p:sp>
      <p:sp>
        <p:nvSpPr>
          <p:cNvPr id="22" name="Text strana 68, řádek 20">
            <a:extLst>
              <a:ext uri="{FF2B5EF4-FFF2-40B4-BE49-F238E27FC236}">
                <a16:creationId xmlns:a16="http://schemas.microsoft.com/office/drawing/2014/main" id="{E0B605DE-7EAE-4170-A607-20B01F553136}"/>
              </a:ext>
            </a:extLst>
          </p:cNvPr>
          <p:cNvSpPr>
            <a:spLocks noGrp="1"/>
          </p:cNvSpPr>
          <p:nvPr/>
        </p:nvSpPr>
        <p:spPr>
          <a:xfrm>
            <a:off x="3263900" y="4601603"/>
            <a:ext cx="2203311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jasný záměr, jen oblast)</a:t>
            </a:r>
          </a:p>
        </p:txBody>
      </p:sp>
      <p:sp>
        <p:nvSpPr>
          <p:cNvPr id="23" name="Text strana 68, řádek 21">
            <a:extLst>
              <a:ext uri="{FF2B5EF4-FFF2-40B4-BE49-F238E27FC236}">
                <a16:creationId xmlns:a16="http://schemas.microsoft.com/office/drawing/2014/main" id="{7991FAD3-119D-44E3-9A0B-E85801698A86}"/>
              </a:ext>
            </a:extLst>
          </p:cNvPr>
          <p:cNvSpPr>
            <a:spLocks noGrp="1"/>
          </p:cNvSpPr>
          <p:nvPr/>
        </p:nvSpPr>
        <p:spPr>
          <a:xfrm>
            <a:off x="7438390" y="4498352"/>
            <a:ext cx="843907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#startuji</a:t>
            </a:r>
          </a:p>
        </p:txBody>
      </p:sp>
      <p:sp>
        <p:nvSpPr>
          <p:cNvPr id="24" name="Text strana 68, řádek 22">
            <a:extLst>
              <a:ext uri="{FF2B5EF4-FFF2-40B4-BE49-F238E27FC236}">
                <a16:creationId xmlns:a16="http://schemas.microsoft.com/office/drawing/2014/main" id="{B656A5BA-076A-41FC-BC4D-147361639411}"/>
              </a:ext>
            </a:extLst>
          </p:cNvPr>
          <p:cNvSpPr>
            <a:spLocks noGrp="1"/>
          </p:cNvSpPr>
          <p:nvPr/>
        </p:nvSpPr>
        <p:spPr>
          <a:xfrm>
            <a:off x="1519174" y="5605221"/>
            <a:ext cx="1007564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Everyman</a:t>
            </a:r>
          </a:p>
        </p:txBody>
      </p:sp>
      <p:sp>
        <p:nvSpPr>
          <p:cNvPr id="25" name="Text strana 68, řádek 23">
            <a:extLst>
              <a:ext uri="{FF2B5EF4-FFF2-40B4-BE49-F238E27FC236}">
                <a16:creationId xmlns:a16="http://schemas.microsoft.com/office/drawing/2014/main" id="{ABE3B4D1-B7F7-41D3-B9C7-91838B1859D3}"/>
              </a:ext>
            </a:extLst>
          </p:cNvPr>
          <p:cNvSpPr>
            <a:spLocks noGrp="1"/>
          </p:cNvSpPr>
          <p:nvPr/>
        </p:nvSpPr>
        <p:spPr>
          <a:xfrm>
            <a:off x="3102610" y="5247046"/>
            <a:ext cx="2611798" cy="180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3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Vlaďka, aktivní studentka s </a:t>
            </a:r>
          </a:p>
        </p:txBody>
      </p:sp>
      <p:sp>
        <p:nvSpPr>
          <p:cNvPr id="26" name="Text strana 68, řádek 24">
            <a:extLst>
              <a:ext uri="{FF2B5EF4-FFF2-40B4-BE49-F238E27FC236}">
                <a16:creationId xmlns:a16="http://schemas.microsoft.com/office/drawing/2014/main" id="{057AE8AC-8D78-4869-9F60-0AD7E6339679}"/>
              </a:ext>
            </a:extLst>
          </p:cNvPr>
          <p:cNvSpPr>
            <a:spLocks noGrp="1"/>
          </p:cNvSpPr>
          <p:nvPr/>
        </p:nvSpPr>
        <p:spPr>
          <a:xfrm>
            <a:off x="2796921" y="5456914"/>
            <a:ext cx="3247255" cy="180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3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podnikatelským nápadem, 23 let VŠ</a:t>
            </a:r>
          </a:p>
        </p:txBody>
      </p:sp>
      <p:sp>
        <p:nvSpPr>
          <p:cNvPr id="27" name="Text strana 68, řádek 25">
            <a:extLst>
              <a:ext uri="{FF2B5EF4-FFF2-40B4-BE49-F238E27FC236}">
                <a16:creationId xmlns:a16="http://schemas.microsoft.com/office/drawing/2014/main" id="{91CC9138-3E96-4AAA-AAEE-5763349883B2}"/>
              </a:ext>
            </a:extLst>
          </p:cNvPr>
          <p:cNvSpPr>
            <a:spLocks noGrp="1"/>
          </p:cNvSpPr>
          <p:nvPr/>
        </p:nvSpPr>
        <p:spPr>
          <a:xfrm>
            <a:off x="6347714" y="5398528"/>
            <a:ext cx="3287482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#student: Prázdninová škola podnikání</a:t>
            </a:r>
          </a:p>
        </p:txBody>
      </p:sp>
      <p:sp>
        <p:nvSpPr>
          <p:cNvPr id="28" name="Text strana 68, řádek 26">
            <a:extLst>
              <a:ext uri="{FF2B5EF4-FFF2-40B4-BE49-F238E27FC236}">
                <a16:creationId xmlns:a16="http://schemas.microsoft.com/office/drawing/2014/main" id="{732AC2F9-2FCA-4D47-BFBD-DC823051A662}"/>
              </a:ext>
            </a:extLst>
          </p:cNvPr>
          <p:cNvSpPr>
            <a:spLocks noGrp="1"/>
          </p:cNvSpPr>
          <p:nvPr/>
        </p:nvSpPr>
        <p:spPr>
          <a:xfrm>
            <a:off x="6814185" y="5608396"/>
            <a:ext cx="2246681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#student: vzdělávací akce</a:t>
            </a:r>
          </a:p>
        </p:txBody>
      </p:sp>
      <p:sp>
        <p:nvSpPr>
          <p:cNvPr id="29" name="Text strana 68, řádek 27">
            <a:extLst>
              <a:ext uri="{FF2B5EF4-FFF2-40B4-BE49-F238E27FC236}">
                <a16:creationId xmlns:a16="http://schemas.microsoft.com/office/drawing/2014/main" id="{3A540BB4-1F2E-4598-AB2C-8E4DFA6178DA}"/>
              </a:ext>
            </a:extLst>
          </p:cNvPr>
          <p:cNvSpPr>
            <a:spLocks noGrp="1"/>
          </p:cNvSpPr>
          <p:nvPr/>
        </p:nvSpPr>
        <p:spPr>
          <a:xfrm>
            <a:off x="6253226" y="5827788"/>
            <a:ext cx="3494550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#student: Soutěž podnikatelských nápadů</a:t>
            </a:r>
          </a:p>
        </p:txBody>
      </p:sp>
      <p:sp>
        <p:nvSpPr>
          <p:cNvPr id="30" name="Text strana 68, řádek 28">
            <a:extLst>
              <a:ext uri="{FF2B5EF4-FFF2-40B4-BE49-F238E27FC236}">
                <a16:creationId xmlns:a16="http://schemas.microsoft.com/office/drawing/2014/main" id="{1164A18F-D07A-4C16-A628-570D963F42B0}"/>
              </a:ext>
            </a:extLst>
          </p:cNvPr>
          <p:cNvSpPr>
            <a:spLocks noGrp="1"/>
          </p:cNvSpPr>
          <p:nvPr/>
        </p:nvSpPr>
        <p:spPr>
          <a:xfrm>
            <a:off x="6849110" y="6037656"/>
            <a:ext cx="2161056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#student: Nová generace</a:t>
            </a:r>
          </a:p>
        </p:txBody>
      </p:sp>
      <p:sp>
        <p:nvSpPr>
          <p:cNvPr id="31" name="Text strana 68, řádek 29">
            <a:extLst>
              <a:ext uri="{FF2B5EF4-FFF2-40B4-BE49-F238E27FC236}">
                <a16:creationId xmlns:a16="http://schemas.microsoft.com/office/drawing/2014/main" id="{EB50CAC5-72B1-4716-9335-813A0A3C8537}"/>
              </a:ext>
            </a:extLst>
          </p:cNvPr>
          <p:cNvSpPr>
            <a:spLocks noGrp="1"/>
          </p:cNvSpPr>
          <p:nvPr/>
        </p:nvSpPr>
        <p:spPr>
          <a:xfrm>
            <a:off x="2753995" y="6298323"/>
            <a:ext cx="3340783" cy="180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5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Petr, 18 let, aktivní student gymnázia</a:t>
            </a:r>
          </a:p>
        </p:txBody>
      </p:sp>
      <p:sp>
        <p:nvSpPr>
          <p:cNvPr id="32" name="Text strana 68, řádek 30">
            <a:extLst>
              <a:ext uri="{FF2B5EF4-FFF2-40B4-BE49-F238E27FC236}">
                <a16:creationId xmlns:a16="http://schemas.microsoft.com/office/drawing/2014/main" id="{F02F03A1-0FB1-46F2-96D2-5BFA6C35D26A}"/>
              </a:ext>
            </a:extLst>
          </p:cNvPr>
          <p:cNvSpPr>
            <a:spLocks noGrp="1"/>
          </p:cNvSpPr>
          <p:nvPr/>
        </p:nvSpPr>
        <p:spPr>
          <a:xfrm>
            <a:off x="269837" y="4245864"/>
            <a:ext cx="414880" cy="5422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283" b="1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Nadějní</a:t>
            </a:r>
          </a:p>
        </p:txBody>
      </p:sp>
    </p:spTree>
    <p:extLst>
      <p:ext uri="{BB962C8B-B14F-4D97-AF65-F5344CB8AC3E}">
        <p14:creationId xmlns:p14="http://schemas.microsoft.com/office/powerpoint/2010/main" val="17509031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8ACA31FC-32FB-48CC-8D39-32D71A93DC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9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0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1" name="Štítek"/>
          <p:cNvSpPr txBox="1"/>
          <p:nvPr/>
        </p:nvSpPr>
        <p:spPr>
          <a:xfrm>
            <a:off x="722376" y="1783080"/>
            <a:ext cx="72237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800" b="1" i="0" dirty="0">
                <a:solidFill>
                  <a:srgbClr val="7FCFD1"/>
                </a:solidFill>
                <a:latin typeface="Arial"/>
                <a:ea typeface="Arial"/>
                <a:cs typeface="Arial"/>
              </a:rPr>
              <a:t>workshop obsah</a:t>
            </a:r>
            <a:endParaRPr lang="cs-CZ" sz="1800"/>
          </a:p>
        </p:txBody>
      </p:sp>
      <p:sp>
        <p:nvSpPr>
          <p:cNvPr id="12" name="Hlavní sdělení"/>
          <p:cNvSpPr txBox="1"/>
          <p:nvPr/>
        </p:nvSpPr>
        <p:spPr>
          <a:xfrm>
            <a:off x="722376" y="2331720"/>
            <a:ext cx="722376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4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Navrhněte pomocí GPT chat pro vybranou personu atraktivní sdělení do vybraného komunikačního kanálu, které odpovídá archetypu vaší značky a u potenciálního dárce vzpudí pozornost/zaujme/přiměje darovat/přiměje darovat opakovaně.</a:t>
            </a:r>
            <a:endParaRPr lang="cs-CZ" sz="2400"/>
          </a:p>
        </p:txBody>
      </p:sp>
    </p:spTree>
    <p:extLst>
      <p:ext uri="{BB962C8B-B14F-4D97-AF65-F5344CB8AC3E}">
        <p14:creationId xmlns:p14="http://schemas.microsoft.com/office/powerpoint/2010/main" val="12395553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cký objekt 18">
            <a:extLst>
              <a:ext uri="{FF2B5EF4-FFF2-40B4-BE49-F238E27FC236}">
                <a16:creationId xmlns:a16="http://schemas.microsoft.com/office/drawing/2014/main" id="{22D0D900-D6F9-4043-A544-C9269B8022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1B50862E-52F0-48A4-A184-582A0E1DA8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strana 70, řádek 2">
            <a:extLst>
              <a:ext uri="{FF2B5EF4-FFF2-40B4-BE49-F238E27FC236}">
                <a16:creationId xmlns:a16="http://schemas.microsoft.com/office/drawing/2014/main" id="{CE58FD52-BE51-43BE-8390-E0D1648C4027}"/>
              </a:ext>
            </a:extLst>
          </p:cNvPr>
          <p:cNvSpPr>
            <a:spLocks noGrp="1"/>
          </p:cNvSpPr>
          <p:nvPr/>
        </p:nvSpPr>
        <p:spPr>
          <a:xfrm>
            <a:off x="1273175" y="4213384"/>
            <a:ext cx="2134924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Vím kdo jsem </a:t>
            </a:r>
          </a:p>
        </p:txBody>
      </p:sp>
      <p:sp>
        <p:nvSpPr>
          <p:cNvPr id="5" name="Text strana 70, řádek 3">
            <a:extLst>
              <a:ext uri="{FF2B5EF4-FFF2-40B4-BE49-F238E27FC236}">
                <a16:creationId xmlns:a16="http://schemas.microsoft.com/office/drawing/2014/main" id="{D8E4E340-7902-4A0C-BF42-321A2E827A17}"/>
              </a:ext>
            </a:extLst>
          </p:cNvPr>
          <p:cNvSpPr>
            <a:spLocks noGrp="1"/>
          </p:cNvSpPr>
          <p:nvPr/>
        </p:nvSpPr>
        <p:spPr>
          <a:xfrm>
            <a:off x="1273175" y="4547632"/>
            <a:ext cx="439533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já</a:t>
            </a:r>
          </a:p>
        </p:txBody>
      </p:sp>
      <p:sp>
        <p:nvSpPr>
          <p:cNvPr id="6" name="Text strana 70, řádek 4">
            <a:extLst>
              <a:ext uri="{FF2B5EF4-FFF2-40B4-BE49-F238E27FC236}">
                <a16:creationId xmlns:a16="http://schemas.microsoft.com/office/drawing/2014/main" id="{3D149437-6889-4F94-AF69-4A71155AE0A8}"/>
              </a:ext>
            </a:extLst>
          </p:cNvPr>
          <p:cNvSpPr>
            <a:spLocks noGrp="1"/>
          </p:cNvSpPr>
          <p:nvPr/>
        </p:nvSpPr>
        <p:spPr>
          <a:xfrm>
            <a:off x="1273175" y="3265821"/>
            <a:ext cx="1023916" cy="660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 strana 70, řádek 5">
            <a:extLst>
              <a:ext uri="{FF2B5EF4-FFF2-40B4-BE49-F238E27FC236}">
                <a16:creationId xmlns:a16="http://schemas.microsoft.com/office/drawing/2014/main" id="{27D5E8E8-0F93-4B6A-84C4-F8B5056B437C}"/>
              </a:ext>
            </a:extLst>
          </p:cNvPr>
          <p:cNvSpPr>
            <a:spLocks noGrp="1"/>
          </p:cNvSpPr>
          <p:nvPr/>
        </p:nvSpPr>
        <p:spPr>
          <a:xfrm>
            <a:off x="3852545" y="4213384"/>
            <a:ext cx="2062401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Vím ke komu </a:t>
            </a:r>
          </a:p>
        </p:txBody>
      </p:sp>
      <p:sp>
        <p:nvSpPr>
          <p:cNvPr id="8" name="Text strana 70, řádek 6">
            <a:extLst>
              <a:ext uri="{FF2B5EF4-FFF2-40B4-BE49-F238E27FC236}">
                <a16:creationId xmlns:a16="http://schemas.microsoft.com/office/drawing/2014/main" id="{50ABB8D9-9CAA-4A96-B552-7888543D554B}"/>
              </a:ext>
            </a:extLst>
          </p:cNvPr>
          <p:cNvSpPr>
            <a:spLocks noGrp="1"/>
          </p:cNvSpPr>
          <p:nvPr/>
        </p:nvSpPr>
        <p:spPr>
          <a:xfrm>
            <a:off x="3852545" y="4547632"/>
            <a:ext cx="1232782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mluvím</a:t>
            </a:r>
          </a:p>
        </p:txBody>
      </p:sp>
      <p:sp>
        <p:nvSpPr>
          <p:cNvPr id="9" name="Text strana 70, řádek 7">
            <a:extLst>
              <a:ext uri="{FF2B5EF4-FFF2-40B4-BE49-F238E27FC236}">
                <a16:creationId xmlns:a16="http://schemas.microsoft.com/office/drawing/2014/main" id="{23BC8AD0-E569-44CE-80AD-62FDABC4FE6B}"/>
              </a:ext>
            </a:extLst>
          </p:cNvPr>
          <p:cNvSpPr>
            <a:spLocks noGrp="1"/>
          </p:cNvSpPr>
          <p:nvPr/>
        </p:nvSpPr>
        <p:spPr>
          <a:xfrm>
            <a:off x="3852545" y="3265821"/>
            <a:ext cx="1023917" cy="660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 strana 70, řádek 8">
            <a:extLst>
              <a:ext uri="{FF2B5EF4-FFF2-40B4-BE49-F238E27FC236}">
                <a16:creationId xmlns:a16="http://schemas.microsoft.com/office/drawing/2014/main" id="{0B129D63-A49C-4BF4-9EE9-29C7661B5DB4}"/>
              </a:ext>
            </a:extLst>
          </p:cNvPr>
          <p:cNvSpPr>
            <a:spLocks noGrp="1"/>
          </p:cNvSpPr>
          <p:nvPr/>
        </p:nvSpPr>
        <p:spPr>
          <a:xfrm>
            <a:off x="6432296" y="4213384"/>
            <a:ext cx="2249524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Vím zda a co o </a:t>
            </a:r>
          </a:p>
        </p:txBody>
      </p:sp>
      <p:sp>
        <p:nvSpPr>
          <p:cNvPr id="11" name="Text strana 70, řádek 9">
            <a:extLst>
              <a:ext uri="{FF2B5EF4-FFF2-40B4-BE49-F238E27FC236}">
                <a16:creationId xmlns:a16="http://schemas.microsoft.com/office/drawing/2014/main" id="{97BD9C85-D7F9-4B73-9C0C-6E4A82FFB73B}"/>
              </a:ext>
            </a:extLst>
          </p:cNvPr>
          <p:cNvSpPr>
            <a:spLocks noGrp="1"/>
          </p:cNvSpPr>
          <p:nvPr/>
        </p:nvSpPr>
        <p:spPr>
          <a:xfrm>
            <a:off x="6432296" y="4547632"/>
            <a:ext cx="1898473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mě ví, co už </a:t>
            </a:r>
          </a:p>
        </p:txBody>
      </p:sp>
      <p:sp>
        <p:nvSpPr>
          <p:cNvPr id="12" name="Text strana 70, řádek 10">
            <a:extLst>
              <a:ext uri="{FF2B5EF4-FFF2-40B4-BE49-F238E27FC236}">
                <a16:creationId xmlns:a16="http://schemas.microsoft.com/office/drawing/2014/main" id="{C5B3ECF0-1043-4DD5-B444-B40DA13299FC}"/>
              </a:ext>
            </a:extLst>
          </p:cNvPr>
          <p:cNvSpPr>
            <a:spLocks noGrp="1"/>
          </p:cNvSpPr>
          <p:nvPr/>
        </p:nvSpPr>
        <p:spPr>
          <a:xfrm>
            <a:off x="6432296" y="4881023"/>
            <a:ext cx="2207788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jsem mu řek a </a:t>
            </a:r>
          </a:p>
        </p:txBody>
      </p:sp>
      <p:sp>
        <p:nvSpPr>
          <p:cNvPr id="13" name="Text strana 70, řádek 11">
            <a:extLst>
              <a:ext uri="{FF2B5EF4-FFF2-40B4-BE49-F238E27FC236}">
                <a16:creationId xmlns:a16="http://schemas.microsoft.com/office/drawing/2014/main" id="{B7FB7021-2E8F-4BCB-BB80-314092512269}"/>
              </a:ext>
            </a:extLst>
          </p:cNvPr>
          <p:cNvSpPr>
            <a:spLocks noGrp="1"/>
          </p:cNvSpPr>
          <p:nvPr/>
        </p:nvSpPr>
        <p:spPr>
          <a:xfrm>
            <a:off x="6432296" y="5215271"/>
            <a:ext cx="1453198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neřekl</a:t>
            </a:r>
          </a:p>
        </p:txBody>
      </p:sp>
      <p:sp>
        <p:nvSpPr>
          <p:cNvPr id="14" name="Text strana 70, řádek 12">
            <a:extLst>
              <a:ext uri="{FF2B5EF4-FFF2-40B4-BE49-F238E27FC236}">
                <a16:creationId xmlns:a16="http://schemas.microsoft.com/office/drawing/2014/main" id="{2737B2BA-359C-4B3A-A152-C2EB82380421}"/>
              </a:ext>
            </a:extLst>
          </p:cNvPr>
          <p:cNvSpPr>
            <a:spLocks noGrp="1"/>
          </p:cNvSpPr>
          <p:nvPr/>
        </p:nvSpPr>
        <p:spPr>
          <a:xfrm>
            <a:off x="6432296" y="3265821"/>
            <a:ext cx="1023916" cy="660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 strana 70, řádek 13">
            <a:extLst>
              <a:ext uri="{FF2B5EF4-FFF2-40B4-BE49-F238E27FC236}">
                <a16:creationId xmlns:a16="http://schemas.microsoft.com/office/drawing/2014/main" id="{B97B476F-6D18-4E1E-A9F4-0557AC19D8E4}"/>
              </a:ext>
            </a:extLst>
          </p:cNvPr>
          <p:cNvSpPr>
            <a:spLocks noGrp="1"/>
          </p:cNvSpPr>
          <p:nvPr/>
        </p:nvSpPr>
        <p:spPr>
          <a:xfrm>
            <a:off x="9011666" y="4213384"/>
            <a:ext cx="1717578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Vím, co na </a:t>
            </a:r>
          </a:p>
        </p:txBody>
      </p:sp>
      <p:sp>
        <p:nvSpPr>
          <p:cNvPr id="16" name="Text strana 70, řádek 14">
            <a:extLst>
              <a:ext uri="{FF2B5EF4-FFF2-40B4-BE49-F238E27FC236}">
                <a16:creationId xmlns:a16="http://schemas.microsoft.com/office/drawing/2014/main" id="{E507ACED-F9A4-4EA7-BEC6-3C865309F8E0}"/>
              </a:ext>
            </a:extLst>
          </p:cNvPr>
          <p:cNvSpPr>
            <a:spLocks noGrp="1"/>
          </p:cNvSpPr>
          <p:nvPr/>
        </p:nvSpPr>
        <p:spPr>
          <a:xfrm>
            <a:off x="9011666" y="4547632"/>
            <a:ext cx="2238838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něho působilo </a:t>
            </a:r>
          </a:p>
        </p:txBody>
      </p:sp>
      <p:sp>
        <p:nvSpPr>
          <p:cNvPr id="17" name="Text strana 70, řádek 15">
            <a:extLst>
              <a:ext uri="{FF2B5EF4-FFF2-40B4-BE49-F238E27FC236}">
                <a16:creationId xmlns:a16="http://schemas.microsoft.com/office/drawing/2014/main" id="{E1A105DA-C691-4063-B66A-CAD0036BA11F}"/>
              </a:ext>
            </a:extLst>
          </p:cNvPr>
          <p:cNvSpPr>
            <a:spLocks noGrp="1"/>
          </p:cNvSpPr>
          <p:nvPr/>
        </p:nvSpPr>
        <p:spPr>
          <a:xfrm>
            <a:off x="9011666" y="4881023"/>
            <a:ext cx="836019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jak</a:t>
            </a:r>
          </a:p>
        </p:txBody>
      </p:sp>
      <p:sp>
        <p:nvSpPr>
          <p:cNvPr id="18" name="Text strana 70, řádek 16">
            <a:extLst>
              <a:ext uri="{FF2B5EF4-FFF2-40B4-BE49-F238E27FC236}">
                <a16:creationId xmlns:a16="http://schemas.microsoft.com/office/drawing/2014/main" id="{6E87011A-0FAF-4AB7-87FD-FFB286AD1416}"/>
              </a:ext>
            </a:extLst>
          </p:cNvPr>
          <p:cNvSpPr>
            <a:spLocks noGrp="1"/>
          </p:cNvSpPr>
          <p:nvPr/>
        </p:nvSpPr>
        <p:spPr>
          <a:xfrm>
            <a:off x="9011666" y="3265821"/>
            <a:ext cx="1023916" cy="660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Fundraisingová strategie</a:t>
            </a:r>
            <a:endParaRPr lang="cs-CZ" sz="3150"/>
          </a:p>
        </p:txBody>
      </p:sp>
    </p:spTree>
    <p:extLst>
      <p:ext uri="{BB962C8B-B14F-4D97-AF65-F5344CB8AC3E}">
        <p14:creationId xmlns:p14="http://schemas.microsoft.com/office/powerpoint/2010/main" val="2724829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>
            <a:extLst>
              <a:ext uri="{FF2B5EF4-FFF2-40B4-BE49-F238E27FC236}">
                <a16:creationId xmlns:a16="http://schemas.microsoft.com/office/drawing/2014/main" id="{3FC09A48-C291-4910-A642-0C3B9C4AD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2376" y="1737360"/>
            <a:ext cx="4535424" cy="4754880"/>
          </a:xfrm>
          <a:prstGeom prst="rect">
            <a:avLst/>
          </a:prstGeom>
        </p:spPr>
      </p:pic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95FF5C08-3A13-45DE-A2C3-9EAB398B3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D674771A-E1A0-4C74-A3B5-22FE558828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strana 71, řádek 4">
            <a:extLst>
              <a:ext uri="{FF2B5EF4-FFF2-40B4-BE49-F238E27FC236}">
                <a16:creationId xmlns:a16="http://schemas.microsoft.com/office/drawing/2014/main" id="{D33B0E65-DC88-498B-B367-33A5DB7186F8}"/>
              </a:ext>
            </a:extLst>
          </p:cNvPr>
          <p:cNvSpPr>
            <a:spLocks noGrp="1"/>
          </p:cNvSpPr>
          <p:nvPr/>
        </p:nvSpPr>
        <p:spPr>
          <a:xfrm>
            <a:off x="6568440" y="2248932"/>
            <a:ext cx="2213891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Obchodní plán</a:t>
            </a:r>
          </a:p>
        </p:txBody>
      </p:sp>
      <p:sp>
        <p:nvSpPr>
          <p:cNvPr id="8" name="Text strana 71, řádek 5">
            <a:extLst>
              <a:ext uri="{FF2B5EF4-FFF2-40B4-BE49-F238E27FC236}">
                <a16:creationId xmlns:a16="http://schemas.microsoft.com/office/drawing/2014/main" id="{AC0AE1D1-C992-4068-A34C-6CA4DD6C25E6}"/>
              </a:ext>
            </a:extLst>
          </p:cNvPr>
          <p:cNvSpPr>
            <a:spLocks noGrp="1"/>
          </p:cNvSpPr>
          <p:nvPr/>
        </p:nvSpPr>
        <p:spPr>
          <a:xfrm>
            <a:off x="8048879" y="3464465"/>
            <a:ext cx="1049138" cy="307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TREFA</a:t>
            </a:r>
          </a:p>
        </p:txBody>
      </p:sp>
      <p:sp>
        <p:nvSpPr>
          <p:cNvPr id="9" name="Text strana 71, řádek 6">
            <a:extLst>
              <a:ext uri="{FF2B5EF4-FFF2-40B4-BE49-F238E27FC236}">
                <a16:creationId xmlns:a16="http://schemas.microsoft.com/office/drawing/2014/main" id="{1C343879-7133-4A7C-B63A-45C8939884E0}"/>
              </a:ext>
            </a:extLst>
          </p:cNvPr>
          <p:cNvSpPr>
            <a:spLocks noGrp="1"/>
          </p:cNvSpPr>
          <p:nvPr/>
        </p:nvSpPr>
        <p:spPr>
          <a:xfrm>
            <a:off x="7453884" y="5173901"/>
            <a:ext cx="2240102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Komunikační plán</a:t>
            </a:r>
          </a:p>
        </p:txBody>
      </p:sp>
      <p:sp>
        <p:nvSpPr>
          <p:cNvPr id="10" name="Text strana 71, řádek 7">
            <a:extLst>
              <a:ext uri="{FF2B5EF4-FFF2-40B4-BE49-F238E27FC236}">
                <a16:creationId xmlns:a16="http://schemas.microsoft.com/office/drawing/2014/main" id="{126F1782-2264-42A9-8B8A-A9AFB4A335D4}"/>
              </a:ext>
            </a:extLst>
          </p:cNvPr>
          <p:cNvSpPr>
            <a:spLocks noGrp="1"/>
          </p:cNvSpPr>
          <p:nvPr/>
        </p:nvSpPr>
        <p:spPr>
          <a:xfrm>
            <a:off x="9060561" y="2351262"/>
            <a:ext cx="2243889" cy="2145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Marketingový plán</a:t>
            </a:r>
          </a:p>
        </p:txBody>
      </p:sp>
      <p:sp>
        <p:nvSpPr>
          <p:cNvPr id="12" name="Nadpis"/>
          <p:cNvSpPr txBox="1"/>
          <p:nvPr/>
        </p:nvSpPr>
        <p:spPr>
          <a:xfrm>
            <a:off x="723900" y="514350"/>
            <a:ext cx="512064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Značka, archetypy, persony</a:t>
            </a:r>
            <a:endParaRPr lang="cs-CZ" sz="2800"/>
          </a:p>
        </p:txBody>
      </p:sp>
    </p:spTree>
    <p:extLst>
      <p:ext uri="{BB962C8B-B14F-4D97-AF65-F5344CB8AC3E}">
        <p14:creationId xmlns:p14="http://schemas.microsoft.com/office/powerpoint/2010/main" val="110445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rkysová horní linka">
            <a:extLst>
              <a:ext uri="{FF2B5EF4-FFF2-40B4-BE49-F238E27FC236}">
                <a16:creationId xmlns:a16="http://schemas.microsoft.com/office/drawing/2014/main" id="{5F5718B9-5A82-4F06-A29E-4A3C18200E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6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7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8" name="Hlavní sdělení"/>
          <p:cNvSpPr txBox="1"/>
          <p:nvPr/>
        </p:nvSpPr>
        <p:spPr>
          <a:xfrm>
            <a:off x="722376" y="1783080"/>
            <a:ext cx="7223760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40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Fundraisingový plán a práce s dárci – metriky</a:t>
            </a:r>
            <a:endParaRPr lang="cs-CZ" sz="4000"/>
          </a:p>
        </p:txBody>
      </p:sp>
    </p:spTree>
    <p:extLst>
      <p:ext uri="{BB962C8B-B14F-4D97-AF65-F5344CB8AC3E}">
        <p14:creationId xmlns:p14="http://schemas.microsoft.com/office/powerpoint/2010/main" val="7325474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yrkysová horní linka">
            <a:extLst>
              <a:ext uri="{FF2B5EF4-FFF2-40B4-BE49-F238E27FC236}">
                <a16:creationId xmlns:a16="http://schemas.microsoft.com/office/drawing/2014/main" id="{65E1BBE0-9632-4F0E-A32B-51FBC736A6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"/>
          <p:cNvSpPr txBox="1"/>
          <p:nvPr/>
        </p:nvSpPr>
        <p:spPr>
          <a:xfrm>
            <a:off x="722376" y="914400"/>
            <a:ext cx="10744200" cy="5577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Počet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nových dárců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Výnosy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z FR MRR/ARR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Průměrná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velikost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daru (Average Deal Size)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Konverzní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poměr z leadů na dárce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Počet schůzek/demonstrací produktu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Produktivita fundraiserů 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(počet uzavřených obchodů za měsíc/čtvrtletí)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Průměrná délka obchodního / FR cyklu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Náklady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na akvizici dárce (CAC)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Podíl na trhu 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(Market Share) nebo penetrace vybraného segment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Míra retence dárců </a:t>
            </a: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(Customer Retention)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NPS (Net Promoter Score) – </a:t>
            </a:r>
            <a:r>
              <a:rPr lang="cs-CZ" sz="20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spokojenost dárců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4443484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yrkysová horní linka">
            <a:extLst>
              <a:ext uri="{FF2B5EF4-FFF2-40B4-BE49-F238E27FC236}">
                <a16:creationId xmlns:a16="http://schemas.microsoft.com/office/drawing/2014/main" id="{5C268075-35C2-49F4-BB22-0909C83D4D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Proč dělat pipeline review?</a:t>
            </a:r>
            <a:endParaRPr lang="cs-CZ" sz="3150"/>
          </a:p>
        </p:txBody>
      </p:sp>
      <p:sp>
        <p:nvSpPr>
          <p:cNvPr id="28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6286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Přesnější </a:t>
            </a: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předpověď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darů (forecast)</a:t>
            </a:r>
            <a:endParaRPr lang="cs-CZ" sz="1800"/>
          </a:p>
          <a:p>
            <a:pPr algn="l" marL="6286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Lepší </a:t>
            </a: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plánování kapacit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, priorit a zdrojů</a:t>
            </a:r>
            <a:endParaRPr lang="cs-CZ" sz="1800"/>
          </a:p>
          <a:p>
            <a:pPr algn="l" marL="6286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Včasná </a:t>
            </a: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identifikace rizik 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 problémových obchodů</a:t>
            </a:r>
            <a:endParaRPr lang="cs-CZ" sz="1800"/>
          </a:p>
          <a:p>
            <a:pPr algn="l" marL="6286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Zrychlení dárcovského cyklu – obchody se nezasekávají</a:t>
            </a:r>
            <a:endParaRPr lang="cs-CZ" sz="1800"/>
          </a:p>
          <a:p>
            <a:pPr algn="l" marL="6286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Zvýšení </a:t>
            </a: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konverze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 díky lepšímu řízení dalších kroků</a:t>
            </a:r>
            <a:endParaRPr lang="cs-CZ" sz="1800"/>
          </a:p>
          <a:p>
            <a:pPr algn="l" marL="6286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Jasný přehled o aktivitách fundraiserů a prioritách</a:t>
            </a:r>
            <a:endParaRPr lang="cs-CZ" sz="1800"/>
          </a:p>
          <a:p>
            <a:pPr algn="l" marL="6286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Pomáhá fundraiserů mzaměřit se na nejreálnější a nejhodnotnější příležitosti</a:t>
            </a:r>
            <a:endParaRPr lang="cs-CZ" sz="1800"/>
          </a:p>
          <a:p>
            <a:pPr algn="l" marL="6286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80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Podpora rozvoje fundraiserů </a:t>
            </a: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– sdílení zkušeností, mentoring, zpětná vazba</a:t>
            </a:r>
            <a:endParaRPr lang="cs-CZ" sz="1800"/>
          </a:p>
          <a:p>
            <a:pPr algn="l" marL="6286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Posiluje disciplínu v CRM a práci s daty</a:t>
            </a:r>
            <a:endParaRPr lang="cs-CZ" sz="1800"/>
          </a:p>
          <a:p>
            <a:pPr algn="l" marL="628650" indent="-285750">
              <a:lnSpc>
                <a:spcPct val="100000"/>
              </a:lnSpc>
              <a:spcBef>
                <a:spcPts val="81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8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Validace a zpřesnění obchodní strategie – ukazuje, co v reálu funguje</a:t>
            </a:r>
            <a:endParaRPr lang="cs-CZ" sz="1800"/>
          </a:p>
        </p:txBody>
      </p:sp>
    </p:spTree>
    <p:extLst>
      <p:ext uri="{BB962C8B-B14F-4D97-AF65-F5344CB8AC3E}">
        <p14:creationId xmlns:p14="http://schemas.microsoft.com/office/powerpoint/2010/main" val="9533423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yrkysová horní linka">
            <a:extLst>
              <a:ext uri="{FF2B5EF4-FFF2-40B4-BE49-F238E27FC236}">
                <a16:creationId xmlns:a16="http://schemas.microsoft.com/office/drawing/2014/main" id="{FE0D1471-904D-425C-9BD7-A24B5E0ABF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8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Na co se ptát při pipeline review?</a:t>
            </a:r>
            <a:endParaRPr lang="cs-CZ" sz="3150"/>
          </a:p>
        </p:txBody>
      </p:sp>
      <p:sp>
        <p:nvSpPr>
          <p:cNvPr id="39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6286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Proč si myslíš, že tento zákazník skutečně koupí právě od nás?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A proč koupí/daruje právě teď?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Jaký zákazníkův problém řešíme a jaké to má dopady na jeho byznys?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Kdo všechno na straně zákazníka rozhoduje?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Jaká je přibližná velikost obchodu? Kdy čekáš, že obchod uzavřeš?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Jaká je aktuální fáze obchodu?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Co přesně je potřeba udělat, aby se obchod posunul dál do další fáze?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Na jaké kroky ze strany zákazníka teď čekáme?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Vidíš v tomto obchodě nějaká rizika? Co ho může zastavit?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Existují konkurenti, kteří jsou aktuálně v kontaktu se zákazníkem? Jaké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mají výhody?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Jaké konkrétní kroky máš nyní naplánované a do kdy?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Jaký další krok potřebujeme od zákazníka, aby se obchod posunul?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 ti mohu pomoci já nebo kolegové v týmu? Potřebuješ nějakou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podporu?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Jaká je tvoje jistota (0–100 %), že tento obchod skutečně uzavřeš?</a:t>
            </a:r>
            <a:endParaRPr lang="cs-CZ" sz="1300"/>
          </a:p>
          <a:p>
            <a:pPr algn="l" marL="628650" indent="-285750">
              <a:lnSpc>
                <a:spcPct val="100000"/>
              </a:lnSpc>
              <a:spcBef>
                <a:spcPts val="585"/>
              </a:spcBef>
              <a:buClr>
                <a:srgbClr val="168F92"/>
              </a:buClr>
              <a:buSzPct val="100000"/>
              <a:buFont typeface="Arial"/>
              <a:buChar char="–"/>
            </a:pPr>
            <a:r>
              <a:rPr lang="cs-CZ" sz="13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Proč jsi obchod umístil právě do této fáze pipeline (např. negotiation)?</a:t>
            </a:r>
            <a:endParaRPr lang="cs-CZ" sz="1300"/>
          </a:p>
        </p:txBody>
      </p:sp>
    </p:spTree>
    <p:extLst>
      <p:ext uri="{BB962C8B-B14F-4D97-AF65-F5344CB8AC3E}">
        <p14:creationId xmlns:p14="http://schemas.microsoft.com/office/powerpoint/2010/main" val="11207985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81B6D6F-CC90-44B3-AFBC-372FF7555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3110" y="0"/>
            <a:ext cx="10565780" cy="6858000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B1338863-B961-4D02-90C4-9FF010DA9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1974" y="5429248"/>
            <a:ext cx="1376428" cy="1304925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6531FD48-1CEC-47A0-8B40-36224D5322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92439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3A6F0BC6-6238-4385-8E90-D4B5C9D24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2975" y="542"/>
            <a:ext cx="10306050" cy="5732967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99C874BB-0633-40E7-B5E0-8C4A1093F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7686" y="5734049"/>
            <a:ext cx="2007054" cy="1123950"/>
          </a:xfrm>
          <a:prstGeom prst="rect">
            <a:avLst/>
          </a:prstGeom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9D04898E-C415-4A67-B53E-6C0C8FB9E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849461" y="5781673"/>
            <a:ext cx="1768929" cy="990600"/>
          </a:xfrm>
          <a:prstGeom prst="rect">
            <a:avLst/>
          </a:prstGeom>
        </p:spPr>
      </p:pic>
      <p:pic>
        <p:nvPicPr>
          <p:cNvPr id="4" name="Grafický objekt 3">
            <a:extLst>
              <a:ext uri="{FF2B5EF4-FFF2-40B4-BE49-F238E27FC236}">
                <a16:creationId xmlns:a16="http://schemas.microsoft.com/office/drawing/2014/main" id="{70433D04-07CF-4D8D-9EB9-0D755E2A9B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yrkysová horní linka">
            <a:extLst>
              <a:ext uri="{FF2B5EF4-FFF2-40B4-BE49-F238E27FC236}">
                <a16:creationId xmlns:a16="http://schemas.microsoft.com/office/drawing/2014/main" id="{6BC452A9-5621-4A68-A0D0-356E764E7F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56978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3386509F-11EC-4712-B158-3F39573D5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" y="1538293"/>
            <a:ext cx="10896600" cy="3781415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803623C0-3479-41A9-ABF0-57E1C71CC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76300" y="5783513"/>
            <a:ext cx="2381250" cy="825000"/>
          </a:xfrm>
          <a:prstGeom prst="rect">
            <a:avLst/>
          </a:prstGeom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F1D9D934-80EF-42C7-BB52-4E1E579A7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38600" y="5324475"/>
            <a:ext cx="1533525" cy="1533525"/>
          </a:xfrm>
          <a:prstGeom prst="rect">
            <a:avLst/>
          </a:prstGeom>
        </p:spPr>
      </p:pic>
      <p:pic>
        <p:nvPicPr>
          <p:cNvPr id="4" name="Grafický objekt 3">
            <a:extLst>
              <a:ext uri="{FF2B5EF4-FFF2-40B4-BE49-F238E27FC236}">
                <a16:creationId xmlns:a16="http://schemas.microsoft.com/office/drawing/2014/main" id="{F6401CFB-B0FE-4A31-89F6-B1AC9B9F6B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yrkysová horní linka">
            <a:extLst>
              <a:ext uri="{FF2B5EF4-FFF2-40B4-BE49-F238E27FC236}">
                <a16:creationId xmlns:a16="http://schemas.microsoft.com/office/drawing/2014/main" id="{CC9345A5-9224-41E0-9F11-4842C5B64C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736237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rkysová horní linka">
            <a:extLst>
              <a:ext uri="{FF2B5EF4-FFF2-40B4-BE49-F238E27FC236}">
                <a16:creationId xmlns:a16="http://schemas.microsoft.com/office/drawing/2014/main" id="{D779C49A-F4E4-467E-A7BF-641258CE1A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Motiv kruh 1"/>
          <p:cNvSpPr/>
          <p:nvPr/>
        </p:nvSpPr>
        <p:spPr>
          <a:xfrm>
            <a:off x="818388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9" name="Motiv kruh 2"/>
          <p:cNvSpPr/>
          <p:nvPr/>
        </p:nvSpPr>
        <p:spPr>
          <a:xfrm>
            <a:off x="9464040" y="160020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0" name="Motiv kruh 3"/>
          <p:cNvSpPr/>
          <p:nvPr/>
        </p:nvSpPr>
        <p:spPr>
          <a:xfrm>
            <a:off x="8823960" y="2697480"/>
            <a:ext cx="2377440" cy="2377440"/>
          </a:xfrm>
          <a:prstGeom prst="ellipse">
            <a:avLst/>
          </a:prstGeom>
          <a:noFill/>
          <a:ln w="28575">
            <a:solidFill>
              <a:srgbClr val="168F92"/>
            </a:solidFill>
          </a:ln>
        </p:spPr>
        <p:txBody>
          <a:bodyPr anchor="ctr"/>
          <a:lstStyle/>
          <a:p>
            <a:endParaRPr lang="cs-CZ"/>
          </a:p>
        </p:txBody>
      </p:sp>
      <p:sp>
        <p:nvSpPr>
          <p:cNvPr id="11" name="Hlavní sdělení"/>
          <p:cNvSpPr txBox="1"/>
          <p:nvPr/>
        </p:nvSpPr>
        <p:spPr>
          <a:xfrm>
            <a:off x="722376" y="1783080"/>
            <a:ext cx="7223760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40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Klíičové dovednosti dobrého fundraising stratéga</a:t>
            </a:r>
            <a:endParaRPr lang="cs-CZ" sz="4000"/>
          </a:p>
        </p:txBody>
      </p:sp>
    </p:spTree>
    <p:extLst>
      <p:ext uri="{BB962C8B-B14F-4D97-AF65-F5344CB8AC3E}">
        <p14:creationId xmlns:p14="http://schemas.microsoft.com/office/powerpoint/2010/main" val="1906603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yrkysová horní linka">
            <a:extLst>
              <a:ext uri="{FF2B5EF4-FFF2-40B4-BE49-F238E27FC236}">
                <a16:creationId xmlns:a16="http://schemas.microsoft.com/office/drawing/2014/main" id="{291AF271-9BB3-4698-B4D2-C10A706725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1️⃣ Porozumění dárcům</a:t>
            </a:r>
            <a:endParaRPr lang="cs-CZ" sz="3150"/>
          </a:p>
        </p:txBody>
      </p:sp>
      <p:sp>
        <p:nvSpPr>
          <p:cNvPr id="13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Znát potřeby a motivace cílové skupiny – pochopit, proč lidé nebo firmy dávají, co je inspiruje a čeho se obávají.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Porozumění značce a poslání organizace – jasně chápat, za čím organizace stojí, a umět to přenést do příběhů, které rezonují.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Cesta dárce (customer journey) – rozumět procesu, kterým dárce prochází od prvního kontaktu po dlouhodobé zapojení.</a:t>
            </a:r>
            <a:endParaRPr lang="cs-CZ" sz="2000"/>
          </a:p>
          <a:p>
            <a:pPr algn="l" marL="285750" indent="-285750">
              <a:lnSpc>
                <a:spcPct val="100000"/>
              </a:lnSpc>
              <a:spcBef>
                <a:spcPts val="900"/>
              </a:spcBef>
              <a:buClr>
                <a:srgbClr val="168F92"/>
              </a:buClr>
              <a:buSzPct val="100000"/>
              <a:buFont typeface="Arial"/>
              <a:buChar char="•"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SEE–THINK–DO–CARE – přizpůsobit komunikaci tomu, v jaké fázi vztahu se dárce nachází: od zaujmutí, přes zvažování, po akci a péči.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50605196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yrkysová horní linka">
            <a:extLst>
              <a:ext uri="{FF2B5EF4-FFF2-40B4-BE49-F238E27FC236}">
                <a16:creationId xmlns:a16="http://schemas.microsoft.com/office/drawing/2014/main" id="{1D2BD26A-3A48-441E-84EF-78B0296100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2️⃣ Strategie a komunikace</a:t>
            </a:r>
            <a:endParaRPr lang="cs-CZ" sz="3150"/>
          </a:p>
        </p:txBody>
      </p:sp>
      <p:sp>
        <p:nvSpPr>
          <p:cNvPr id="11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Komunikační plán – efektivně volit kanály, sdělení i načasování, aby každá interakce dávala smysl a posilovala vztah.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Marketingové a obchodní dovednosti – využívat principy z byznysu: segmentaci, storytelling, lead nurturing i měření výkonu.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Ptejte se dárců – discovery mindset – mluvte s lidmi, naslouchejte jim, zkoumejte jejich motivace i bariéry.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0583181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rkysová horní linka">
            <a:extLst>
              <a:ext uri="{FF2B5EF4-FFF2-40B4-BE49-F238E27FC236}">
                <a16:creationId xmlns:a16="http://schemas.microsoft.com/office/drawing/2014/main" id="{8608866D-EF5D-49D4-A4BC-D6899EDC22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Leadership a kultura 3️⃣</a:t>
            </a:r>
            <a:endParaRPr lang="cs-CZ" sz="3150"/>
          </a:p>
        </p:txBody>
      </p:sp>
      <p:sp>
        <p:nvSpPr>
          <p:cNvPr id="14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Nastavujte ambiciózní, ale reálné cíle – fundraising je maraton, ne sprint.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Nebojte se přiznat chybu a udělat změny – agilita a reflexe jsou známky síly, ne slabosti.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Buďte konkrétní při dávání zpětné vazby – pomáhá to růstu celého týmu i posunu kampaní.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Pipeline – pravidelně revidujte – udržujte přehled o kontaktech, příležitostech a stavu vztahů s dárci.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52014181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yrkysová horní linka">
            <a:extLst>
              <a:ext uri="{FF2B5EF4-FFF2-40B4-BE49-F238E27FC236}">
                <a16:creationId xmlns:a16="http://schemas.microsoft.com/office/drawing/2014/main" id="{B53E948A-BF12-41A6-97DA-B390AD36A0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Nadpis"/>
          <p:cNvSpPr txBox="1"/>
          <p:nvPr/>
        </p:nvSpPr>
        <p:spPr>
          <a:xfrm>
            <a:off x="723900" y="5143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150" b="1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4️⃣ Spolupráce a jednoduchost</a:t>
            </a:r>
            <a:endParaRPr lang="cs-CZ" sz="3150"/>
          </a:p>
        </p:txBody>
      </p:sp>
      <p:sp>
        <p:nvSpPr>
          <p:cNvPr id="15" name="Text"/>
          <p:cNvSpPr txBox="1"/>
          <p:nvPr/>
        </p:nvSpPr>
        <p:spPr>
          <a:xfrm>
            <a:off x="722376" y="1691640"/>
            <a:ext cx="10744200" cy="470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Mluvte spolu – rozdílný pohled je v pořádku, důležité je společné porozumění cílům.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Jakákoliv metodika je lepší než žádná – vyberte si systém, který vám pomůže udržet strukturu a rytmus.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Zaměřte se na dárce, ne na produkt – fundraising není o tom, co nabízíte, ale o tom, co společně měníte.</a:t>
            </a:r>
            <a:endParaRPr lang="cs-CZ" sz="2000"/>
          </a:p>
          <a:p>
            <a:pPr algn="l"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cs-CZ" sz="2000" b="0" i="0" dirty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Měřte a vyhodnocujte – data nejsou hrozba, ale kompas. Držte vše jednoduché – složitost zabíjí tah na branku. Pravidelně trénujte fundraisingové dovednosti – stejně jako v obchodě, i zde rozhoduje trénink, disciplína a autenticita.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5649089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rázek 20">
            <a:extLst>
              <a:ext uri="{FF2B5EF4-FFF2-40B4-BE49-F238E27FC236}">
                <a16:creationId xmlns:a16="http://schemas.microsoft.com/office/drawing/2014/main" id="{192EF64E-FF72-47D5-BDE1-5679D1F92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761999"/>
            <a:ext cx="5295900" cy="6096000"/>
          </a:xfrm>
          <a:prstGeom prst="rect">
            <a:avLst/>
          </a:prstGeom>
        </p:spPr>
      </p:pic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47F2633B-BB9E-45D4-AAD7-1E42F7E6BE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yrkysová horní linka">
            <a:extLst>
              <a:ext uri="{FF2B5EF4-FFF2-40B4-BE49-F238E27FC236}">
                <a16:creationId xmlns:a16="http://schemas.microsoft.com/office/drawing/2014/main" id="{58F226AE-413A-445F-9284-B25AF9B006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8F92"/>
          </a:solidFill>
          <a:ln w="0">
            <a:noFill/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strana 84, řádek 1">
            <a:extLst>
              <a:ext uri="{FF2B5EF4-FFF2-40B4-BE49-F238E27FC236}">
                <a16:creationId xmlns:a16="http://schemas.microsoft.com/office/drawing/2014/main" id="{A60F66A9-2C82-4BD1-8E79-295C603E2C87}"/>
              </a:ext>
            </a:extLst>
          </p:cNvPr>
          <p:cNvSpPr>
            <a:spLocks noGrp="1"/>
          </p:cNvSpPr>
          <p:nvPr/>
        </p:nvSpPr>
        <p:spPr>
          <a:xfrm>
            <a:off x="6682359" y="4336336"/>
            <a:ext cx="4190206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www.linkedin.com/in/michalvesely</a:t>
            </a:r>
          </a:p>
        </p:txBody>
      </p:sp>
      <p:sp>
        <p:nvSpPr>
          <p:cNvPr id="5" name="Text strana 84, řádek 2">
            <a:extLst>
              <a:ext uri="{FF2B5EF4-FFF2-40B4-BE49-F238E27FC236}">
                <a16:creationId xmlns:a16="http://schemas.microsoft.com/office/drawing/2014/main" id="{0D4824C2-0E75-4942-8A0F-C8B8D0EC3614}"/>
              </a:ext>
            </a:extLst>
          </p:cNvPr>
          <p:cNvSpPr>
            <a:spLocks noGrp="1"/>
          </p:cNvSpPr>
          <p:nvPr/>
        </p:nvSpPr>
        <p:spPr>
          <a:xfrm>
            <a:off x="6682740" y="3969941"/>
            <a:ext cx="1782711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Michal Veselý</a:t>
            </a:r>
          </a:p>
        </p:txBody>
      </p:sp>
      <p:sp>
        <p:nvSpPr>
          <p:cNvPr id="6" name="Text strana 84, řádek 3">
            <a:extLst>
              <a:ext uri="{FF2B5EF4-FFF2-40B4-BE49-F238E27FC236}">
                <a16:creationId xmlns:a16="http://schemas.microsoft.com/office/drawing/2014/main" id="{2304C675-4DAB-4E5F-B197-4E2A35757474}"/>
              </a:ext>
            </a:extLst>
          </p:cNvPr>
          <p:cNvSpPr>
            <a:spLocks noGrp="1"/>
          </p:cNvSpPr>
          <p:nvPr/>
        </p:nvSpPr>
        <p:spPr>
          <a:xfrm>
            <a:off x="1355090" y="1863507"/>
            <a:ext cx="1352962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Fundraising</a:t>
            </a:r>
          </a:p>
        </p:txBody>
      </p:sp>
      <p:sp>
        <p:nvSpPr>
          <p:cNvPr id="7" name="Text strana 84, řádek 4">
            <a:extLst>
              <a:ext uri="{FF2B5EF4-FFF2-40B4-BE49-F238E27FC236}">
                <a16:creationId xmlns:a16="http://schemas.microsoft.com/office/drawing/2014/main" id="{C83FF8AD-9A6B-4BC3-9302-1EC289331D23}"/>
              </a:ext>
            </a:extLst>
          </p:cNvPr>
          <p:cNvSpPr>
            <a:spLocks noGrp="1"/>
          </p:cNvSpPr>
          <p:nvPr/>
        </p:nvSpPr>
        <p:spPr>
          <a:xfrm>
            <a:off x="440055" y="2416973"/>
            <a:ext cx="254597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8" name="Text strana 84, řádek 5">
            <a:extLst>
              <a:ext uri="{FF2B5EF4-FFF2-40B4-BE49-F238E27FC236}">
                <a16:creationId xmlns:a16="http://schemas.microsoft.com/office/drawing/2014/main" id="{50F2ACAC-2D1C-4A82-8128-4771493ADB25}"/>
              </a:ext>
            </a:extLst>
          </p:cNvPr>
          <p:cNvSpPr>
            <a:spLocks noGrp="1"/>
          </p:cNvSpPr>
          <p:nvPr/>
        </p:nvSpPr>
        <p:spPr>
          <a:xfrm>
            <a:off x="1355090" y="2416973"/>
            <a:ext cx="254597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9" name="Text strana 84, řádek 6">
            <a:extLst>
              <a:ext uri="{FF2B5EF4-FFF2-40B4-BE49-F238E27FC236}">
                <a16:creationId xmlns:a16="http://schemas.microsoft.com/office/drawing/2014/main" id="{14D316A5-4B4D-406B-BFC6-8BC01E95403B}"/>
              </a:ext>
            </a:extLst>
          </p:cNvPr>
          <p:cNvSpPr>
            <a:spLocks noGrp="1"/>
          </p:cNvSpPr>
          <p:nvPr/>
        </p:nvSpPr>
        <p:spPr>
          <a:xfrm>
            <a:off x="2270506" y="2416973"/>
            <a:ext cx="1199898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10" name="Text strana 84, řádek 7">
            <a:extLst>
              <a:ext uri="{FF2B5EF4-FFF2-40B4-BE49-F238E27FC236}">
                <a16:creationId xmlns:a16="http://schemas.microsoft.com/office/drawing/2014/main" id="{7F7865A3-B1B3-448F-8243-6C679D93D2B9}"/>
              </a:ext>
            </a:extLst>
          </p:cNvPr>
          <p:cNvSpPr>
            <a:spLocks noGrp="1"/>
          </p:cNvSpPr>
          <p:nvPr/>
        </p:nvSpPr>
        <p:spPr>
          <a:xfrm>
            <a:off x="440055" y="2969931"/>
            <a:ext cx="254597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1" name="Text strana 84, řádek 8">
            <a:extLst>
              <a:ext uri="{FF2B5EF4-FFF2-40B4-BE49-F238E27FC236}">
                <a16:creationId xmlns:a16="http://schemas.microsoft.com/office/drawing/2014/main" id="{5500A349-D43E-43FA-8095-2859E23041B3}"/>
              </a:ext>
            </a:extLst>
          </p:cNvPr>
          <p:cNvSpPr>
            <a:spLocks noGrp="1"/>
          </p:cNvSpPr>
          <p:nvPr/>
        </p:nvSpPr>
        <p:spPr>
          <a:xfrm>
            <a:off x="1355090" y="2969931"/>
            <a:ext cx="254597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2" name="Text strana 84, řádek 9">
            <a:extLst>
              <a:ext uri="{FF2B5EF4-FFF2-40B4-BE49-F238E27FC236}">
                <a16:creationId xmlns:a16="http://schemas.microsoft.com/office/drawing/2014/main" id="{71CFFCE5-5419-4BDE-B7F4-8FF8FFB0533D}"/>
              </a:ext>
            </a:extLst>
          </p:cNvPr>
          <p:cNvSpPr>
            <a:spLocks noGrp="1"/>
          </p:cNvSpPr>
          <p:nvPr/>
        </p:nvSpPr>
        <p:spPr>
          <a:xfrm>
            <a:off x="2270506" y="2969931"/>
            <a:ext cx="254597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3" name="Text strana 84, řádek 10">
            <a:extLst>
              <a:ext uri="{FF2B5EF4-FFF2-40B4-BE49-F238E27FC236}">
                <a16:creationId xmlns:a16="http://schemas.microsoft.com/office/drawing/2014/main" id="{E45875F2-E61F-4889-ADA8-4BDE351AE077}"/>
              </a:ext>
            </a:extLst>
          </p:cNvPr>
          <p:cNvSpPr>
            <a:spLocks noGrp="1"/>
          </p:cNvSpPr>
          <p:nvPr/>
        </p:nvSpPr>
        <p:spPr>
          <a:xfrm>
            <a:off x="3185541" y="2969931"/>
            <a:ext cx="1349372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Komunikace</a:t>
            </a:r>
          </a:p>
        </p:txBody>
      </p:sp>
      <p:sp>
        <p:nvSpPr>
          <p:cNvPr id="14" name="Text strana 84, řádek 11">
            <a:extLst>
              <a:ext uri="{FF2B5EF4-FFF2-40B4-BE49-F238E27FC236}">
                <a16:creationId xmlns:a16="http://schemas.microsoft.com/office/drawing/2014/main" id="{2DFFE2D6-8C7A-4DA6-8603-E80FED3E45E7}"/>
              </a:ext>
            </a:extLst>
          </p:cNvPr>
          <p:cNvSpPr>
            <a:spLocks noGrp="1"/>
          </p:cNvSpPr>
          <p:nvPr/>
        </p:nvSpPr>
        <p:spPr>
          <a:xfrm>
            <a:off x="440055" y="3237012"/>
            <a:ext cx="818137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Obchod</a:t>
            </a:r>
          </a:p>
        </p:txBody>
      </p:sp>
      <p:sp>
        <p:nvSpPr>
          <p:cNvPr id="15" name="Text strana 84, řádek 12">
            <a:extLst>
              <a:ext uri="{FF2B5EF4-FFF2-40B4-BE49-F238E27FC236}">
                <a16:creationId xmlns:a16="http://schemas.microsoft.com/office/drawing/2014/main" id="{A83BB387-9AA9-448C-94F6-5F3E35EA0D2A}"/>
              </a:ext>
            </a:extLst>
          </p:cNvPr>
          <p:cNvSpPr>
            <a:spLocks noGrp="1"/>
          </p:cNvSpPr>
          <p:nvPr/>
        </p:nvSpPr>
        <p:spPr>
          <a:xfrm>
            <a:off x="440055" y="3790478"/>
            <a:ext cx="254597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6" name="Text strana 84, řádek 13">
            <a:extLst>
              <a:ext uri="{FF2B5EF4-FFF2-40B4-BE49-F238E27FC236}">
                <a16:creationId xmlns:a16="http://schemas.microsoft.com/office/drawing/2014/main" id="{DDC652ED-1077-4911-939F-DE9D41CE6474}"/>
              </a:ext>
            </a:extLst>
          </p:cNvPr>
          <p:cNvSpPr>
            <a:spLocks noGrp="1"/>
          </p:cNvSpPr>
          <p:nvPr/>
        </p:nvSpPr>
        <p:spPr>
          <a:xfrm>
            <a:off x="1355090" y="3790478"/>
            <a:ext cx="1032990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Strategie</a:t>
            </a:r>
          </a:p>
        </p:txBody>
      </p:sp>
      <p:sp>
        <p:nvSpPr>
          <p:cNvPr id="17" name="Text strana 84, řádek 14">
            <a:extLst>
              <a:ext uri="{FF2B5EF4-FFF2-40B4-BE49-F238E27FC236}">
                <a16:creationId xmlns:a16="http://schemas.microsoft.com/office/drawing/2014/main" id="{FE6C137A-3001-4745-9846-513FBF74F015}"/>
              </a:ext>
            </a:extLst>
          </p:cNvPr>
          <p:cNvSpPr>
            <a:spLocks noGrp="1"/>
          </p:cNvSpPr>
          <p:nvPr/>
        </p:nvSpPr>
        <p:spPr>
          <a:xfrm>
            <a:off x="440055" y="4329383"/>
            <a:ext cx="907240" cy="2503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Zna</a:t>
            </a:r>
            <a:r>
              <a:rPr sz="1400" b="0" i="0">
                <a:solidFill>
                  <a:srgbClr val="183653"/>
                </a:solidFill>
                <a:latin typeface="Arial"/>
                <a:ea typeface="Arial"/>
                <a:cs typeface="Arial"/>
              </a:rPr>
              <a:t>č</a:t>
            </a: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ka</a:t>
            </a:r>
          </a:p>
        </p:txBody>
      </p:sp>
      <p:sp>
        <p:nvSpPr>
          <p:cNvPr id="18" name="Text strana 84, řádek 15">
            <a:extLst>
              <a:ext uri="{FF2B5EF4-FFF2-40B4-BE49-F238E27FC236}">
                <a16:creationId xmlns:a16="http://schemas.microsoft.com/office/drawing/2014/main" id="{D276F8B8-9CBC-4D96-9C9D-3E4CEF52C05F}"/>
              </a:ext>
            </a:extLst>
          </p:cNvPr>
          <p:cNvSpPr>
            <a:spLocks noGrp="1"/>
          </p:cNvSpPr>
          <p:nvPr/>
        </p:nvSpPr>
        <p:spPr>
          <a:xfrm>
            <a:off x="440055" y="4887123"/>
            <a:ext cx="254597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9" name="Text strana 84, řádek 16">
            <a:extLst>
              <a:ext uri="{FF2B5EF4-FFF2-40B4-BE49-F238E27FC236}">
                <a16:creationId xmlns:a16="http://schemas.microsoft.com/office/drawing/2014/main" id="{F4C3D175-396D-4112-AD71-A1BABEBD5C15}"/>
              </a:ext>
            </a:extLst>
          </p:cNvPr>
          <p:cNvSpPr>
            <a:spLocks noGrp="1"/>
          </p:cNvSpPr>
          <p:nvPr/>
        </p:nvSpPr>
        <p:spPr>
          <a:xfrm>
            <a:off x="1355090" y="4887123"/>
            <a:ext cx="254597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20" name="Text strana 84, řádek 17">
            <a:extLst>
              <a:ext uri="{FF2B5EF4-FFF2-40B4-BE49-F238E27FC236}">
                <a16:creationId xmlns:a16="http://schemas.microsoft.com/office/drawing/2014/main" id="{ED302C43-8FAD-4A51-9332-8AA63DFCF4F4}"/>
              </a:ext>
            </a:extLst>
          </p:cNvPr>
          <p:cNvSpPr>
            <a:spLocks noGrp="1"/>
          </p:cNvSpPr>
          <p:nvPr/>
        </p:nvSpPr>
        <p:spPr>
          <a:xfrm>
            <a:off x="2270506" y="4887123"/>
            <a:ext cx="949664" cy="22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83653"/>
                </a:solidFill>
                <a:latin typeface="Arial"/>
                <a:ea typeface="Arial"/>
                <a:cs typeface="Arial"/>
              </a:defRPr>
            </a:pPr>
            <a:r>
              <a:rPr sz="1400" b="0" i="1">
                <a:solidFill>
                  <a:srgbClr val="183653"/>
                </a:solidFill>
                <a:latin typeface="Arial"/>
                <a:ea typeface="Arial"/>
                <a:cs typeface="Arial"/>
              </a:rPr>
              <a:t>Identita</a:t>
            </a:r>
          </a:p>
        </p:txBody>
      </p:sp>
    </p:spTree>
    <p:extLst>
      <p:ext uri="{BB962C8B-B14F-4D97-AF65-F5344CB8AC3E}">
        <p14:creationId xmlns:p14="http://schemas.microsoft.com/office/powerpoint/2010/main" val="14617614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Komunikace s dárci">
      <a:dk1>
        <a:srgbClr val="183653"/>
      </a:dk1>
      <a:lt1>
        <a:srgbClr val="FFFFFF"/>
      </a:lt1>
      <a:dk2>
        <a:srgbClr val="0F2438"/>
      </a:dk2>
      <a:lt2>
        <a:srgbClr val="E3F1F1"/>
      </a:lt2>
      <a:accent1>
        <a:srgbClr val="168F92"/>
      </a:accent1>
      <a:accent2>
        <a:srgbClr val="183653"/>
      </a:accent2>
      <a:accent3>
        <a:srgbClr val="53687A"/>
      </a:accent3>
      <a:accent4>
        <a:srgbClr val="7FCFD1"/>
      </a:accent4>
      <a:accent5>
        <a:srgbClr val="1F5F7A"/>
      </a:accent5>
      <a:accent6>
        <a:srgbClr val="D6E0E7"/>
      </a:accent6>
      <a:hlink>
        <a:srgbClr val="168F92"/>
      </a:hlink>
      <a:folHlink>
        <a:srgbClr val="53687A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Komunikace s dárci">
      <a:dk1>
        <a:srgbClr val="183653"/>
      </a:dk1>
      <a:lt1>
        <a:srgbClr val="FFFFFF"/>
      </a:lt1>
      <a:dk2>
        <a:srgbClr val="0F2438"/>
      </a:dk2>
      <a:lt2>
        <a:srgbClr val="E3F1F1"/>
      </a:lt2>
      <a:accent1>
        <a:srgbClr val="168F92"/>
      </a:accent1>
      <a:accent2>
        <a:srgbClr val="183653"/>
      </a:accent2>
      <a:accent3>
        <a:srgbClr val="53687A"/>
      </a:accent3>
      <a:accent4>
        <a:srgbClr val="7FCFD1"/>
      </a:accent4>
      <a:accent5>
        <a:srgbClr val="1F5F7A"/>
      </a:accent5>
      <a:accent6>
        <a:srgbClr val="D6E0E7"/>
      </a:accent6>
      <a:hlink>
        <a:srgbClr val="168F92"/>
      </a:hlink>
      <a:folHlink>
        <a:srgbClr val="53687A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3770</Words>
  <Application>Microsoft Macintosh PowerPoint</Application>
  <DocSecurity>0</DocSecurity>
  <PresentationFormat>Širokoúhlá obrazovka</PresentationFormat>
  <Paragraphs>858</Paragraphs>
  <Slides>87</Slides>
  <Notes>87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87</vt:i4>
      </vt:variant>
    </vt:vector>
  </HeadingPairs>
  <TitlesOfParts>
    <vt:vector size="90" baseType="lpstr">
      <vt:lpstr>Aptos</vt:lpstr>
      <vt:lpstr>Arial</vt:lpstr>
      <vt:lpstr>ChatGPT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Michal Veselý | JIC</cp:lastModifiedBy>
  <cp:revision>1</cp:revision>
  <dcterms:created xsi:type="dcterms:W3CDTF">2026-10-18T18:42:48Z</dcterms:created>
  <dcterms:modified xsi:type="dcterms:W3CDTF">2026-10-23T04:29:28Z</dcterms:modified>
</cp:coreProperties>
</file>